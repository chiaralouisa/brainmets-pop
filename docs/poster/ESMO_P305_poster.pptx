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4200000" cy="19800000"/>
  <p:notesSz cx="19800000" cy="34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</c:v>
                </c:pt>
              </c:strCache>
            </c:strRef>
          </c:tx>
          <c:spPr>
            <a:solidFill>
              <a:srgbClr val="2A6F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220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3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Amplifications (134 events)</c:v>
                  </c:pt>
                  <c:pt idx="1">
                    <c:v>Mutations (646 events)</c:v>
                  </c:pt>
                  <c:pt idx="2">
                    <c:v>Mutations, burden only</c:v>
                  </c:pt>
                  <c:pt idx="3">
                    <c:v>Deep deletions (18 events)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0.949</c:v>
                </c:pt>
                <c:pt idx="1">
                  <c:v>0.728</c:v>
                </c:pt>
                <c:pt idx="2">
                  <c:v>0.726</c:v>
                </c:pt>
                <c:pt idx="3">
                  <c:v>0.711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220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220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9525" cap="flat">
              <a:solidFill>
                <a:srgbClr val="E0E4E8"/>
              </a:solidFill>
              <a:prstDash val="solid"/>
              <a:round/>
            </a:ln>
          </c:spPr>
        </c:majorGridlines>
        <c:numFmt formatCode="0.0#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B5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457200"/>
            <a:ext cx="29216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 flow matching for genomic panel completion: inferring IMPACT505 alterations from the IMPACT341 targeted panel in non-small cell lung cancer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571500" y="2560320"/>
            <a:ext cx="29216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Louisa Hempel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F. Capuano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3063240"/>
            <a:ext cx="2921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Department, Sigmund Freud University Vienna, Vienna, Austria   ·   </a:t>
            </a:r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Oxford Robotics Institute, University of Oxford, Oxford, United Kingdom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336660" y="457200"/>
            <a:ext cx="3291840" cy="32004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336660" y="868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0336660" y="1417320"/>
            <a:ext cx="329184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P305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571500" y="3977640"/>
            <a:ext cx="33057000" cy="0"/>
          </a:xfrm>
          <a:prstGeom prst="line">
            <a:avLst/>
          </a:prstGeom>
          <a:noFill/>
          <a:ln w="38100">
            <a:solidFill>
              <a:srgbClr val="122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1500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1500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Background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5212080"/>
            <a:ext cx="7873344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genomic profiling (CGP) guides treatment in NSCLC, but panel content, cost and turnaround time differ widely between institutions, and smaller targeted panels leave part of the tumour genome unmeasured.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6203633"/>
            <a:ext cx="7873344" cy="2215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EBAI class B.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ESMO basic requirements for AI-based biomarkers (EBAI), a model that predicts an established biomarker from an input different from the gold-standard test is class B; here the input is the smaller panel itself. Because the input differs from the reference test, risk and complexity exceed class A. Such tools may predict only a subset of alterations with sufficient sensitivity and specificity, and usually aim to </a:t>
            </a:r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population for confirmatory testing, or, where a negative result reliably excludes the alteration, to </a:t>
            </a:r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out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testing. They do not substitute an established genomic test.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8647938"/>
            <a:ext cx="7873344" cy="1247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learn the conditional distribution of alterations in genes absent from a targeted panel given the genes it measures, benchmark it against simple baselines, and evaluate it along the seven EBAI dimensions: comparator, performance, generalisability, fairness, explainability, cost and turnaround time.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71500" y="10407206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1500" y="10498646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Study design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571500" y="11275886"/>
            <a:ext cx="5314507" cy="566928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1500" y="11275886"/>
            <a:ext cx="53145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IMPACT341 · 341 genes (input)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886007" y="11275886"/>
            <a:ext cx="2558837" cy="566928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86007" y="11275886"/>
            <a:ext cx="25588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genes (target)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11952542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definition. IMPACT341 ⊂ IMPACT505; the 164 genes present only in IMPACT505 are masked from the input and predicted.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12861608"/>
            <a:ext cx="7873344" cy="239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and target characteristics (MSK-CHORD).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" y="13210985"/>
          <a:ext cx="7873344" cy="914400"/>
        </p:xfrm>
        <a:graphic>
          <a:graphicData uri="http://schemas.openxmlformats.org/drawingml/2006/table">
            <a:tbl>
              <a:tblPr/>
              <a:tblGrid>
                <a:gridCol w="4881473"/>
                <a:gridCol w="299187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Patients, NSCLC, sequenced on IMPACT505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genes (IMPACT341)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genes (IMPACT505 \ 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Altered target gene–patient pairs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Test-set patients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≈334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(patient level): train / val / 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/ 15 / 15%*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71500" y="13210985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71500" y="15515273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1500" y="15981617"/>
            <a:ext cx="7873344" cy="239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 reports 75 / 15 / 15%, which sums to 105%; 70 / 15 / 15% is assumed here.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71500" y="16495586"/>
            <a:ext cx="7873344" cy="148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Alteration encoding.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one binary event per gene and patient (any non-synonymous mutation, including variants of unknown significance, amplification or deep deletion; fusions and other structural variants not modelled). Input: separate mutation, amplification and deletion indicators for the 341 assayed genes. One sample per patient. Genes not covered by a sample's panel are treated as missing, never as wild type.</a:t>
            </a:r>
            <a:endParaRPr lang="en-US" sz="1550" dirty="0"/>
          </a:p>
        </p:txBody>
      </p:sp>
      <p:sp>
        <p:nvSpPr>
          <p:cNvPr id="27" name="Shape 24"/>
          <p:cNvSpPr/>
          <p:nvPr/>
        </p:nvSpPr>
        <p:spPr>
          <a:xfrm>
            <a:off x="8966052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66052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Methods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8966052" y="5212080"/>
            <a:ext cx="7873344" cy="148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Problem formulation.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observed IMPACT341 profile c, we learn the conditional distribution p(x</a:t>
            </a:r>
            <a:pPr indent="0" marL="0">
              <a:buNone/>
            </a:pPr>
            <a:r>
              <a:rPr lang="en-US" sz="15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c) over the 164 target genes. Binary targets are embedded as x</a:t>
            </a:r>
            <a:pPr indent="0" marL="0">
              <a:buNone/>
            </a:pPr>
            <a:r>
              <a:rPr lang="en-US" sz="15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{−1,+1}</a:t>
            </a:r>
            <a:pPr indent="0" marL="0">
              <a:buNone/>
            </a:pPr>
            <a:r>
              <a:rPr lang="en-US" sz="155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(continuous relaxation); generated profiles are binarised by sign. Data were split by patient into 70% training, 15% validation (all model and hyper-parameter selection) and 15% test, evaluated once.</a:t>
            </a:r>
            <a:endParaRPr lang="en-US" sz="1550" dirty="0"/>
          </a:p>
        </p:txBody>
      </p:sp>
      <p:sp>
        <p:nvSpPr>
          <p:cNvPr id="30" name="Text 27"/>
          <p:cNvSpPr txBox="1"/>
          <p:nvPr/>
        </p:nvSpPr>
        <p:spPr>
          <a:xfrm>
            <a:off x="8966052" y="6930009"/>
            <a:ext cx="7873344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Conditional flow matching.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velocity field v</a:t>
            </a:r>
            <a:pPr indent="0" marL="0">
              <a:buNone/>
            </a:pPr>
            <a:r>
              <a:rPr lang="en-US" sz="15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neural network (architecture variants compared on the validation set), is regressed onto the straight-line path between Gaussian noise and data:</a:t>
            </a:r>
            <a:endParaRPr lang="en-US" sz="1550" dirty="0"/>
          </a:p>
        </p:txBody>
      </p:sp>
      <p:sp>
        <p:nvSpPr>
          <p:cNvPr id="31" name="Shape 28"/>
          <p:cNvSpPr/>
          <p:nvPr/>
        </p:nvSpPr>
        <p:spPr>
          <a:xfrm>
            <a:off x="8966052" y="7857554"/>
            <a:ext cx="7873344" cy="960120"/>
          </a:xfrm>
          <a:prstGeom prst="rect">
            <a:avLst/>
          </a:prstGeom>
          <a:solidFill>
            <a:srgbClr val="F2F4F7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966052" y="7967282"/>
            <a:ext cx="78733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t)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t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~ 𝒩(0, I),    t ~ 𝒰(0, 1)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ℒ(θ) = 𝔼 ‖ v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t | c) − 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‖²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8966052" y="9091994"/>
            <a:ext cx="215310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2202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966052" y="9091994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 𝒩(0, I)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1119157" y="9091994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11503205" y="9091994"/>
            <a:ext cx="2799037" cy="6858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1503205" y="9091994"/>
            <a:ext cx="27990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dx/dt = v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 | c)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4302243" y="9091994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14686291" y="9091994"/>
            <a:ext cx="2153105" cy="685800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4686291" y="9091994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x̂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ℝ</a:t>
            </a:r>
            <a:pPr algn="ctr" indent="0" marL="0">
              <a:buNone/>
            </a:pPr>
            <a:r>
              <a:rPr lang="en-US" sz="140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0068320" y="9914954"/>
            <a:ext cx="5668808" cy="457200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0068320" y="9914954"/>
            <a:ext cx="5668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conditioning c: observed IMPACT341 profile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966052" y="10481882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 the learned ODE, integrated numerically from t = 0 to 1, transports noise to a completed 164-gene profile conditioned on the observed panel.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66052" y="11198923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Probability read-out.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0, xₜ is independent of x₁, so v*(x₀, 0 | c) = 𝔼[x₁ | c] − x₀ and p̂ = ½(1 + x₀ + vθ(x₀, 0 | c)), averaged over K noise draws. This avoids the Monte Carlo ties that sample frequencies produce at ~1% prevalence.</a:t>
            </a:r>
            <a:endParaRPr lang="en-US" sz="1550" dirty="0"/>
          </a:p>
        </p:txBody>
      </p:sp>
      <p:sp>
        <p:nvSpPr>
          <p:cNvPr id="45" name="Text 42"/>
          <p:cNvSpPr txBox="1"/>
          <p:nvPr/>
        </p:nvSpPr>
        <p:spPr>
          <a:xfrm>
            <a:off x="8966052" y="12432602"/>
            <a:ext cx="7873344" cy="2457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Evaluation (EBAI).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Pre-specified primary endpoint: pooled AUROC. Secondary: per-gene AUROC (genes with ≥5 test events; prevalence-only = 0.50); AUPRC (chance = 0.012); calibration plot, slope, intercept, O:E and Brier skill; at the intended-use threshold for ≥1 altered target gene, sensitivity, specificity, PPV, NPV and LR±; NRI over the burden + locus model and decision-curve analysis; joint fidelity (energy score versus independent Bernoulli draws). Comparators (same splits): prevalence, burden + locus, L2 logistic regression; 95% CIs and paired differences by patient bootstrap. </a:t>
            </a:r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 (post hoc; EBAI asks a priori):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~334 test patients give a 95% CI half-width of ≈ ±0.05 for a patient-level AUROC of 0.79 (Hanley–McNeil, 43% prevalence assumed).</a:t>
            </a:r>
            <a:endParaRPr lang="en-US" sz="1550" dirty="0"/>
          </a:p>
        </p:txBody>
      </p:sp>
      <p:sp>
        <p:nvSpPr>
          <p:cNvPr id="46" name="Text 43"/>
          <p:cNvSpPr txBox="1"/>
          <p:nvPr/>
        </p:nvSpPr>
        <p:spPr>
          <a:xfrm>
            <a:off x="8966052" y="15119033"/>
            <a:ext cx="7873344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External replicate.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MSK-IMPACT 2017 (cBioPortal): IMPACT341 → 69 IMPACT410-only genes, 1,215 NSCLC patients, 3 × 5-fold patient-level CV, AUROC within folds.</a:t>
            </a:r>
            <a:endParaRPr lang="en-US" sz="1550" dirty="0"/>
          </a:p>
        </p:txBody>
      </p:sp>
      <p:sp>
        <p:nvSpPr>
          <p:cNvPr id="47" name="Shape 44"/>
          <p:cNvSpPr/>
          <p:nvPr/>
        </p:nvSpPr>
        <p:spPr>
          <a:xfrm>
            <a:off x="8966052" y="16110585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966052" y="16202025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Results</a:t>
            </a:r>
            <a:endParaRPr lang="en-US" sz="3200" dirty="0"/>
          </a:p>
        </p:txBody>
      </p:sp>
      <p:sp>
        <p:nvSpPr>
          <p:cNvPr id="49" name="Text 46"/>
          <p:cNvSpPr txBox="1"/>
          <p:nvPr/>
        </p:nvSpPr>
        <p:spPr>
          <a:xfrm>
            <a:off x="8966052" y="16979265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Primary cohort.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architectures and training paradigms, the flow model reached a pooled test AUROC of 0.77–0.79, above the prevalence-only baseline in every variant. The abstract reports no other metric; Table 2 sets these gaps against what the replicate measures.</a:t>
            </a:r>
            <a:endParaRPr lang="en-US" sz="1550" dirty="0"/>
          </a:p>
        </p:txBody>
      </p:sp>
      <p:sp>
        <p:nvSpPr>
          <p:cNvPr id="50" name="Shape 47"/>
          <p:cNvSpPr/>
          <p:nvPr/>
        </p:nvSpPr>
        <p:spPr>
          <a:xfrm>
            <a:off x="17360604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7360604" y="4480560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reported for the MSK-CHORD flow model versus those measured in the replicate (L2 logistic regression, 3 × 5-fold CV; 95% CI). n.r., not reported.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60604" y="5033010"/>
          <a:ext cx="7873344" cy="914400"/>
        </p:xfrm>
        <a:graphic>
          <a:graphicData uri="http://schemas.openxmlformats.org/drawingml/2006/table">
            <a:tbl>
              <a:tblPr/>
              <a:tblGrid>
                <a:gridCol w="3464271"/>
                <a:gridCol w="1574669"/>
                <a:gridCol w="283440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(EBAI)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MSK-CHORD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 AUROC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0.77–0.79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0.778 (0.754–0.796)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Per-gene AUROC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 (0.705–0.753)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AUPRC (chance ≈ 0.011)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slope · O:E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· 1.08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Brier skill vs prevalence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at 90% sensitivity*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 (LR− 0.22)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fidelity (energy score)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3" name="Shape 49"/>
          <p:cNvSpPr/>
          <p:nvPr/>
        </p:nvSpPr>
        <p:spPr>
          <a:xfrm>
            <a:off x="17360604" y="5033010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7360604" y="5343906"/>
            <a:ext cx="7873344" cy="0"/>
          </a:xfrm>
          <a:prstGeom prst="line">
            <a:avLst/>
          </a:prstGeom>
          <a:noFill/>
          <a:ln w="15875">
            <a:solidFill>
              <a:srgbClr val="12202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17360604" y="7520178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17360604" y="7611618"/>
            <a:ext cx="7873344" cy="239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level: ≥1 altered target gene (prevalence 43%).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7360604" y="8198739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Benchmark on public data.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 compares pairs across genes, so ranking genes by training frequency alone scores 0.715. Per gene, a 7-feature model matches 1,026-feature logistic regression (0.760 vs 0.728), and pan-cancer training adds +0.039 (95% CI 0.024–0.057; Figure 3).</a:t>
            </a:r>
            <a:endParaRPr lang="en-US" sz="1550" dirty="0"/>
          </a:p>
        </p:txBody>
      </p:sp>
      <p:sp>
        <p:nvSpPr>
          <p:cNvPr id="58" name="Shape 54"/>
          <p:cNvSpPr/>
          <p:nvPr/>
        </p:nvSpPr>
        <p:spPr>
          <a:xfrm>
            <a:off x="17360604" y="9487281"/>
            <a:ext cx="146304" cy="146304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17580060" y="9432417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9646604" y="9496425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19847772" y="9432417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Per-gene AUROC</a:t>
            </a:r>
            <a:endParaRPr lang="en-US" sz="1300" dirty="0"/>
          </a:p>
        </p:txBody>
      </p:sp>
      <p:sp>
        <p:nvSpPr>
          <p:cNvPr id="62" name="Text 58"/>
          <p:cNvSpPr txBox="1"/>
          <p:nvPr/>
        </p:nvSpPr>
        <p:spPr>
          <a:xfrm>
            <a:off x="22024044" y="9432417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lines: 95% CI</a:t>
            </a:r>
            <a:endParaRPr lang="en-US" sz="1300" dirty="0"/>
          </a:p>
        </p:txBody>
      </p:sp>
      <p:sp>
        <p:nvSpPr>
          <p:cNvPr id="63" name="Text 59"/>
          <p:cNvSpPr txBox="1"/>
          <p:nvPr/>
        </p:nvSpPr>
        <p:spPr>
          <a:xfrm>
            <a:off x="17360604" y="9843897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 only</a:t>
            </a:r>
            <a:endParaRPr lang="en-US" sz="1500" dirty="0"/>
          </a:p>
        </p:txBody>
      </p:sp>
      <p:sp>
        <p:nvSpPr>
          <p:cNvPr id="64" name="Shape 60"/>
          <p:cNvSpPr/>
          <p:nvPr/>
        </p:nvSpPr>
        <p:spPr>
          <a:xfrm>
            <a:off x="22544246" y="9981057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2759637" y="9903333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23136487" y="9871329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0.715</a:t>
            </a:r>
            <a:endParaRPr lang="en-US" sz="1150" dirty="0"/>
          </a:p>
        </p:txBody>
      </p:sp>
      <p:sp>
        <p:nvSpPr>
          <p:cNvPr id="67" name="Shape 63"/>
          <p:cNvSpPr/>
          <p:nvPr/>
        </p:nvSpPr>
        <p:spPr>
          <a:xfrm>
            <a:off x="20147532" y="10118217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20330412" y="10072497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0.500</a:t>
            </a:r>
            <a:endParaRPr lang="en-US" sz="1150" dirty="0"/>
          </a:p>
        </p:txBody>
      </p:sp>
      <p:sp>
        <p:nvSpPr>
          <p:cNvPr id="69" name="Shape 65"/>
          <p:cNvSpPr/>
          <p:nvPr/>
        </p:nvSpPr>
        <p:spPr>
          <a:xfrm>
            <a:off x="17360604" y="10319385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17360604" y="10319385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Burden + locus</a:t>
            </a:r>
            <a:endParaRPr lang="en-US" sz="1500" dirty="0"/>
          </a:p>
        </p:txBody>
      </p:sp>
      <p:sp>
        <p:nvSpPr>
          <p:cNvPr id="71" name="Shape 67"/>
          <p:cNvSpPr/>
          <p:nvPr/>
        </p:nvSpPr>
        <p:spPr>
          <a:xfrm>
            <a:off x="23081623" y="10456545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23309227" y="10378821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23673864" y="10346817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74" name="Shape 70"/>
          <p:cNvSpPr/>
          <p:nvPr/>
        </p:nvSpPr>
        <p:spPr>
          <a:xfrm>
            <a:off x="23093836" y="10657713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3322943" y="10593705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23747143" y="10547985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77" name="Shape 73"/>
          <p:cNvSpPr/>
          <p:nvPr/>
        </p:nvSpPr>
        <p:spPr>
          <a:xfrm>
            <a:off x="17360604" y="10794873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17360604" y="10794873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logistic regression</a:t>
            </a:r>
            <a:endParaRPr lang="en-US" sz="1500" dirty="0"/>
          </a:p>
        </p:txBody>
      </p:sp>
      <p:sp>
        <p:nvSpPr>
          <p:cNvPr id="79" name="Shape 75"/>
          <p:cNvSpPr/>
          <p:nvPr/>
        </p:nvSpPr>
        <p:spPr>
          <a:xfrm>
            <a:off x="23313672" y="10932033"/>
            <a:ext cx="512951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3529063" y="10854309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81" name="Text 77"/>
          <p:cNvSpPr txBox="1"/>
          <p:nvPr/>
        </p:nvSpPr>
        <p:spPr>
          <a:xfrm>
            <a:off x="23881488" y="10822305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0.778</a:t>
            </a:r>
            <a:endParaRPr lang="en-US" sz="1150" dirty="0"/>
          </a:p>
        </p:txBody>
      </p:sp>
      <p:sp>
        <p:nvSpPr>
          <p:cNvPr id="82" name="Shape 78"/>
          <p:cNvSpPr/>
          <p:nvPr/>
        </p:nvSpPr>
        <p:spPr>
          <a:xfrm>
            <a:off x="22715230" y="11133201"/>
            <a:ext cx="586230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22932123" y="11069193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84" name="Text 80"/>
          <p:cNvSpPr txBox="1"/>
          <p:nvPr/>
        </p:nvSpPr>
        <p:spPr>
          <a:xfrm>
            <a:off x="23356323" y="11023473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0.728</a:t>
            </a:r>
            <a:endParaRPr lang="en-US" sz="1150" dirty="0"/>
          </a:p>
        </p:txBody>
      </p:sp>
      <p:sp>
        <p:nvSpPr>
          <p:cNvPr id="85" name="Shape 81"/>
          <p:cNvSpPr/>
          <p:nvPr/>
        </p:nvSpPr>
        <p:spPr>
          <a:xfrm>
            <a:off x="17360604" y="11270361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17360604" y="11270361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Pan-cancer logistic</a:t>
            </a:r>
            <a:endParaRPr lang="en-US" sz="1500" dirty="0"/>
          </a:p>
        </p:txBody>
      </p:sp>
      <p:sp>
        <p:nvSpPr>
          <p:cNvPr id="87" name="Shape 83"/>
          <p:cNvSpPr/>
          <p:nvPr/>
        </p:nvSpPr>
        <p:spPr>
          <a:xfrm>
            <a:off x="23765558" y="11407521"/>
            <a:ext cx="464099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3895457" y="11329797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24284520" y="11297793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0.808</a:t>
            </a:r>
            <a:endParaRPr lang="en-US" sz="1150" dirty="0"/>
          </a:p>
        </p:txBody>
      </p:sp>
      <p:sp>
        <p:nvSpPr>
          <p:cNvPr id="90" name="Shape 86"/>
          <p:cNvSpPr/>
          <p:nvPr/>
        </p:nvSpPr>
        <p:spPr>
          <a:xfrm>
            <a:off x="23154902" y="11608689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23408435" y="11544681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92" name="Text 88"/>
          <p:cNvSpPr txBox="1"/>
          <p:nvPr/>
        </p:nvSpPr>
        <p:spPr>
          <a:xfrm>
            <a:off x="23808209" y="11498961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0.767</a:t>
            </a:r>
            <a:endParaRPr lang="en-US" sz="1150" dirty="0"/>
          </a:p>
        </p:txBody>
      </p:sp>
      <p:sp>
        <p:nvSpPr>
          <p:cNvPr id="93" name="Shape 89"/>
          <p:cNvSpPr/>
          <p:nvPr/>
        </p:nvSpPr>
        <p:spPr>
          <a:xfrm>
            <a:off x="17360604" y="11745849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20211540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5" name="Text 91"/>
          <p:cNvSpPr txBox="1"/>
          <p:nvPr/>
        </p:nvSpPr>
        <p:spPr>
          <a:xfrm>
            <a:off x="19937220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150" dirty="0"/>
          </a:p>
        </p:txBody>
      </p:sp>
      <p:sp>
        <p:nvSpPr>
          <p:cNvPr id="96" name="Shape 92"/>
          <p:cNvSpPr/>
          <p:nvPr/>
        </p:nvSpPr>
        <p:spPr>
          <a:xfrm>
            <a:off x="21432852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7" name="Text 93"/>
          <p:cNvSpPr txBox="1"/>
          <p:nvPr/>
        </p:nvSpPr>
        <p:spPr>
          <a:xfrm>
            <a:off x="21158532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150" dirty="0"/>
          </a:p>
        </p:txBody>
      </p:sp>
      <p:sp>
        <p:nvSpPr>
          <p:cNvPr id="98" name="Shape 94"/>
          <p:cNvSpPr/>
          <p:nvPr/>
        </p:nvSpPr>
        <p:spPr>
          <a:xfrm>
            <a:off x="22654164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9" name="Text 95"/>
          <p:cNvSpPr txBox="1"/>
          <p:nvPr/>
        </p:nvSpPr>
        <p:spPr>
          <a:xfrm>
            <a:off x="22379844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</a:t>
            </a:r>
            <a:endParaRPr lang="en-US" sz="1150" dirty="0"/>
          </a:p>
        </p:txBody>
      </p:sp>
      <p:sp>
        <p:nvSpPr>
          <p:cNvPr id="100" name="Shape 96"/>
          <p:cNvSpPr/>
          <p:nvPr/>
        </p:nvSpPr>
        <p:spPr>
          <a:xfrm>
            <a:off x="23875476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101" name="Text 97"/>
          <p:cNvSpPr txBox="1"/>
          <p:nvPr/>
        </p:nvSpPr>
        <p:spPr>
          <a:xfrm>
            <a:off x="23601156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1150" dirty="0"/>
          </a:p>
        </p:txBody>
      </p:sp>
      <p:sp>
        <p:nvSpPr>
          <p:cNvPr id="102" name="Shape 98"/>
          <p:cNvSpPr/>
          <p:nvPr/>
        </p:nvSpPr>
        <p:spPr>
          <a:xfrm>
            <a:off x="25096788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103" name="Text 99"/>
          <p:cNvSpPr txBox="1"/>
          <p:nvPr/>
        </p:nvSpPr>
        <p:spPr>
          <a:xfrm>
            <a:off x="24822468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</a:t>
            </a:r>
            <a:endParaRPr lang="en-US" sz="1150" dirty="0"/>
          </a:p>
        </p:txBody>
      </p:sp>
      <p:sp>
        <p:nvSpPr>
          <p:cNvPr id="104" name="Text 100"/>
          <p:cNvSpPr txBox="1"/>
          <p:nvPr/>
        </p:nvSpPr>
        <p:spPr>
          <a:xfrm>
            <a:off x="17360604" y="12111609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(n = 1,215): AUROC with patient-bootstrap 95% CI. Pan-cancer: trained on 7,773 patients with cancer type as covariate.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17360604" y="12828651"/>
            <a:ext cx="7873344" cy="148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Simulated versus real input.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167 patients sequenced on both panels, taking the input from the separate IMPACT341 assay instead of masking the IMPACT410 sample lowered pooled AUROC from 0.84 to 0.70 and per-gene AUROC from 0.80 to 0.61 (pan-cancer logistic regression). The paired samples also differ in specimen and time, so the gap combines assay shift and tumour heterogeneity.</a:t>
            </a:r>
            <a:endParaRPr lang="en-US" sz="1550" dirty="0"/>
          </a:p>
        </p:txBody>
      </p:sp>
      <p:sp>
        <p:nvSpPr>
          <p:cNvPr id="106" name="Text 102"/>
          <p:cNvSpPr txBox="1"/>
          <p:nvPr/>
        </p:nvSpPr>
        <p:spPr>
          <a:xfrm>
            <a:off x="17360604" y="14665452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Sources of signal.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Amplifications were highly discriminable (AUROC 0.95), explained largely by co-amplification with neighbouring assayed genes (NFKBIA with NKX2-1 in 39/39 cases). Mutations reached 0.73, no better than three mutational-burden counts alone (Figure 4).</a:t>
            </a:r>
            <a:endParaRPr lang="en-US" sz="1550" dirty="0"/>
          </a:p>
        </p:txBody>
      </p:sp>
      <p:graphicFrame>
        <p:nvGraphicFramePr>
          <p:cNvPr id="107" name="Chart 0" descr=""/>
          <p:cNvGraphicFramePr/>
          <p:nvPr/>
        </p:nvGraphicFramePr>
        <p:xfrm>
          <a:off x="17360604" y="15899130"/>
          <a:ext cx="7873344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8" name="Text 103"/>
          <p:cNvSpPr txBox="1"/>
          <p:nvPr/>
        </p:nvSpPr>
        <p:spPr>
          <a:xfrm>
            <a:off x="17360604" y="17435322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per-gene AUROC by event type (positives-weighted mean; axis origin 0.50), pan-cancer logistic regression.</a:t>
            </a:r>
            <a:endParaRPr lang="en-US" sz="1300" dirty="0"/>
          </a:p>
        </p:txBody>
      </p:sp>
      <p:sp>
        <p:nvSpPr>
          <p:cNvPr id="109" name="Shape 104"/>
          <p:cNvSpPr/>
          <p:nvPr/>
        </p:nvSpPr>
        <p:spPr>
          <a:xfrm>
            <a:off x="25755156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10" name="Text 105"/>
          <p:cNvSpPr txBox="1"/>
          <p:nvPr/>
        </p:nvSpPr>
        <p:spPr>
          <a:xfrm>
            <a:off x="25755156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EBAI assessment</a:t>
            </a:r>
            <a:endParaRPr lang="en-US" sz="3200" dirty="0"/>
          </a:p>
        </p:txBody>
      </p:sp>
      <p:sp>
        <p:nvSpPr>
          <p:cNvPr id="111" name="Shape 106"/>
          <p:cNvSpPr/>
          <p:nvPr/>
        </p:nvSpPr>
        <p:spPr>
          <a:xfrm>
            <a:off x="25755156" y="5239512"/>
            <a:ext cx="7873344" cy="402336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112" name="Text 107"/>
          <p:cNvSpPr txBox="1"/>
          <p:nvPr/>
        </p:nvSpPr>
        <p:spPr>
          <a:xfrm>
            <a:off x="25864884" y="5239512"/>
            <a:ext cx="7653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EBAI class B · indirect measure of existing biomarkers · use: enrichment</a:t>
            </a:r>
            <a:endParaRPr lang="en-US" sz="1250" dirty="0"/>
          </a:p>
        </p:txBody>
      </p:sp>
      <p:sp>
        <p:nvSpPr>
          <p:cNvPr id="113" name="Text 108"/>
          <p:cNvSpPr txBox="1"/>
          <p:nvPr/>
        </p:nvSpPr>
        <p:spPr>
          <a:xfrm>
            <a:off x="25755156" y="5669280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</a:t>
            </a:r>
            <a:endParaRPr lang="en-US" sz="1150" dirty="0"/>
          </a:p>
        </p:txBody>
      </p:sp>
      <p:sp>
        <p:nvSpPr>
          <p:cNvPr id="114" name="Text 109"/>
          <p:cNvSpPr txBox="1"/>
          <p:nvPr/>
        </p:nvSpPr>
        <p:spPr>
          <a:xfrm>
            <a:off x="27081036" y="5669280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</a:t>
            </a:r>
            <a:endParaRPr lang="en-US" sz="1200" dirty="0"/>
          </a:p>
        </p:txBody>
      </p:sp>
      <p:sp>
        <p:nvSpPr>
          <p:cNvPr id="115" name="Shape 110"/>
          <p:cNvSpPr/>
          <p:nvPr/>
        </p:nvSpPr>
        <p:spPr>
          <a:xfrm>
            <a:off x="28772676" y="5710428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16" name="Text 111"/>
          <p:cNvSpPr txBox="1"/>
          <p:nvPr/>
        </p:nvSpPr>
        <p:spPr>
          <a:xfrm>
            <a:off x="28772676" y="5710428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050" dirty="0"/>
          </a:p>
        </p:txBody>
      </p:sp>
      <p:sp>
        <p:nvSpPr>
          <p:cNvPr id="117" name="Text 112"/>
          <p:cNvSpPr txBox="1"/>
          <p:nvPr/>
        </p:nvSpPr>
        <p:spPr>
          <a:xfrm>
            <a:off x="29687076" y="5669280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IMPACT505 NGS on the same sample</a:t>
            </a:r>
            <a:endParaRPr lang="en-US" sz="1200" dirty="0"/>
          </a:p>
        </p:txBody>
      </p:sp>
      <p:sp>
        <p:nvSpPr>
          <p:cNvPr id="118" name="Shape 113"/>
          <p:cNvSpPr/>
          <p:nvPr/>
        </p:nvSpPr>
        <p:spPr>
          <a:xfrm>
            <a:off x="27081036" y="5957316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19" name="Text 114"/>
          <p:cNvSpPr txBox="1"/>
          <p:nvPr/>
        </p:nvSpPr>
        <p:spPr>
          <a:xfrm>
            <a:off x="27081036" y="5957316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Discrimination</a:t>
            </a:r>
            <a:endParaRPr lang="en-US" sz="1200" dirty="0"/>
          </a:p>
        </p:txBody>
      </p:sp>
      <p:sp>
        <p:nvSpPr>
          <p:cNvPr id="120" name="Shape 115"/>
          <p:cNvSpPr/>
          <p:nvPr/>
        </p:nvSpPr>
        <p:spPr>
          <a:xfrm>
            <a:off x="28772676" y="5998464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21" name="Text 116"/>
          <p:cNvSpPr txBox="1"/>
          <p:nvPr/>
        </p:nvSpPr>
        <p:spPr>
          <a:xfrm>
            <a:off x="28772676" y="5998464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22" name="Text 117"/>
          <p:cNvSpPr txBox="1"/>
          <p:nvPr/>
        </p:nvSpPr>
        <p:spPr>
          <a:xfrm>
            <a:off x="29687076" y="5957316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 0.77–0.79; per gene n.r.</a:t>
            </a:r>
            <a:endParaRPr lang="en-US" sz="1200" dirty="0"/>
          </a:p>
        </p:txBody>
      </p:sp>
      <p:sp>
        <p:nvSpPr>
          <p:cNvPr id="123" name="Shape 118"/>
          <p:cNvSpPr/>
          <p:nvPr/>
        </p:nvSpPr>
        <p:spPr>
          <a:xfrm>
            <a:off x="27081036" y="6245352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24" name="Text 119"/>
          <p:cNvSpPr txBox="1"/>
          <p:nvPr/>
        </p:nvSpPr>
        <p:spPr>
          <a:xfrm>
            <a:off x="27081036" y="6245352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point</a:t>
            </a:r>
            <a:endParaRPr lang="en-US" sz="1200" dirty="0"/>
          </a:p>
        </p:txBody>
      </p:sp>
      <p:sp>
        <p:nvSpPr>
          <p:cNvPr id="125" name="Shape 120"/>
          <p:cNvSpPr/>
          <p:nvPr/>
        </p:nvSpPr>
        <p:spPr>
          <a:xfrm>
            <a:off x="28772676" y="6286500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28772676" y="6286500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27" name="Text 122"/>
          <p:cNvSpPr txBox="1"/>
          <p:nvPr/>
        </p:nvSpPr>
        <p:spPr>
          <a:xfrm>
            <a:off x="29687076" y="6245352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Se 0.90, NPV 0.86, LR− 0.22</a:t>
            </a:r>
            <a:endParaRPr lang="en-US" sz="1200" dirty="0"/>
          </a:p>
        </p:txBody>
      </p:sp>
      <p:sp>
        <p:nvSpPr>
          <p:cNvPr id="128" name="Shape 123"/>
          <p:cNvSpPr/>
          <p:nvPr/>
        </p:nvSpPr>
        <p:spPr>
          <a:xfrm>
            <a:off x="27081036" y="6533388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29" name="Text 124"/>
          <p:cNvSpPr txBox="1"/>
          <p:nvPr/>
        </p:nvSpPr>
        <p:spPr>
          <a:xfrm>
            <a:off x="27081036" y="6533388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200" dirty="0"/>
          </a:p>
        </p:txBody>
      </p:sp>
      <p:sp>
        <p:nvSpPr>
          <p:cNvPr id="130" name="Shape 125"/>
          <p:cNvSpPr/>
          <p:nvPr/>
        </p:nvSpPr>
        <p:spPr>
          <a:xfrm>
            <a:off x="28772676" y="6574536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31" name="Text 126"/>
          <p:cNvSpPr txBox="1"/>
          <p:nvPr/>
        </p:nvSpPr>
        <p:spPr>
          <a:xfrm>
            <a:off x="28772676" y="6574536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32" name="Text 127"/>
          <p:cNvSpPr txBox="1"/>
          <p:nvPr/>
        </p:nvSpPr>
        <p:spPr>
          <a:xfrm>
            <a:off x="29687076" y="6533388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slope 0.97, O:E 1.08</a:t>
            </a:r>
            <a:endParaRPr lang="en-US" sz="1200" dirty="0"/>
          </a:p>
        </p:txBody>
      </p:sp>
      <p:sp>
        <p:nvSpPr>
          <p:cNvPr id="133" name="Shape 128"/>
          <p:cNvSpPr/>
          <p:nvPr/>
        </p:nvSpPr>
        <p:spPr>
          <a:xfrm>
            <a:off x="27081036" y="6821424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34" name="Text 129"/>
          <p:cNvSpPr txBox="1"/>
          <p:nvPr/>
        </p:nvSpPr>
        <p:spPr>
          <a:xfrm>
            <a:off x="27081036" y="6821424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Indep. cohort</a:t>
            </a:r>
            <a:endParaRPr lang="en-US" sz="1200" dirty="0"/>
          </a:p>
        </p:txBody>
      </p:sp>
      <p:sp>
        <p:nvSpPr>
          <p:cNvPr id="135" name="Shape 130"/>
          <p:cNvSpPr/>
          <p:nvPr/>
        </p:nvSpPr>
        <p:spPr>
          <a:xfrm>
            <a:off x="28772676" y="6862572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36" name="Text 131"/>
          <p:cNvSpPr txBox="1"/>
          <p:nvPr/>
        </p:nvSpPr>
        <p:spPr>
          <a:xfrm>
            <a:off x="28772676" y="6862572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37" name="Text 132"/>
          <p:cNvSpPr txBox="1"/>
          <p:nvPr/>
        </p:nvSpPr>
        <p:spPr>
          <a:xfrm>
            <a:off x="29687076" y="6821424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institution; external cohort needed</a:t>
            </a:r>
            <a:endParaRPr lang="en-US" sz="1200" dirty="0"/>
          </a:p>
        </p:txBody>
      </p:sp>
      <p:sp>
        <p:nvSpPr>
          <p:cNvPr id="138" name="Shape 133"/>
          <p:cNvSpPr/>
          <p:nvPr/>
        </p:nvSpPr>
        <p:spPr>
          <a:xfrm>
            <a:off x="27081036" y="7109460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39" name="Text 134"/>
          <p:cNvSpPr txBox="1"/>
          <p:nvPr/>
        </p:nvSpPr>
        <p:spPr>
          <a:xfrm>
            <a:off x="27081036" y="7109460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Assay variation</a:t>
            </a:r>
            <a:endParaRPr lang="en-US" sz="1200" dirty="0"/>
          </a:p>
        </p:txBody>
      </p:sp>
      <p:sp>
        <p:nvSpPr>
          <p:cNvPr id="140" name="Shape 135"/>
          <p:cNvSpPr/>
          <p:nvPr/>
        </p:nvSpPr>
        <p:spPr>
          <a:xfrm>
            <a:off x="28772676" y="7150608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41" name="Text 136"/>
          <p:cNvSpPr txBox="1"/>
          <p:nvPr/>
        </p:nvSpPr>
        <p:spPr>
          <a:xfrm>
            <a:off x="28772676" y="7150608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42" name="Text 137"/>
          <p:cNvSpPr txBox="1"/>
          <p:nvPr/>
        </p:nvSpPr>
        <p:spPr>
          <a:xfrm>
            <a:off x="29687076" y="7109460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IMPACT341 input: AUROC 0.84 → 0.70</a:t>
            </a:r>
            <a:endParaRPr lang="en-US" sz="1200" dirty="0"/>
          </a:p>
        </p:txBody>
      </p:sp>
      <p:sp>
        <p:nvSpPr>
          <p:cNvPr id="143" name="Shape 138"/>
          <p:cNvSpPr/>
          <p:nvPr/>
        </p:nvSpPr>
        <p:spPr>
          <a:xfrm>
            <a:off x="27081036" y="7397496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44" name="Shape 139"/>
          <p:cNvSpPr/>
          <p:nvPr/>
        </p:nvSpPr>
        <p:spPr>
          <a:xfrm>
            <a:off x="25755156" y="7397496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45" name="Text 140"/>
          <p:cNvSpPr txBox="1"/>
          <p:nvPr/>
        </p:nvSpPr>
        <p:spPr>
          <a:xfrm>
            <a:off x="25755156" y="7397496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150" dirty="0"/>
          </a:p>
        </p:txBody>
      </p:sp>
      <p:sp>
        <p:nvSpPr>
          <p:cNvPr id="146" name="Text 141"/>
          <p:cNvSpPr txBox="1"/>
          <p:nvPr/>
        </p:nvSpPr>
        <p:spPr>
          <a:xfrm>
            <a:off x="27081036" y="7397496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00" dirty="0"/>
          </a:p>
        </p:txBody>
      </p:sp>
      <p:sp>
        <p:nvSpPr>
          <p:cNvPr id="147" name="Shape 142"/>
          <p:cNvSpPr/>
          <p:nvPr/>
        </p:nvSpPr>
        <p:spPr>
          <a:xfrm>
            <a:off x="28772676" y="7438644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48" name="Text 143"/>
          <p:cNvSpPr txBox="1"/>
          <p:nvPr/>
        </p:nvSpPr>
        <p:spPr>
          <a:xfrm>
            <a:off x="28772676" y="7438644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49" name="Text 144"/>
          <p:cNvSpPr txBox="1"/>
          <p:nvPr/>
        </p:nvSpPr>
        <p:spPr>
          <a:xfrm>
            <a:off x="29687076" y="7397496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Sex, ancestry, smoking, histology</a:t>
            </a:r>
            <a:endParaRPr lang="en-US" sz="1200" dirty="0"/>
          </a:p>
        </p:txBody>
      </p:sp>
      <p:sp>
        <p:nvSpPr>
          <p:cNvPr id="150" name="Shape 145"/>
          <p:cNvSpPr/>
          <p:nvPr/>
        </p:nvSpPr>
        <p:spPr>
          <a:xfrm>
            <a:off x="27081036" y="7685532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51" name="Text 146"/>
          <p:cNvSpPr txBox="1"/>
          <p:nvPr/>
        </p:nvSpPr>
        <p:spPr>
          <a:xfrm>
            <a:off x="27081036" y="7685532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200" dirty="0"/>
          </a:p>
        </p:txBody>
      </p:sp>
      <p:sp>
        <p:nvSpPr>
          <p:cNvPr id="152" name="Shape 147"/>
          <p:cNvSpPr/>
          <p:nvPr/>
        </p:nvSpPr>
        <p:spPr>
          <a:xfrm>
            <a:off x="28772676" y="7726680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53" name="Text 148"/>
          <p:cNvSpPr txBox="1"/>
          <p:nvPr/>
        </p:nvSpPr>
        <p:spPr>
          <a:xfrm>
            <a:off x="28772676" y="7726680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050" dirty="0"/>
          </a:p>
        </p:txBody>
      </p:sp>
      <p:sp>
        <p:nvSpPr>
          <p:cNvPr id="154" name="Text 149"/>
          <p:cNvSpPr txBox="1"/>
          <p:nvPr/>
        </p:nvSpPr>
        <p:spPr>
          <a:xfrm>
            <a:off x="29687076" y="7685532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CN locus + mutational burden</a:t>
            </a:r>
            <a:endParaRPr lang="en-US" sz="1200" dirty="0"/>
          </a:p>
        </p:txBody>
      </p:sp>
      <p:sp>
        <p:nvSpPr>
          <p:cNvPr id="155" name="Shape 150"/>
          <p:cNvSpPr/>
          <p:nvPr/>
        </p:nvSpPr>
        <p:spPr>
          <a:xfrm>
            <a:off x="27081036" y="7973568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56" name="Shape 151"/>
          <p:cNvSpPr/>
          <p:nvPr/>
        </p:nvSpPr>
        <p:spPr>
          <a:xfrm>
            <a:off x="25755156" y="7973568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57" name="Text 152"/>
          <p:cNvSpPr txBox="1"/>
          <p:nvPr/>
        </p:nvSpPr>
        <p:spPr>
          <a:xfrm>
            <a:off x="25755156" y="7973568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</a:t>
            </a:r>
            <a:endParaRPr lang="en-US" sz="1150" dirty="0"/>
          </a:p>
        </p:txBody>
      </p:sp>
      <p:sp>
        <p:nvSpPr>
          <p:cNvPr id="158" name="Text 153"/>
          <p:cNvSpPr txBox="1"/>
          <p:nvPr/>
        </p:nvSpPr>
        <p:spPr>
          <a:xfrm>
            <a:off x="27081036" y="7973568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200" dirty="0"/>
          </a:p>
        </p:txBody>
      </p:sp>
      <p:sp>
        <p:nvSpPr>
          <p:cNvPr id="159" name="Shape 154"/>
          <p:cNvSpPr/>
          <p:nvPr/>
        </p:nvSpPr>
        <p:spPr>
          <a:xfrm>
            <a:off x="28772676" y="8014716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60" name="Text 155"/>
          <p:cNvSpPr txBox="1"/>
          <p:nvPr/>
        </p:nvSpPr>
        <p:spPr>
          <a:xfrm>
            <a:off x="28772676" y="8014716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61" name="Text 156"/>
          <p:cNvSpPr txBox="1"/>
          <p:nvPr/>
        </p:nvSpPr>
        <p:spPr>
          <a:xfrm>
            <a:off x="29687076" y="7973568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routine panel data; not costed</a:t>
            </a:r>
            <a:endParaRPr lang="en-US" sz="1200" dirty="0"/>
          </a:p>
        </p:txBody>
      </p:sp>
      <p:sp>
        <p:nvSpPr>
          <p:cNvPr id="162" name="Shape 157"/>
          <p:cNvSpPr/>
          <p:nvPr/>
        </p:nvSpPr>
        <p:spPr>
          <a:xfrm>
            <a:off x="27081036" y="8261604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63" name="Text 158"/>
          <p:cNvSpPr txBox="1"/>
          <p:nvPr/>
        </p:nvSpPr>
        <p:spPr>
          <a:xfrm>
            <a:off x="27081036" y="8261604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</a:t>
            </a:r>
            <a:endParaRPr lang="en-US" sz="1200" dirty="0"/>
          </a:p>
        </p:txBody>
      </p:sp>
      <p:sp>
        <p:nvSpPr>
          <p:cNvPr id="164" name="Shape 159"/>
          <p:cNvSpPr/>
          <p:nvPr/>
        </p:nvSpPr>
        <p:spPr>
          <a:xfrm>
            <a:off x="28772676" y="8302752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65" name="Text 160"/>
          <p:cNvSpPr txBox="1"/>
          <p:nvPr/>
        </p:nvSpPr>
        <p:spPr>
          <a:xfrm>
            <a:off x="28772676" y="8302752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66" name="Text 161"/>
          <p:cNvSpPr txBox="1"/>
          <p:nvPr/>
        </p:nvSpPr>
        <p:spPr>
          <a:xfrm>
            <a:off x="29687076" y="8261604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in seconds; workflow not timed</a:t>
            </a:r>
            <a:endParaRPr lang="en-US" sz="1200" dirty="0"/>
          </a:p>
        </p:txBody>
      </p:sp>
      <p:sp>
        <p:nvSpPr>
          <p:cNvPr id="167" name="Shape 162"/>
          <p:cNvSpPr/>
          <p:nvPr/>
        </p:nvSpPr>
        <p:spPr>
          <a:xfrm>
            <a:off x="27081036" y="8549640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68" name="Shape 163"/>
          <p:cNvSpPr/>
          <p:nvPr/>
        </p:nvSpPr>
        <p:spPr>
          <a:xfrm>
            <a:off x="25755156" y="8549640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69" name="Text 164"/>
          <p:cNvSpPr txBox="1"/>
          <p:nvPr/>
        </p:nvSpPr>
        <p:spPr>
          <a:xfrm>
            <a:off x="25755156" y="8549640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170" name="Text 165"/>
          <p:cNvSpPr txBox="1"/>
          <p:nvPr/>
        </p:nvSpPr>
        <p:spPr>
          <a:xfrm>
            <a:off x="27081036" y="8549640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</a:t>
            </a:r>
            <a:endParaRPr lang="en-US" sz="1200" dirty="0"/>
          </a:p>
        </p:txBody>
      </p:sp>
      <p:sp>
        <p:nvSpPr>
          <p:cNvPr id="171" name="Shape 166"/>
          <p:cNvSpPr/>
          <p:nvPr/>
        </p:nvSpPr>
        <p:spPr>
          <a:xfrm>
            <a:off x="28772676" y="8590788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72" name="Text 167"/>
          <p:cNvSpPr txBox="1"/>
          <p:nvPr/>
        </p:nvSpPr>
        <p:spPr>
          <a:xfrm>
            <a:off x="28772676" y="8590788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73" name="Text 168"/>
          <p:cNvSpPr txBox="1"/>
          <p:nvPr/>
        </p:nvSpPr>
        <p:spPr>
          <a:xfrm>
            <a:off x="29687076" y="8549640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hoc: ≈ ±0.05 AUROC with 334 test patients</a:t>
            </a:r>
            <a:endParaRPr lang="en-US" sz="1200" dirty="0"/>
          </a:p>
        </p:txBody>
      </p:sp>
      <p:sp>
        <p:nvSpPr>
          <p:cNvPr id="174" name="Shape 169"/>
          <p:cNvSpPr/>
          <p:nvPr/>
        </p:nvSpPr>
        <p:spPr>
          <a:xfrm>
            <a:off x="27081036" y="8837676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75" name="Text 170"/>
          <p:cNvSpPr txBox="1"/>
          <p:nvPr/>
        </p:nvSpPr>
        <p:spPr>
          <a:xfrm>
            <a:off x="27081036" y="8837676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/ DCA</a:t>
            </a:r>
            <a:endParaRPr lang="en-US" sz="1200" dirty="0"/>
          </a:p>
        </p:txBody>
      </p:sp>
      <p:sp>
        <p:nvSpPr>
          <p:cNvPr id="176" name="Shape 171"/>
          <p:cNvSpPr/>
          <p:nvPr/>
        </p:nvSpPr>
        <p:spPr>
          <a:xfrm>
            <a:off x="28772676" y="8878824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77" name="Text 172"/>
          <p:cNvSpPr txBox="1"/>
          <p:nvPr/>
        </p:nvSpPr>
        <p:spPr>
          <a:xfrm>
            <a:off x="28772676" y="8878824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78" name="Text 173"/>
          <p:cNvSpPr txBox="1"/>
          <p:nvPr/>
        </p:nvSpPr>
        <p:spPr>
          <a:xfrm>
            <a:off x="29687076" y="8837676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 burden + locus model; triage threshold</a:t>
            </a:r>
            <a:endParaRPr lang="en-US" sz="1200" dirty="0"/>
          </a:p>
        </p:txBody>
      </p:sp>
      <p:sp>
        <p:nvSpPr>
          <p:cNvPr id="179" name="Shape 174"/>
          <p:cNvSpPr/>
          <p:nvPr/>
        </p:nvSpPr>
        <p:spPr>
          <a:xfrm>
            <a:off x="27081036" y="9125712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80" name="Shape 175"/>
          <p:cNvSpPr/>
          <p:nvPr/>
        </p:nvSpPr>
        <p:spPr>
          <a:xfrm>
            <a:off x="25755156" y="9125712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81" name="Text 176"/>
          <p:cNvSpPr txBox="1"/>
          <p:nvPr/>
        </p:nvSpPr>
        <p:spPr>
          <a:xfrm>
            <a:off x="25755156" y="9125712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Post-adoption</a:t>
            </a:r>
            <a:endParaRPr lang="en-US" sz="1150" dirty="0"/>
          </a:p>
        </p:txBody>
      </p:sp>
      <p:sp>
        <p:nvSpPr>
          <p:cNvPr id="182" name="Text 177"/>
          <p:cNvSpPr txBox="1"/>
          <p:nvPr/>
        </p:nvSpPr>
        <p:spPr>
          <a:xfrm>
            <a:off x="27081036" y="9125712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183" name="Shape 178"/>
          <p:cNvSpPr/>
          <p:nvPr/>
        </p:nvSpPr>
        <p:spPr>
          <a:xfrm>
            <a:off x="28772676" y="9166860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84" name="Text 179"/>
          <p:cNvSpPr txBox="1"/>
          <p:nvPr/>
        </p:nvSpPr>
        <p:spPr>
          <a:xfrm>
            <a:off x="28772676" y="9166860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85" name="Text 180"/>
          <p:cNvSpPr txBox="1"/>
          <p:nvPr/>
        </p:nvSpPr>
        <p:spPr>
          <a:xfrm>
            <a:off x="29687076" y="9125712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with panel versions and populations</a:t>
            </a:r>
            <a:endParaRPr lang="en-US" sz="1200" dirty="0"/>
          </a:p>
        </p:txBody>
      </p:sp>
      <p:sp>
        <p:nvSpPr>
          <p:cNvPr id="186" name="Shape 181"/>
          <p:cNvSpPr/>
          <p:nvPr/>
        </p:nvSpPr>
        <p:spPr>
          <a:xfrm>
            <a:off x="27081036" y="9413748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87" name="Shape 182"/>
          <p:cNvSpPr/>
          <p:nvPr/>
        </p:nvSpPr>
        <p:spPr>
          <a:xfrm>
            <a:off x="25755156" y="9413748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88" name="Text 183"/>
          <p:cNvSpPr txBox="1"/>
          <p:nvPr/>
        </p:nvSpPr>
        <p:spPr>
          <a:xfrm>
            <a:off x="25755156" y="9505188"/>
            <a:ext cx="7873344" cy="645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along the seven EBAI dimensions and validation requirements for class B. Replicate values from MSK-IMPACT 2017; n.r., not reported. CN, copy number; DCA, decision-curve analysis; NRI, net reclassification improvement.</a:t>
            </a:r>
            <a:endParaRPr lang="en-US" sz="1300" dirty="0"/>
          </a:p>
        </p:txBody>
      </p:sp>
      <p:sp>
        <p:nvSpPr>
          <p:cNvPr id="189" name="Shape 184"/>
          <p:cNvSpPr/>
          <p:nvPr/>
        </p:nvSpPr>
        <p:spPr>
          <a:xfrm>
            <a:off x="25755156" y="10452735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90" name="Text 185"/>
          <p:cNvSpPr txBox="1"/>
          <p:nvPr/>
        </p:nvSpPr>
        <p:spPr>
          <a:xfrm>
            <a:off x="25755156" y="10544175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 Limitations</a:t>
            </a:r>
            <a:endParaRPr lang="en-US" sz="3200" dirty="0"/>
          </a:p>
        </p:txBody>
      </p:sp>
      <p:sp>
        <p:nvSpPr>
          <p:cNvPr id="191" name="Text 186"/>
          <p:cNvSpPr txBox="1"/>
          <p:nvPr/>
        </p:nvSpPr>
        <p:spPr>
          <a:xfrm>
            <a:off x="25755156" y="11337874"/>
            <a:ext cx="7873344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1400" dirty="0"/>
          </a:p>
        </p:txBody>
      </p:sp>
      <p:sp>
        <p:nvSpPr>
          <p:cNvPr id="192" name="Text 187"/>
          <p:cNvSpPr txBox="1"/>
          <p:nvPr/>
        </p:nvSpPr>
        <p:spPr>
          <a:xfrm>
            <a:off x="25755156" y="11638864"/>
            <a:ext cx="7873344" cy="2266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15% test split; pooled AUROC without CI, per-gene AUROC, AUPRC or calibration; split stated as 75/15/15%.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masking of one IMPACT505 assay; single institution, no independent or real paired-assay cohort.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per-gene events ignore variant level (e.g. KRAS G12C) and fusions; actionable genes and subgroups not analysed.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claim.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joint-fidelity metric; architecture variants unspecified.</a:t>
            </a:r>
            <a:endParaRPr lang="en-US" sz="1550" dirty="0"/>
          </a:p>
        </p:txBody>
      </p:sp>
      <p:sp>
        <p:nvSpPr>
          <p:cNvPr id="193" name="Text 188"/>
          <p:cNvSpPr txBox="1"/>
          <p:nvPr/>
        </p:nvSpPr>
        <p:spPr>
          <a:xfrm>
            <a:off x="25755156" y="14042212"/>
            <a:ext cx="7873344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 and replicate</a:t>
            </a:r>
            <a:endParaRPr lang="en-US" sz="1400" dirty="0"/>
          </a:p>
        </p:txBody>
      </p:sp>
      <p:sp>
        <p:nvSpPr>
          <p:cNvPr id="194" name="Text 189"/>
          <p:cNvSpPr txBox="1"/>
          <p:nvPr/>
        </p:nvSpPr>
        <p:spPr>
          <a:xfrm>
            <a:off x="25755156" y="14343202"/>
            <a:ext cx="7873344" cy="1133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genes, 2014–2016 MSK data: not independent of MSK-CHORD under EBAI.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point and calibration from L2 logistic regression, not the flow model; sample size post hoc.</a:t>
            </a:r>
            <a:endParaRPr lang="en-US" sz="1550" dirty="0"/>
          </a:p>
        </p:txBody>
      </p:sp>
      <p:sp>
        <p:nvSpPr>
          <p:cNvPr id="195" name="Shape 190"/>
          <p:cNvSpPr/>
          <p:nvPr/>
        </p:nvSpPr>
        <p:spPr>
          <a:xfrm>
            <a:off x="25755156" y="15640888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96" name="Text 191"/>
          <p:cNvSpPr txBox="1"/>
          <p:nvPr/>
        </p:nvSpPr>
        <p:spPr>
          <a:xfrm>
            <a:off x="25755156" y="15732328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 Conclusions</a:t>
            </a:r>
            <a:endParaRPr lang="en-US" sz="3200" dirty="0"/>
          </a:p>
        </p:txBody>
      </p:sp>
      <p:sp>
        <p:nvSpPr>
          <p:cNvPr id="197" name="Text 192"/>
          <p:cNvSpPr txBox="1"/>
          <p:nvPr/>
        </p:nvSpPr>
        <p:spPr>
          <a:xfrm>
            <a:off x="25755156" y="16526027"/>
            <a:ext cx="7873344" cy="1699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panel predicts part of the unassayed genome, mainly through copy-number co-location and mutational burden.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an EBAI class B biomarker its use is enrichment for confirmatory CGP, not rule-out (replicate NPV 0.86).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per-gene and calibration metrics, an independent multi-centre cohort and a fairness audit.</a:t>
            </a:r>
            <a:endParaRPr lang="en-US" sz="1550" dirty="0"/>
          </a:p>
        </p:txBody>
      </p:sp>
      <p:sp>
        <p:nvSpPr>
          <p:cNvPr id="198" name="Shape 193"/>
          <p:cNvSpPr/>
          <p:nvPr/>
        </p:nvSpPr>
        <p:spPr>
          <a:xfrm>
            <a:off x="571500" y="18336960"/>
            <a:ext cx="33057000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199" name="Text 194"/>
          <p:cNvSpPr txBox="1"/>
          <p:nvPr/>
        </p:nvSpPr>
        <p:spPr>
          <a:xfrm>
            <a:off x="571500" y="18474120"/>
            <a:ext cx="15380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Jee J, et al. Automated real-world data integration improves cancer outcome prediction. Nature 2024;636:728–36.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Zehir A, et al. Mutational landscape of metastatic cancer revealed from prospective clinical sequencing of 10,000 patients. Nat Med 2017;23:703–13.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Lipman Y, et al. Flow matching for generative modeling. ICLR 2023.   4. Collins GS, et al. TRIPOD+AI statement. BMJ 2024;385:e078378.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Aldea M, et al. ESMO basic requirements for AI-based biomarkers in oncology (EBAI). Ann Oncol 2026;37:414–25.</a:t>
            </a:r>
            <a:endParaRPr lang="en-US" sz="1250" dirty="0"/>
          </a:p>
        </p:txBody>
      </p:sp>
      <p:sp>
        <p:nvSpPr>
          <p:cNvPr id="200" name="Text 195"/>
          <p:cNvSpPr txBox="1"/>
          <p:nvPr/>
        </p:nvSpPr>
        <p:spPr>
          <a:xfrm>
            <a:off x="16336476" y="18474120"/>
            <a:ext cx="7690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code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MSK-CHORD and msk_impact_2017 via cBioPortal. Code: github.com/chiaralouisa/brainmets-POP (QR)</a:t>
            </a:r>
            <a:endParaRPr lang="en-US" sz="1250" dirty="0"/>
          </a:p>
        </p:txBody>
      </p:sp>
      <p:sp>
        <p:nvSpPr>
          <p:cNvPr id="201" name="Text 196"/>
          <p:cNvSpPr txBox="1"/>
          <p:nvPr/>
        </p:nvSpPr>
        <p:spPr>
          <a:xfrm>
            <a:off x="24410988" y="18474120"/>
            <a:ext cx="7690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Disclosures · Contact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authors declare no conflicts of interest.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Louisa Hempel · louisa.hempel@googlemail.com</a:t>
            </a:r>
            <a:endParaRPr lang="en-US" sz="1250" dirty="0"/>
          </a:p>
        </p:txBody>
      </p:sp>
      <p:pic>
        <p:nvPicPr>
          <p:cNvPr id="202" name="Image 0" descr="QR code: github.com/chiaralouisa/brainmets-P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5500" y="1847412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ESMO poster P305 – genomic panel completion</dc:title>
  <dc:subject>PptxGenJS Presentation</dc:subject>
  <dc:creator>PptxGenJS</dc:creator>
  <cp:lastModifiedBy>PptxGenJS</cp:lastModifiedBy>
  <cp:revision>1</cp:revision>
  <dcterms:created xsi:type="dcterms:W3CDTF">2026-10-01T14:09:01Z</dcterms:created>
  <dcterms:modified xsi:type="dcterms:W3CDTF">2026-10-01T14:09:01Z</dcterms:modified>
</cp:coreProperties>
</file>