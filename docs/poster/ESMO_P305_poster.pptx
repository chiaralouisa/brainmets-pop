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4200000" cy="19800000"/>
  <p:notesSz cx="19800000" cy="3420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AUROC</c:v>
                </c:pt>
              </c:strCache>
            </c:strRef>
          </c:tx>
          <c:spPr>
            <a:solidFill>
              <a:srgbClr val="2A6FD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220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A6FD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A6FD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FB3E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A6FD6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Amplifications (134 events)</c:v>
                  </c:pt>
                  <c:pt idx="1">
                    <c:v>Mutations (646 events)</c:v>
                  </c:pt>
                  <c:pt idx="2">
                    <c:v>Mutations, burden only</c:v>
                  </c:pt>
                  <c:pt idx="3">
                    <c:v>Deep deletions (18 events)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0.949</c:v>
                </c:pt>
                <c:pt idx="1">
                  <c:v>0.728</c:v>
                </c:pt>
                <c:pt idx="2">
                  <c:v>0.726</c:v>
                </c:pt>
                <c:pt idx="3">
                  <c:v>0.711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300" u="none">
                  <a:solidFill>
                    <a:srgbClr val="1220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2202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b"/>
        <c:majorGridlines>
          <c:spPr>
            <a:ln w="9525" cap="flat">
              <a:solidFill>
                <a:srgbClr val="E0E4E8"/>
              </a:solidFill>
              <a:prstDash val="solid"/>
              <a:round/>
            </a:ln>
          </c:spPr>
        </c:majorGridlines>
        <c:numFmt formatCode="0.0#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4B5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1500" y="457200"/>
            <a:ext cx="292165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700" b="1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Conditional flow matching for genomic panel completion: inferring IMPACT505 alterations from the IMPACT341 targeted panel in non-small cell lung cancer</a:t>
            </a:r>
            <a:endParaRPr lang="en-US" sz="4700" dirty="0"/>
          </a:p>
        </p:txBody>
      </p:sp>
      <p:sp>
        <p:nvSpPr>
          <p:cNvPr id="3" name="Text 1"/>
          <p:cNvSpPr txBox="1"/>
          <p:nvPr/>
        </p:nvSpPr>
        <p:spPr>
          <a:xfrm>
            <a:off x="571500" y="2560320"/>
            <a:ext cx="29216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Louisa Hempel</a:t>
            </a:r>
            <a:pPr indent="0" marL="0">
              <a:buNone/>
            </a:pPr>
            <a:r>
              <a:rPr lang="en-US" sz="2000" b="1" baseline="300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buNone/>
            </a:pPr>
            <a:r>
              <a:rPr lang="en-US" sz="200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F. Capuano</a:t>
            </a:r>
            <a:pPr indent="0" marL="0">
              <a:buNone/>
            </a:pPr>
            <a:r>
              <a:rPr lang="en-US" sz="2000" b="1" baseline="300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71500" y="3063240"/>
            <a:ext cx="29216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aseline="3000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buNone/>
            </a:pPr>
            <a:r>
              <a:rPr lang="en-US" sz="150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Department, Sigmund Freud University Vienna, Vienna, Austria   ·   </a:t>
            </a:r>
            <a:pPr indent="0" marL="0">
              <a:buNone/>
            </a:pPr>
            <a:r>
              <a:rPr lang="en-US" sz="1500" baseline="3000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indent="0" marL="0">
              <a:buNone/>
            </a:pPr>
            <a:r>
              <a:rPr lang="en-US" sz="150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Oxford Robotics Institute, University of Oxford, Oxford, United Kingdom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0336660" y="457200"/>
            <a:ext cx="3291840" cy="3200400"/>
          </a:xfrm>
          <a:prstGeom prst="rect">
            <a:avLst/>
          </a:prstGeom>
          <a:solidFill>
            <a:srgbClr val="1220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0336660" y="8686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FPN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30336660" y="1417320"/>
            <a:ext cx="329184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P305</a:t>
            </a:r>
            <a:endParaRPr lang="en-US" sz="8000" dirty="0"/>
          </a:p>
        </p:txBody>
      </p:sp>
      <p:sp>
        <p:nvSpPr>
          <p:cNvPr id="8" name="Shape 6"/>
          <p:cNvSpPr/>
          <p:nvPr/>
        </p:nvSpPr>
        <p:spPr>
          <a:xfrm>
            <a:off x="571500" y="3977640"/>
            <a:ext cx="33057000" cy="0"/>
          </a:xfrm>
          <a:prstGeom prst="line">
            <a:avLst/>
          </a:prstGeom>
          <a:noFill/>
          <a:ln w="38100">
            <a:solidFill>
              <a:srgbClr val="12202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71500" y="4343400"/>
            <a:ext cx="7873344" cy="0"/>
          </a:xfrm>
          <a:prstGeom prst="line">
            <a:avLst/>
          </a:prstGeom>
          <a:noFill/>
          <a:ln w="28575">
            <a:solidFill>
              <a:srgbClr val="12202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71500" y="4434840"/>
            <a:ext cx="78733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 Background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571500" y="5212080"/>
            <a:ext cx="7873344" cy="7629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Comprehensive genomic profiling (CGP) guides treatment in NSCLC, but panel content, cost and turnaround time differ widely between institutions, and smaller targeted panels leave part of the tumour genome unmeasured.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571500" y="6203633"/>
            <a:ext cx="7873344" cy="22157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EBAI class B. 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ESMO basic requirements for AI-based biomarkers (EBAI), a model that predicts an established biomarker from an input different from the gold-standard test is class B; here the input is the smaller panel itself. Because the input differs from the reference test, risk and complexity exceed class A. Such tools may predict only a subset of alterations with sufficient sensitivity and specificity, and usually aim to </a:t>
            </a:r>
            <a:pPr indent="0" marL="0">
              <a:buNone/>
            </a:pPr>
            <a:r>
              <a:rPr lang="en-US" sz="15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population for confirmatory testing, or, where a negative result reliably excludes the alteration, to </a:t>
            </a:r>
            <a:pPr indent="0" marL="0">
              <a:buNone/>
            </a:pPr>
            <a:r>
              <a:rPr lang="en-US" sz="15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out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testing. They do not substitute an established genomic test.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571500" y="8647938"/>
            <a:ext cx="7873344" cy="1247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Objective. 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learn the conditional distribution of alterations in genes absent from a targeted panel given the genes it measures, benchmark it against simple baselines, and evaluate it along the seven EBAI dimensions: comparator, performance, generalisability, fairness, explainability, cost and turnaround time.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571500" y="10343198"/>
            <a:ext cx="7873344" cy="0"/>
          </a:xfrm>
          <a:prstGeom prst="line">
            <a:avLst/>
          </a:prstGeom>
          <a:noFill/>
          <a:ln w="28575">
            <a:solidFill>
              <a:srgbClr val="12202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71500" y="10434638"/>
            <a:ext cx="78733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 Study design</a:t>
            </a:r>
            <a:endParaRPr lang="en-US" sz="3200" dirty="0"/>
          </a:p>
        </p:txBody>
      </p:sp>
      <p:sp>
        <p:nvSpPr>
          <p:cNvPr id="16" name="Shape 14"/>
          <p:cNvSpPr/>
          <p:nvPr/>
        </p:nvSpPr>
        <p:spPr>
          <a:xfrm>
            <a:off x="571500" y="11211878"/>
            <a:ext cx="5314507" cy="566928"/>
          </a:xfrm>
          <a:prstGeom prst="rect">
            <a:avLst/>
          </a:prstGeom>
          <a:solidFill>
            <a:srgbClr val="2A6FD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1500" y="11211878"/>
            <a:ext cx="531450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IMPACT341 · 341 genes (input)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886007" y="11211878"/>
            <a:ext cx="2558837" cy="566928"/>
          </a:xfrm>
          <a:prstGeom prst="rect">
            <a:avLst/>
          </a:prstGeom>
          <a:solidFill>
            <a:srgbClr val="FBE3D5"/>
          </a:solidFill>
          <a:ln w="19050">
            <a:solidFill>
              <a:srgbClr val="C4501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886007" y="11211878"/>
            <a:ext cx="255883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2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164 genes (target)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71500" y="11888534"/>
            <a:ext cx="7873344" cy="442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1. </a:t>
            </a:r>
            <a:pPr indent="0" marL="0">
              <a:buNone/>
            </a:pPr>
            <a:r>
              <a:rPr lang="en-US" sz="130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definition. IMPACT341 ⊂ IMPACT505; the 164 genes present only in IMPACT505 are masked from the input and predicted.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71500" y="12733592"/>
            <a:ext cx="7873344" cy="2396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1. </a:t>
            </a:r>
            <a:pPr indent="0" marL="0">
              <a:buNone/>
            </a:pPr>
            <a:r>
              <a:rPr lang="en-US" sz="130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 and target characteristics (MSK-CHORD).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1500" y="13082969"/>
          <a:ext cx="7873344" cy="914400"/>
        </p:xfrm>
        <a:graphic>
          <a:graphicData uri="http://schemas.openxmlformats.org/drawingml/2006/table">
            <a:tbl>
              <a:tblPr/>
              <a:tblGrid>
                <a:gridCol w="4881473"/>
                <a:gridCol w="2991871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Patients, NSCLC, sequenced on IMPACT505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2,226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 genes (IMPACT341)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 genes (IMPACT505 \ IMPACT341)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Altered target gene–patient pairs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1.21%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Test-set patients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≈334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Patient-level split: train / validation / test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 / 15 / 15%*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571500" y="13082969"/>
            <a:ext cx="7873344" cy="0"/>
          </a:xfrm>
          <a:prstGeom prst="line">
            <a:avLst/>
          </a:prstGeom>
          <a:noFill/>
          <a:ln w="19050">
            <a:solidFill>
              <a:srgbClr val="12202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71500" y="15387257"/>
            <a:ext cx="7873344" cy="0"/>
          </a:xfrm>
          <a:prstGeom prst="line">
            <a:avLst/>
          </a:prstGeom>
          <a:noFill/>
          <a:ln w="19050">
            <a:solidFill>
              <a:srgbClr val="12202E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71500" y="15789593"/>
            <a:ext cx="7873344" cy="442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</a:t>
            </a:r>
            <a:pPr indent="0" marL="0">
              <a:buNone/>
            </a:pPr>
            <a:r>
              <a:rPr lang="en-US" sz="130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(15%, ≈334 patients) and validation (15%) as in the abstract; the remaining 70% trains the model. The abstract’s “75%” for training would sum to 105%.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571500" y="16506635"/>
            <a:ext cx="7873344" cy="14893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Alteration encoding. 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one binary event per gene and patient (any non-synonymous mutation, including variants of unknown significance, amplification or deep deletion; fusions and other structural variants not modelled). Input: separate mutation, amplification and deletion indicators for the 341 assayed genes. One sample per patient. Genes not covered by a sample's panel are treated as missing, never as wild type.</a:t>
            </a:r>
            <a:endParaRPr lang="en-US" sz="1550" dirty="0"/>
          </a:p>
        </p:txBody>
      </p:sp>
      <p:sp>
        <p:nvSpPr>
          <p:cNvPr id="27" name="Shape 24"/>
          <p:cNvSpPr/>
          <p:nvPr/>
        </p:nvSpPr>
        <p:spPr>
          <a:xfrm>
            <a:off x="8966052" y="4343400"/>
            <a:ext cx="7873344" cy="0"/>
          </a:xfrm>
          <a:prstGeom prst="line">
            <a:avLst/>
          </a:prstGeom>
          <a:noFill/>
          <a:ln w="28575">
            <a:solidFill>
              <a:srgbClr val="12202E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966052" y="4434840"/>
            <a:ext cx="78733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 Methods</a:t>
            </a:r>
            <a:endParaRPr lang="en-US" sz="3200" dirty="0"/>
          </a:p>
        </p:txBody>
      </p:sp>
      <p:sp>
        <p:nvSpPr>
          <p:cNvPr id="29" name="Text 26"/>
          <p:cNvSpPr txBox="1"/>
          <p:nvPr/>
        </p:nvSpPr>
        <p:spPr>
          <a:xfrm>
            <a:off x="8966052" y="5212080"/>
            <a:ext cx="7873344" cy="14893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 Problem formulation. 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the observed IMPACT341 profile c, we learn the conditional distribution p(x</a:t>
            </a:r>
            <a:pPr indent="0" marL="0">
              <a:buNone/>
            </a:pPr>
            <a:r>
              <a:rPr lang="en-US" sz="1550" baseline="-400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| c) over the 164 target genes. Binary targets are embedded as x</a:t>
            </a:r>
            <a:pPr indent="0" marL="0">
              <a:buNone/>
            </a:pPr>
            <a:r>
              <a:rPr lang="en-US" sz="1550" baseline="-400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∈ {−1,+1}</a:t>
            </a:r>
            <a:pPr indent="0" marL="0">
              <a:buNone/>
            </a:pPr>
            <a:r>
              <a:rPr lang="en-US" sz="1550" baseline="300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164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(continuous relaxation); generated profiles are binarised by sign. Data were split by patient into 70% training, 15% validation (all model and hyper-parameter selection) and 15% test, evaluated once.</a:t>
            </a:r>
            <a:endParaRPr lang="en-US" sz="1550" dirty="0"/>
          </a:p>
        </p:txBody>
      </p:sp>
      <p:sp>
        <p:nvSpPr>
          <p:cNvPr id="30" name="Text 27"/>
          <p:cNvSpPr txBox="1"/>
          <p:nvPr/>
        </p:nvSpPr>
        <p:spPr>
          <a:xfrm>
            <a:off x="8966052" y="6930009"/>
            <a:ext cx="7873344" cy="7629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 Conditional flow matching. 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velocity field v</a:t>
            </a:r>
            <a:pPr indent="0" marL="0">
              <a:buNone/>
            </a:pPr>
            <a:r>
              <a:rPr lang="en-US" sz="1550" baseline="-400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θ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 neural network (architecture variants compared on the validation set), is regressed onto the straight-line path between Gaussian noise and data:</a:t>
            </a:r>
            <a:endParaRPr lang="en-US" sz="1550" dirty="0"/>
          </a:p>
        </p:txBody>
      </p:sp>
      <p:sp>
        <p:nvSpPr>
          <p:cNvPr id="31" name="Shape 28"/>
          <p:cNvSpPr/>
          <p:nvPr/>
        </p:nvSpPr>
        <p:spPr>
          <a:xfrm>
            <a:off x="8966052" y="7857554"/>
            <a:ext cx="7873344" cy="960120"/>
          </a:xfrm>
          <a:prstGeom prst="rect">
            <a:avLst/>
          </a:prstGeom>
          <a:solidFill>
            <a:srgbClr val="F2F4F7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966052" y="7967282"/>
            <a:ext cx="787334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pPr algn="ctr" indent="0" marL="0">
              <a:lnSpc>
                <a:spcPct val="130000"/>
              </a:lnSpc>
              <a:buNone/>
            </a:pPr>
            <a:r>
              <a:rPr lang="en-US" sz="1700" baseline="-400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(1 − t) x</a:t>
            </a:r>
            <a:pPr algn="ctr" indent="0" marL="0">
              <a:lnSpc>
                <a:spcPct val="130000"/>
              </a:lnSpc>
              <a:buNone/>
            </a:pPr>
            <a:r>
              <a:rPr lang="en-US" sz="1700" baseline="-400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t x</a:t>
            </a:r>
            <a:pPr algn="ctr" indent="0" marL="0">
              <a:lnSpc>
                <a:spcPct val="130000"/>
              </a:lnSpc>
              <a:buNone/>
            </a:pPr>
            <a:r>
              <a:rPr lang="en-US" sz="1700" baseline="-400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   x</a:t>
            </a:r>
            <a:pPr algn="ctr" indent="0" marL="0">
              <a:lnSpc>
                <a:spcPct val="130000"/>
              </a:lnSpc>
              <a:buNone/>
            </a:pPr>
            <a:r>
              <a:rPr lang="en-US" sz="1700" baseline="-400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~ 𝒩(0, I),    t ~ 𝒰(0, 1)</a:t>
            </a:r>
            <a:endParaRPr lang="en-US" sz="17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ℒ(θ) = 𝔼 ‖ v</a:t>
            </a:r>
            <a:pPr algn="ctr" indent="0" marL="0">
              <a:lnSpc>
                <a:spcPct val="130000"/>
              </a:lnSpc>
              <a:buNone/>
            </a:pPr>
            <a:r>
              <a:rPr lang="en-US" sz="1700" baseline="-400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θ</a:t>
            </a:r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(x</a:t>
            </a:r>
            <a:pPr algn="ctr" indent="0" marL="0">
              <a:lnSpc>
                <a:spcPct val="130000"/>
              </a:lnSpc>
              <a:buNone/>
            </a:pPr>
            <a:r>
              <a:rPr lang="en-US" sz="1700" baseline="-400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t | c) − (x</a:t>
            </a:r>
            <a:pPr algn="ctr" indent="0" marL="0">
              <a:lnSpc>
                <a:spcPct val="130000"/>
              </a:lnSpc>
              <a:buNone/>
            </a:pPr>
            <a:r>
              <a:rPr lang="en-US" sz="1700" baseline="-400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x</a:t>
            </a:r>
            <a:pPr algn="ctr" indent="0" marL="0">
              <a:lnSpc>
                <a:spcPct val="130000"/>
              </a:lnSpc>
              <a:buNone/>
            </a:pPr>
            <a:r>
              <a:rPr lang="en-US" sz="1700" baseline="-400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‖²</a:t>
            </a:r>
            <a:endParaRPr lang="en-US" sz="1700" dirty="0"/>
          </a:p>
        </p:txBody>
      </p:sp>
      <p:sp>
        <p:nvSpPr>
          <p:cNvPr id="33" name="Shape 30"/>
          <p:cNvSpPr/>
          <p:nvPr/>
        </p:nvSpPr>
        <p:spPr>
          <a:xfrm>
            <a:off x="8966052" y="9091994"/>
            <a:ext cx="215310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2202E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966052" y="9091994"/>
            <a:ext cx="215310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pPr algn="ctr" indent="0" marL="0">
              <a:buNone/>
            </a:pPr>
            <a:r>
              <a:rPr lang="en-US" sz="1400" baseline="-400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pPr algn="ctr" indent="0" marL="0">
              <a:buNone/>
            </a:pPr>
            <a:r>
              <a:rPr lang="en-US" sz="14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~ 𝒩(0, I)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11119157" y="9091994"/>
            <a:ext cx="3840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36" name="Shape 33"/>
          <p:cNvSpPr/>
          <p:nvPr/>
        </p:nvSpPr>
        <p:spPr>
          <a:xfrm>
            <a:off x="11503205" y="9091994"/>
            <a:ext cx="2799037" cy="685800"/>
          </a:xfrm>
          <a:prstGeom prst="rect">
            <a:avLst/>
          </a:prstGeom>
          <a:solidFill>
            <a:srgbClr val="12202E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11503205" y="9091994"/>
            <a:ext cx="279903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dx/dt = v</a:t>
            </a:r>
            <a:pPr algn="ctr" indent="0" marL="0">
              <a:buNone/>
            </a:pPr>
            <a:r>
              <a:rPr lang="en-US" sz="1400" baseline="-40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θ</a:t>
            </a:r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(x</a:t>
            </a:r>
            <a:pPr algn="ctr" indent="0" marL="0">
              <a:buNone/>
            </a:pPr>
            <a:r>
              <a:rPr lang="en-US" sz="1400" baseline="-40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 | c)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14302243" y="9091994"/>
            <a:ext cx="3840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39" name="Shape 36"/>
          <p:cNvSpPr/>
          <p:nvPr/>
        </p:nvSpPr>
        <p:spPr>
          <a:xfrm>
            <a:off x="14686291" y="9091994"/>
            <a:ext cx="2153105" cy="685800"/>
          </a:xfrm>
          <a:prstGeom prst="rect">
            <a:avLst/>
          </a:prstGeom>
          <a:solidFill>
            <a:srgbClr val="FBE3D5"/>
          </a:solidFill>
          <a:ln w="19050">
            <a:solidFill>
              <a:srgbClr val="C4501B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4686291" y="9091994"/>
            <a:ext cx="215310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x̂</a:t>
            </a:r>
            <a:pPr algn="ctr" indent="0" marL="0">
              <a:buNone/>
            </a:pPr>
            <a:r>
              <a:rPr lang="en-US" sz="1400" baseline="-400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algn="ctr" indent="0" marL="0">
              <a:buNone/>
            </a:pPr>
            <a:r>
              <a:rPr lang="en-US" sz="14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∈ ℝ</a:t>
            </a:r>
            <a:pPr algn="ctr" indent="0" marL="0">
              <a:buNone/>
            </a:pPr>
            <a:r>
              <a:rPr lang="en-US" sz="1400" baseline="300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164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10068320" y="9914954"/>
            <a:ext cx="5668808" cy="457200"/>
          </a:xfrm>
          <a:prstGeom prst="rect">
            <a:avLst/>
          </a:prstGeom>
          <a:solidFill>
            <a:srgbClr val="2A6FD6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10068320" y="9914954"/>
            <a:ext cx="5668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conditioning c: observed IMPACT341 profile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8966052" y="10481882"/>
            <a:ext cx="7873344" cy="442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2. </a:t>
            </a:r>
            <a:pPr indent="0" marL="0">
              <a:buNone/>
            </a:pPr>
            <a:r>
              <a:rPr lang="en-US" sz="130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Sampling: the learned ODE, integrated numerically from t = 0 to 1, transports noise to a completed 164-gene profile conditioned on the observed panel.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8966052" y="11198923"/>
            <a:ext cx="7873344" cy="1005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 Probability read-out. 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 = 0, xₜ is independent of x₁, so v*(x₀, 0 | c) = 𝔼[x₁ | c] − x₀ and p̂ = ½(1 + x₀ + vθ(x₀, 0 | c)), averaged over K noise draws. This avoids the Monte Carlo ties that sample frequencies produce at ~1% prevalence.</a:t>
            </a:r>
            <a:endParaRPr lang="en-US" sz="1550" dirty="0"/>
          </a:p>
        </p:txBody>
      </p:sp>
      <p:sp>
        <p:nvSpPr>
          <p:cNvPr id="45" name="Text 42"/>
          <p:cNvSpPr txBox="1"/>
          <p:nvPr/>
        </p:nvSpPr>
        <p:spPr>
          <a:xfrm>
            <a:off x="8966052" y="12432602"/>
            <a:ext cx="7873344" cy="24578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 Evaluation (EBAI). 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Pre-specified primary endpoint: pooled AUROC. Secondary: per-gene AUROC (genes with ≥5 test events; prevalence-only = 0.50); AUPRC (chance = 0.012); calibration plot, slope, intercept, O:E and Brier skill; at the intended-use threshold for ≥1 altered target gene, sensitivity, specificity, PPV, NPV and LR±; NRI over the burden + locus model and decision-curve analysis; joint fidelity (energy score versus independent Bernoulli draws). Comparators (same splits): prevalence, burden + locus, L2 logistic regression; 95% CIs and paired differences by patient bootstrap. </a:t>
            </a:r>
            <a:pPr indent="0" marL="0">
              <a:buNone/>
            </a:pPr>
            <a:r>
              <a:rPr lang="en-US" sz="15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size (post hoc; EBAI asks a priori): 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~334 test patients give a 95% CI half-width of ≈ ±0.05 for a patient-level AUROC of 0.79 (Hanley–McNeil, 43% prevalence assumed).</a:t>
            </a:r>
            <a:endParaRPr lang="en-US" sz="1550" dirty="0"/>
          </a:p>
        </p:txBody>
      </p:sp>
      <p:sp>
        <p:nvSpPr>
          <p:cNvPr id="46" name="Text 43"/>
          <p:cNvSpPr txBox="1"/>
          <p:nvPr/>
        </p:nvSpPr>
        <p:spPr>
          <a:xfrm>
            <a:off x="8966052" y="15119033"/>
            <a:ext cx="7873344" cy="7629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 External replicate. 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MSK-IMPACT 2017 (cBioPortal): IMPACT341 → 69 IMPACT410-only genes, 1,215 NSCLC patients, 3 × 5-fold patient-level CV, AUROC within folds.</a:t>
            </a:r>
            <a:endParaRPr lang="en-US" sz="1550" dirty="0"/>
          </a:p>
        </p:txBody>
      </p:sp>
      <p:sp>
        <p:nvSpPr>
          <p:cNvPr id="47" name="Shape 44"/>
          <p:cNvSpPr/>
          <p:nvPr/>
        </p:nvSpPr>
        <p:spPr>
          <a:xfrm>
            <a:off x="8966052" y="16110585"/>
            <a:ext cx="7873344" cy="0"/>
          </a:xfrm>
          <a:prstGeom prst="line">
            <a:avLst/>
          </a:prstGeom>
          <a:noFill/>
          <a:ln w="28575">
            <a:solidFill>
              <a:srgbClr val="12202E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8966052" y="16202025"/>
            <a:ext cx="78733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 Results</a:t>
            </a:r>
            <a:endParaRPr lang="en-US" sz="3200" dirty="0"/>
          </a:p>
        </p:txBody>
      </p:sp>
      <p:sp>
        <p:nvSpPr>
          <p:cNvPr id="49" name="Text 46"/>
          <p:cNvSpPr txBox="1"/>
          <p:nvPr/>
        </p:nvSpPr>
        <p:spPr>
          <a:xfrm>
            <a:off x="8966052" y="16979265"/>
            <a:ext cx="7873344" cy="1005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 Primary cohort. 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architectures and training paradigms, the flow model reached a pooled test AUROC of 0.77–0.79, above the prevalence-only baseline in every variant. The abstract reports no other metric; Table 2 sets these gaps against what the replicate measures.</a:t>
            </a:r>
            <a:endParaRPr lang="en-US" sz="1550" dirty="0"/>
          </a:p>
        </p:txBody>
      </p:sp>
      <p:sp>
        <p:nvSpPr>
          <p:cNvPr id="50" name="Shape 47"/>
          <p:cNvSpPr/>
          <p:nvPr/>
        </p:nvSpPr>
        <p:spPr>
          <a:xfrm>
            <a:off x="17360604" y="4343400"/>
            <a:ext cx="7873344" cy="0"/>
          </a:xfrm>
          <a:prstGeom prst="line">
            <a:avLst/>
          </a:prstGeom>
          <a:noFill/>
          <a:ln w="28575">
            <a:solidFill>
              <a:srgbClr val="12202E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17360604" y="4480560"/>
            <a:ext cx="7873344" cy="442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2. </a:t>
            </a:r>
            <a:pPr indent="0" marL="0">
              <a:buNone/>
            </a:pPr>
            <a:r>
              <a:rPr lang="en-US" sz="130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reported for the MSK-CHORD flow model versus those measured in the replicate (L2 logistic regression, 3 × 5-fold CV; 95% CI). n.r., not reported.</a:t>
            </a:r>
            <a:endParaRPr lang="en-US" sz="13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7360604" y="5033010"/>
          <a:ext cx="7873344" cy="914400"/>
        </p:xfrm>
        <a:graphic>
          <a:graphicData uri="http://schemas.openxmlformats.org/drawingml/2006/table">
            <a:tbl>
              <a:tblPr/>
              <a:tblGrid>
                <a:gridCol w="3464271"/>
                <a:gridCol w="1574669"/>
                <a:gridCol w="2834404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 (EBAI)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MSK-CHORD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Replicate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Pooled AUROC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0.77–0.79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0.778 (0.754–0.796)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Per-gene AUROC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i="1" dirty="0">
                          <a:solidFill>
                            <a:srgbClr val="3F4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n.r.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0.728 (0.705–0.753)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AUPRC (chance ≈ 0.011)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i="1" dirty="0">
                          <a:solidFill>
                            <a:srgbClr val="3F4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n.r.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Calibration slope · O:E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i="1" dirty="0">
                          <a:solidFill>
                            <a:srgbClr val="3F4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n.r.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 · 1.08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Brier skill vs prevalence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i="1" dirty="0">
                          <a:solidFill>
                            <a:srgbClr val="3F4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n.r.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NPV at 90% sensitivity*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i="1" dirty="0">
                          <a:solidFill>
                            <a:srgbClr val="3F4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n.r.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 (LR− 0.22)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Joint fidelity (energy score)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i="1" dirty="0">
                          <a:solidFill>
                            <a:srgbClr val="3F4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n.r.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applicable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3" name="Shape 49"/>
          <p:cNvSpPr/>
          <p:nvPr/>
        </p:nvSpPr>
        <p:spPr>
          <a:xfrm>
            <a:off x="17360604" y="5033010"/>
            <a:ext cx="7873344" cy="0"/>
          </a:xfrm>
          <a:prstGeom prst="line">
            <a:avLst/>
          </a:prstGeom>
          <a:noFill/>
          <a:ln w="19050">
            <a:solidFill>
              <a:srgbClr val="12202E"/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17360604" y="5343906"/>
            <a:ext cx="7873344" cy="0"/>
          </a:xfrm>
          <a:prstGeom prst="line">
            <a:avLst/>
          </a:prstGeom>
          <a:noFill/>
          <a:ln w="15875">
            <a:solidFill>
              <a:srgbClr val="12202E"/>
            </a:solidFill>
            <a:prstDash val="solid"/>
          </a:ln>
        </p:spPr>
      </p:sp>
      <p:sp>
        <p:nvSpPr>
          <p:cNvPr id="55" name="Shape 51"/>
          <p:cNvSpPr/>
          <p:nvPr/>
        </p:nvSpPr>
        <p:spPr>
          <a:xfrm>
            <a:off x="17360604" y="7520178"/>
            <a:ext cx="7873344" cy="0"/>
          </a:xfrm>
          <a:prstGeom prst="line">
            <a:avLst/>
          </a:prstGeom>
          <a:noFill/>
          <a:ln w="19050">
            <a:solidFill>
              <a:srgbClr val="12202E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17360604" y="7611618"/>
            <a:ext cx="7873344" cy="2396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</a:t>
            </a:r>
            <a:pPr indent="0" marL="0">
              <a:buNone/>
            </a:pPr>
            <a:r>
              <a:rPr lang="en-US" sz="130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level: ≥1 altered target gene (prevalence 43%).</a:t>
            </a:r>
            <a:endParaRPr lang="en-US" sz="1300" dirty="0"/>
          </a:p>
        </p:txBody>
      </p:sp>
      <p:sp>
        <p:nvSpPr>
          <p:cNvPr id="57" name="Text 53"/>
          <p:cNvSpPr txBox="1"/>
          <p:nvPr/>
        </p:nvSpPr>
        <p:spPr>
          <a:xfrm>
            <a:off x="17360604" y="8198739"/>
            <a:ext cx="7873344" cy="1005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 Benchmark on public data. 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Pooled AUROC compares pairs across genes, so ranking genes by training frequency alone scores 0.715. Per gene, a 7-feature model matches 1,026-feature logistic regression (0.760 vs 0.728), and pan-cancer training adds +0.039 (95% CI 0.024–0.057; Figure 3).</a:t>
            </a:r>
            <a:endParaRPr lang="en-US" sz="1550" dirty="0"/>
          </a:p>
        </p:txBody>
      </p:sp>
      <p:sp>
        <p:nvSpPr>
          <p:cNvPr id="58" name="Shape 54"/>
          <p:cNvSpPr/>
          <p:nvPr/>
        </p:nvSpPr>
        <p:spPr>
          <a:xfrm>
            <a:off x="17360604" y="9487281"/>
            <a:ext cx="146304" cy="146304"/>
          </a:xfrm>
          <a:prstGeom prst="ellipse">
            <a:avLst/>
          </a:prstGeom>
          <a:solidFill>
            <a:srgbClr val="2A6FD6"/>
          </a:solidFill>
          <a:ln/>
        </p:spPr>
      </p:sp>
      <p:sp>
        <p:nvSpPr>
          <p:cNvPr id="59" name="Text 55"/>
          <p:cNvSpPr txBox="1"/>
          <p:nvPr/>
        </p:nvSpPr>
        <p:spPr>
          <a:xfrm>
            <a:off x="17580060" y="9432417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Pooled AUROC</a:t>
            </a:r>
            <a:endParaRPr lang="en-US" sz="1300" dirty="0"/>
          </a:p>
        </p:txBody>
      </p:sp>
      <p:sp>
        <p:nvSpPr>
          <p:cNvPr id="60" name="Shape 56"/>
          <p:cNvSpPr/>
          <p:nvPr/>
        </p:nvSpPr>
        <p:spPr>
          <a:xfrm>
            <a:off x="19646604" y="9496425"/>
            <a:ext cx="128016" cy="128016"/>
          </a:xfrm>
          <a:prstGeom prst="rect">
            <a:avLst/>
          </a:prstGeom>
          <a:solidFill>
            <a:srgbClr val="C4501B"/>
          </a:solidFill>
          <a:ln/>
        </p:spPr>
      </p:sp>
      <p:sp>
        <p:nvSpPr>
          <p:cNvPr id="61" name="Text 57"/>
          <p:cNvSpPr txBox="1"/>
          <p:nvPr/>
        </p:nvSpPr>
        <p:spPr>
          <a:xfrm>
            <a:off x="19847772" y="9432417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Per-gene AUROC</a:t>
            </a:r>
            <a:endParaRPr lang="en-US" sz="1300" dirty="0"/>
          </a:p>
        </p:txBody>
      </p:sp>
      <p:sp>
        <p:nvSpPr>
          <p:cNvPr id="62" name="Text 58"/>
          <p:cNvSpPr txBox="1"/>
          <p:nvPr/>
        </p:nvSpPr>
        <p:spPr>
          <a:xfrm>
            <a:off x="22024044" y="9432417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lines: 95% CI</a:t>
            </a:r>
            <a:endParaRPr lang="en-US" sz="1300" dirty="0"/>
          </a:p>
        </p:txBody>
      </p:sp>
      <p:sp>
        <p:nvSpPr>
          <p:cNvPr id="63" name="Text 59"/>
          <p:cNvSpPr txBox="1"/>
          <p:nvPr/>
        </p:nvSpPr>
        <p:spPr>
          <a:xfrm>
            <a:off x="17360604" y="9843897"/>
            <a:ext cx="2240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Prevalence only</a:t>
            </a:r>
            <a:endParaRPr lang="en-US" sz="1500" dirty="0"/>
          </a:p>
        </p:txBody>
      </p:sp>
      <p:sp>
        <p:nvSpPr>
          <p:cNvPr id="64" name="Shape 60"/>
          <p:cNvSpPr/>
          <p:nvPr/>
        </p:nvSpPr>
        <p:spPr>
          <a:xfrm>
            <a:off x="22544246" y="9981057"/>
            <a:ext cx="537377" cy="0"/>
          </a:xfrm>
          <a:prstGeom prst="line">
            <a:avLst/>
          </a:prstGeom>
          <a:noFill/>
          <a:ln w="25400">
            <a:solidFill>
              <a:srgbClr val="2A6FD6"/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>
            <a:off x="22759637" y="9903333"/>
            <a:ext cx="155448" cy="155448"/>
          </a:xfrm>
          <a:prstGeom prst="ellipse">
            <a:avLst/>
          </a:prstGeom>
          <a:solidFill>
            <a:srgbClr val="2A6FD6"/>
          </a:solidFill>
          <a:ln/>
        </p:spPr>
      </p:sp>
      <p:sp>
        <p:nvSpPr>
          <p:cNvPr id="66" name="Text 62"/>
          <p:cNvSpPr txBox="1"/>
          <p:nvPr/>
        </p:nvSpPr>
        <p:spPr>
          <a:xfrm>
            <a:off x="23136487" y="9871329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0.715</a:t>
            </a:r>
            <a:endParaRPr lang="en-US" sz="1150" dirty="0"/>
          </a:p>
        </p:txBody>
      </p:sp>
      <p:sp>
        <p:nvSpPr>
          <p:cNvPr id="67" name="Shape 63"/>
          <p:cNvSpPr/>
          <p:nvPr/>
        </p:nvSpPr>
        <p:spPr>
          <a:xfrm>
            <a:off x="20147532" y="10118217"/>
            <a:ext cx="128016" cy="128016"/>
          </a:xfrm>
          <a:prstGeom prst="rect">
            <a:avLst/>
          </a:prstGeom>
          <a:solidFill>
            <a:srgbClr val="C4501B"/>
          </a:solidFill>
          <a:ln/>
        </p:spPr>
      </p:sp>
      <p:sp>
        <p:nvSpPr>
          <p:cNvPr id="68" name="Text 64"/>
          <p:cNvSpPr txBox="1"/>
          <p:nvPr/>
        </p:nvSpPr>
        <p:spPr>
          <a:xfrm>
            <a:off x="20330412" y="10072497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0.500</a:t>
            </a:r>
            <a:endParaRPr lang="en-US" sz="1150" dirty="0"/>
          </a:p>
        </p:txBody>
      </p:sp>
      <p:sp>
        <p:nvSpPr>
          <p:cNvPr id="69" name="Shape 65"/>
          <p:cNvSpPr/>
          <p:nvPr/>
        </p:nvSpPr>
        <p:spPr>
          <a:xfrm>
            <a:off x="17360604" y="10319385"/>
            <a:ext cx="787334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70" name="Text 66"/>
          <p:cNvSpPr txBox="1"/>
          <p:nvPr/>
        </p:nvSpPr>
        <p:spPr>
          <a:xfrm>
            <a:off x="17360604" y="10319385"/>
            <a:ext cx="2240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Burden + locus</a:t>
            </a:r>
            <a:endParaRPr lang="en-US" sz="1500" dirty="0"/>
          </a:p>
        </p:txBody>
      </p:sp>
      <p:sp>
        <p:nvSpPr>
          <p:cNvPr id="71" name="Shape 67"/>
          <p:cNvSpPr/>
          <p:nvPr/>
        </p:nvSpPr>
        <p:spPr>
          <a:xfrm>
            <a:off x="23081623" y="10456545"/>
            <a:ext cx="537377" cy="0"/>
          </a:xfrm>
          <a:prstGeom prst="line">
            <a:avLst/>
          </a:prstGeom>
          <a:noFill/>
          <a:ln w="25400">
            <a:solidFill>
              <a:srgbClr val="2A6FD6"/>
            </a:solidFill>
            <a:prstDash val="solid"/>
          </a:ln>
        </p:spPr>
      </p:sp>
      <p:sp>
        <p:nvSpPr>
          <p:cNvPr id="72" name="Shape 68"/>
          <p:cNvSpPr/>
          <p:nvPr/>
        </p:nvSpPr>
        <p:spPr>
          <a:xfrm>
            <a:off x="23309227" y="10378821"/>
            <a:ext cx="155448" cy="155448"/>
          </a:xfrm>
          <a:prstGeom prst="ellipse">
            <a:avLst/>
          </a:prstGeom>
          <a:solidFill>
            <a:srgbClr val="2A6FD6"/>
          </a:solidFill>
          <a:ln/>
        </p:spPr>
      </p:sp>
      <p:sp>
        <p:nvSpPr>
          <p:cNvPr id="73" name="Text 69"/>
          <p:cNvSpPr txBox="1"/>
          <p:nvPr/>
        </p:nvSpPr>
        <p:spPr>
          <a:xfrm>
            <a:off x="23673864" y="10346817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0.760</a:t>
            </a:r>
            <a:endParaRPr lang="en-US" sz="1150" dirty="0"/>
          </a:p>
        </p:txBody>
      </p:sp>
      <p:sp>
        <p:nvSpPr>
          <p:cNvPr id="74" name="Shape 70"/>
          <p:cNvSpPr/>
          <p:nvPr/>
        </p:nvSpPr>
        <p:spPr>
          <a:xfrm>
            <a:off x="23093836" y="10657713"/>
            <a:ext cx="598443" cy="0"/>
          </a:xfrm>
          <a:prstGeom prst="line">
            <a:avLst/>
          </a:prstGeom>
          <a:noFill/>
          <a:ln w="25400">
            <a:solidFill>
              <a:srgbClr val="C4501B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23322943" y="10593705"/>
            <a:ext cx="128016" cy="128016"/>
          </a:xfrm>
          <a:prstGeom prst="rect">
            <a:avLst/>
          </a:prstGeom>
          <a:solidFill>
            <a:srgbClr val="C4501B"/>
          </a:solidFill>
          <a:ln/>
        </p:spPr>
      </p:sp>
      <p:sp>
        <p:nvSpPr>
          <p:cNvPr id="76" name="Text 72"/>
          <p:cNvSpPr txBox="1"/>
          <p:nvPr/>
        </p:nvSpPr>
        <p:spPr>
          <a:xfrm>
            <a:off x="23747143" y="10547985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0.760</a:t>
            </a:r>
            <a:endParaRPr lang="en-US" sz="1150" dirty="0"/>
          </a:p>
        </p:txBody>
      </p:sp>
      <p:sp>
        <p:nvSpPr>
          <p:cNvPr id="77" name="Shape 73"/>
          <p:cNvSpPr/>
          <p:nvPr/>
        </p:nvSpPr>
        <p:spPr>
          <a:xfrm>
            <a:off x="17360604" y="10794873"/>
            <a:ext cx="787334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78" name="Text 74"/>
          <p:cNvSpPr txBox="1"/>
          <p:nvPr/>
        </p:nvSpPr>
        <p:spPr>
          <a:xfrm>
            <a:off x="17360604" y="10794873"/>
            <a:ext cx="2240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 logistic regression</a:t>
            </a:r>
            <a:endParaRPr lang="en-US" sz="1500" dirty="0"/>
          </a:p>
        </p:txBody>
      </p:sp>
      <p:sp>
        <p:nvSpPr>
          <p:cNvPr id="79" name="Shape 75"/>
          <p:cNvSpPr/>
          <p:nvPr/>
        </p:nvSpPr>
        <p:spPr>
          <a:xfrm>
            <a:off x="23313672" y="10932033"/>
            <a:ext cx="512951" cy="0"/>
          </a:xfrm>
          <a:prstGeom prst="line">
            <a:avLst/>
          </a:prstGeom>
          <a:noFill/>
          <a:ln w="25400">
            <a:solidFill>
              <a:srgbClr val="2A6FD6"/>
            </a:solidFill>
            <a:prstDash val="solid"/>
          </a:ln>
        </p:spPr>
      </p:sp>
      <p:sp>
        <p:nvSpPr>
          <p:cNvPr id="80" name="Shape 76"/>
          <p:cNvSpPr/>
          <p:nvPr/>
        </p:nvSpPr>
        <p:spPr>
          <a:xfrm>
            <a:off x="23529063" y="10854309"/>
            <a:ext cx="155448" cy="155448"/>
          </a:xfrm>
          <a:prstGeom prst="ellipse">
            <a:avLst/>
          </a:prstGeom>
          <a:solidFill>
            <a:srgbClr val="2A6FD6"/>
          </a:solidFill>
          <a:ln/>
        </p:spPr>
      </p:sp>
      <p:sp>
        <p:nvSpPr>
          <p:cNvPr id="81" name="Text 77"/>
          <p:cNvSpPr txBox="1"/>
          <p:nvPr/>
        </p:nvSpPr>
        <p:spPr>
          <a:xfrm>
            <a:off x="23881488" y="10822305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0.778</a:t>
            </a:r>
            <a:endParaRPr lang="en-US" sz="1150" dirty="0"/>
          </a:p>
        </p:txBody>
      </p:sp>
      <p:sp>
        <p:nvSpPr>
          <p:cNvPr id="82" name="Shape 78"/>
          <p:cNvSpPr/>
          <p:nvPr/>
        </p:nvSpPr>
        <p:spPr>
          <a:xfrm>
            <a:off x="22715230" y="11133201"/>
            <a:ext cx="586230" cy="0"/>
          </a:xfrm>
          <a:prstGeom prst="line">
            <a:avLst/>
          </a:prstGeom>
          <a:noFill/>
          <a:ln w="25400">
            <a:solidFill>
              <a:srgbClr val="C4501B"/>
            </a:solidFill>
            <a:prstDash val="solid"/>
          </a:ln>
        </p:spPr>
      </p:sp>
      <p:sp>
        <p:nvSpPr>
          <p:cNvPr id="83" name="Shape 79"/>
          <p:cNvSpPr/>
          <p:nvPr/>
        </p:nvSpPr>
        <p:spPr>
          <a:xfrm>
            <a:off x="22932123" y="11069193"/>
            <a:ext cx="128016" cy="128016"/>
          </a:xfrm>
          <a:prstGeom prst="rect">
            <a:avLst/>
          </a:prstGeom>
          <a:solidFill>
            <a:srgbClr val="C4501B"/>
          </a:solidFill>
          <a:ln/>
        </p:spPr>
      </p:sp>
      <p:sp>
        <p:nvSpPr>
          <p:cNvPr id="84" name="Text 80"/>
          <p:cNvSpPr txBox="1"/>
          <p:nvPr/>
        </p:nvSpPr>
        <p:spPr>
          <a:xfrm>
            <a:off x="23356323" y="11023473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0.728</a:t>
            </a:r>
            <a:endParaRPr lang="en-US" sz="1150" dirty="0"/>
          </a:p>
        </p:txBody>
      </p:sp>
      <p:sp>
        <p:nvSpPr>
          <p:cNvPr id="85" name="Shape 81"/>
          <p:cNvSpPr/>
          <p:nvPr/>
        </p:nvSpPr>
        <p:spPr>
          <a:xfrm>
            <a:off x="17360604" y="11270361"/>
            <a:ext cx="787334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86" name="Text 82"/>
          <p:cNvSpPr txBox="1"/>
          <p:nvPr/>
        </p:nvSpPr>
        <p:spPr>
          <a:xfrm>
            <a:off x="17360604" y="11270361"/>
            <a:ext cx="2240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Pan-cancer logistic</a:t>
            </a:r>
            <a:endParaRPr lang="en-US" sz="1500" dirty="0"/>
          </a:p>
        </p:txBody>
      </p:sp>
      <p:sp>
        <p:nvSpPr>
          <p:cNvPr id="87" name="Shape 83"/>
          <p:cNvSpPr/>
          <p:nvPr/>
        </p:nvSpPr>
        <p:spPr>
          <a:xfrm>
            <a:off x="23765558" y="11407521"/>
            <a:ext cx="464099" cy="0"/>
          </a:xfrm>
          <a:prstGeom prst="line">
            <a:avLst/>
          </a:prstGeom>
          <a:noFill/>
          <a:ln w="25400">
            <a:solidFill>
              <a:srgbClr val="2A6FD6"/>
            </a:solidFill>
            <a:prstDash val="solid"/>
          </a:ln>
        </p:spPr>
      </p:sp>
      <p:sp>
        <p:nvSpPr>
          <p:cNvPr id="88" name="Shape 84"/>
          <p:cNvSpPr/>
          <p:nvPr/>
        </p:nvSpPr>
        <p:spPr>
          <a:xfrm>
            <a:off x="23895457" y="11329797"/>
            <a:ext cx="155448" cy="155448"/>
          </a:xfrm>
          <a:prstGeom prst="ellipse">
            <a:avLst/>
          </a:prstGeom>
          <a:solidFill>
            <a:srgbClr val="2A6FD6"/>
          </a:solidFill>
          <a:ln/>
        </p:spPr>
      </p:sp>
      <p:sp>
        <p:nvSpPr>
          <p:cNvPr id="89" name="Text 85"/>
          <p:cNvSpPr txBox="1"/>
          <p:nvPr/>
        </p:nvSpPr>
        <p:spPr>
          <a:xfrm>
            <a:off x="24284520" y="11297793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0.808</a:t>
            </a:r>
            <a:endParaRPr lang="en-US" sz="1150" dirty="0"/>
          </a:p>
        </p:txBody>
      </p:sp>
      <p:sp>
        <p:nvSpPr>
          <p:cNvPr id="90" name="Shape 86"/>
          <p:cNvSpPr/>
          <p:nvPr/>
        </p:nvSpPr>
        <p:spPr>
          <a:xfrm>
            <a:off x="23154902" y="11608689"/>
            <a:ext cx="598443" cy="0"/>
          </a:xfrm>
          <a:prstGeom prst="line">
            <a:avLst/>
          </a:prstGeom>
          <a:noFill/>
          <a:ln w="25400">
            <a:solidFill>
              <a:srgbClr val="C4501B"/>
            </a:solidFill>
            <a:prstDash val="solid"/>
          </a:ln>
        </p:spPr>
      </p:sp>
      <p:sp>
        <p:nvSpPr>
          <p:cNvPr id="91" name="Shape 87"/>
          <p:cNvSpPr/>
          <p:nvPr/>
        </p:nvSpPr>
        <p:spPr>
          <a:xfrm>
            <a:off x="23408435" y="11544681"/>
            <a:ext cx="128016" cy="128016"/>
          </a:xfrm>
          <a:prstGeom prst="rect">
            <a:avLst/>
          </a:prstGeom>
          <a:solidFill>
            <a:srgbClr val="C4501B"/>
          </a:solidFill>
          <a:ln/>
        </p:spPr>
      </p:sp>
      <p:sp>
        <p:nvSpPr>
          <p:cNvPr id="92" name="Text 88"/>
          <p:cNvSpPr txBox="1"/>
          <p:nvPr/>
        </p:nvSpPr>
        <p:spPr>
          <a:xfrm>
            <a:off x="23808209" y="11498961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0.767</a:t>
            </a:r>
            <a:endParaRPr lang="en-US" sz="1150" dirty="0"/>
          </a:p>
        </p:txBody>
      </p:sp>
      <p:sp>
        <p:nvSpPr>
          <p:cNvPr id="93" name="Shape 89"/>
          <p:cNvSpPr/>
          <p:nvPr/>
        </p:nvSpPr>
        <p:spPr>
          <a:xfrm>
            <a:off x="17360604" y="11745849"/>
            <a:ext cx="787334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94" name="Shape 90"/>
          <p:cNvSpPr/>
          <p:nvPr/>
        </p:nvSpPr>
        <p:spPr>
          <a:xfrm>
            <a:off x="20211540" y="9843897"/>
            <a:ext cx="0" cy="1901952"/>
          </a:xfrm>
          <a:prstGeom prst="line">
            <a:avLst/>
          </a:prstGeom>
          <a:noFill/>
          <a:ln w="9525">
            <a:solidFill>
              <a:srgbClr val="E0E4E8"/>
            </a:solidFill>
            <a:prstDash val="dash"/>
          </a:ln>
        </p:spPr>
      </p:sp>
      <p:sp>
        <p:nvSpPr>
          <p:cNvPr id="95" name="Text 91"/>
          <p:cNvSpPr txBox="1"/>
          <p:nvPr/>
        </p:nvSpPr>
        <p:spPr>
          <a:xfrm>
            <a:off x="19937220" y="11791569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0.50</a:t>
            </a:r>
            <a:endParaRPr lang="en-US" sz="1150" dirty="0"/>
          </a:p>
        </p:txBody>
      </p:sp>
      <p:sp>
        <p:nvSpPr>
          <p:cNvPr id="96" name="Shape 92"/>
          <p:cNvSpPr/>
          <p:nvPr/>
        </p:nvSpPr>
        <p:spPr>
          <a:xfrm>
            <a:off x="21432852" y="9843897"/>
            <a:ext cx="0" cy="1901952"/>
          </a:xfrm>
          <a:prstGeom prst="line">
            <a:avLst/>
          </a:prstGeom>
          <a:noFill/>
          <a:ln w="9525">
            <a:solidFill>
              <a:srgbClr val="E0E4E8"/>
            </a:solidFill>
            <a:prstDash val="dash"/>
          </a:ln>
        </p:spPr>
      </p:sp>
      <p:sp>
        <p:nvSpPr>
          <p:cNvPr id="97" name="Text 93"/>
          <p:cNvSpPr txBox="1"/>
          <p:nvPr/>
        </p:nvSpPr>
        <p:spPr>
          <a:xfrm>
            <a:off x="21158532" y="11791569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0.60</a:t>
            </a:r>
            <a:endParaRPr lang="en-US" sz="1150" dirty="0"/>
          </a:p>
        </p:txBody>
      </p:sp>
      <p:sp>
        <p:nvSpPr>
          <p:cNvPr id="98" name="Shape 94"/>
          <p:cNvSpPr/>
          <p:nvPr/>
        </p:nvSpPr>
        <p:spPr>
          <a:xfrm>
            <a:off x="22654164" y="9843897"/>
            <a:ext cx="0" cy="1901952"/>
          </a:xfrm>
          <a:prstGeom prst="line">
            <a:avLst/>
          </a:prstGeom>
          <a:noFill/>
          <a:ln w="9525">
            <a:solidFill>
              <a:srgbClr val="E0E4E8"/>
            </a:solidFill>
            <a:prstDash val="dash"/>
          </a:ln>
        </p:spPr>
      </p:sp>
      <p:sp>
        <p:nvSpPr>
          <p:cNvPr id="99" name="Text 95"/>
          <p:cNvSpPr txBox="1"/>
          <p:nvPr/>
        </p:nvSpPr>
        <p:spPr>
          <a:xfrm>
            <a:off x="22379844" y="11791569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0.70</a:t>
            </a:r>
            <a:endParaRPr lang="en-US" sz="1150" dirty="0"/>
          </a:p>
        </p:txBody>
      </p:sp>
      <p:sp>
        <p:nvSpPr>
          <p:cNvPr id="100" name="Shape 96"/>
          <p:cNvSpPr/>
          <p:nvPr/>
        </p:nvSpPr>
        <p:spPr>
          <a:xfrm>
            <a:off x="23875476" y="9843897"/>
            <a:ext cx="0" cy="1901952"/>
          </a:xfrm>
          <a:prstGeom prst="line">
            <a:avLst/>
          </a:prstGeom>
          <a:noFill/>
          <a:ln w="9525">
            <a:solidFill>
              <a:srgbClr val="E0E4E8"/>
            </a:solidFill>
            <a:prstDash val="dash"/>
          </a:ln>
        </p:spPr>
      </p:sp>
      <p:sp>
        <p:nvSpPr>
          <p:cNvPr id="101" name="Text 97"/>
          <p:cNvSpPr txBox="1"/>
          <p:nvPr/>
        </p:nvSpPr>
        <p:spPr>
          <a:xfrm>
            <a:off x="23601156" y="11791569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0.80</a:t>
            </a:r>
            <a:endParaRPr lang="en-US" sz="1150" dirty="0"/>
          </a:p>
        </p:txBody>
      </p:sp>
      <p:sp>
        <p:nvSpPr>
          <p:cNvPr id="102" name="Shape 98"/>
          <p:cNvSpPr/>
          <p:nvPr/>
        </p:nvSpPr>
        <p:spPr>
          <a:xfrm>
            <a:off x="25096788" y="9843897"/>
            <a:ext cx="0" cy="1901952"/>
          </a:xfrm>
          <a:prstGeom prst="line">
            <a:avLst/>
          </a:prstGeom>
          <a:noFill/>
          <a:ln w="9525">
            <a:solidFill>
              <a:srgbClr val="E0E4E8"/>
            </a:solidFill>
            <a:prstDash val="dash"/>
          </a:ln>
        </p:spPr>
      </p:sp>
      <p:sp>
        <p:nvSpPr>
          <p:cNvPr id="103" name="Text 99"/>
          <p:cNvSpPr txBox="1"/>
          <p:nvPr/>
        </p:nvSpPr>
        <p:spPr>
          <a:xfrm>
            <a:off x="24822468" y="11791569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0.90</a:t>
            </a:r>
            <a:endParaRPr lang="en-US" sz="1150" dirty="0"/>
          </a:p>
        </p:txBody>
      </p:sp>
      <p:sp>
        <p:nvSpPr>
          <p:cNvPr id="104" name="Text 100"/>
          <p:cNvSpPr txBox="1"/>
          <p:nvPr/>
        </p:nvSpPr>
        <p:spPr>
          <a:xfrm>
            <a:off x="17360604" y="12111609"/>
            <a:ext cx="7873344" cy="442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3. </a:t>
            </a:r>
            <a:pPr indent="0" marL="0">
              <a:buNone/>
            </a:pPr>
            <a:r>
              <a:rPr lang="en-US" sz="130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Replicate (n = 1,215): AUROC with patient-bootstrap 95% CI. Pan-cancer: trained on 7,773 patients with cancer type as covariate.</a:t>
            </a:r>
            <a:endParaRPr lang="en-US" sz="1300" dirty="0"/>
          </a:p>
        </p:txBody>
      </p:sp>
      <p:sp>
        <p:nvSpPr>
          <p:cNvPr id="105" name="Text 101"/>
          <p:cNvSpPr txBox="1"/>
          <p:nvPr/>
        </p:nvSpPr>
        <p:spPr>
          <a:xfrm>
            <a:off x="17360604" y="12828651"/>
            <a:ext cx="7873344" cy="14893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 Simulated versus real input. 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167 patients sequenced on both panels, taking the input from the separate IMPACT341 assay instead of masking the IMPACT410 sample lowered pooled AUROC from 0.84 to 0.70 and per-gene AUROC from 0.80 to 0.61 (pan-cancer logistic regression). The paired samples also differ in specimen and time, so the gap combines assay shift and tumour heterogeneity.</a:t>
            </a:r>
            <a:endParaRPr lang="en-US" sz="1550" dirty="0"/>
          </a:p>
        </p:txBody>
      </p:sp>
      <p:sp>
        <p:nvSpPr>
          <p:cNvPr id="106" name="Text 102"/>
          <p:cNvSpPr txBox="1"/>
          <p:nvPr/>
        </p:nvSpPr>
        <p:spPr>
          <a:xfrm>
            <a:off x="17360604" y="14665452"/>
            <a:ext cx="7873344" cy="1005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 Sources of signal. 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Amplifications were highly discriminable (AUROC 0.95), explained largely by co-amplification with neighbouring assayed genes (NFKBIA with NKX2-1 in 39/39 cases). Mutations reached 0.73, no better than three mutational-burden counts alone (Figure 4).</a:t>
            </a:r>
            <a:endParaRPr lang="en-US" sz="1550" dirty="0"/>
          </a:p>
        </p:txBody>
      </p:sp>
      <p:graphicFrame>
        <p:nvGraphicFramePr>
          <p:cNvPr id="107" name="Chart 0" descr=""/>
          <p:cNvGraphicFramePr/>
          <p:nvPr/>
        </p:nvGraphicFramePr>
        <p:xfrm>
          <a:off x="17360604" y="15899130"/>
          <a:ext cx="7873344" cy="1463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8" name="Text 103"/>
          <p:cNvSpPr txBox="1"/>
          <p:nvPr/>
        </p:nvSpPr>
        <p:spPr>
          <a:xfrm>
            <a:off x="17360604" y="17435322"/>
            <a:ext cx="7873344" cy="442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4. </a:t>
            </a:r>
            <a:pPr indent="0" marL="0">
              <a:buNone/>
            </a:pPr>
            <a:r>
              <a:rPr lang="en-US" sz="130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Replicate: per-gene AUROC by event type (positives-weighted mean; axis origin 0.50), pan-cancer logistic regression.</a:t>
            </a:r>
            <a:endParaRPr lang="en-US" sz="1300" dirty="0"/>
          </a:p>
        </p:txBody>
      </p:sp>
      <p:sp>
        <p:nvSpPr>
          <p:cNvPr id="109" name="Shape 104"/>
          <p:cNvSpPr/>
          <p:nvPr/>
        </p:nvSpPr>
        <p:spPr>
          <a:xfrm>
            <a:off x="25755156" y="4343400"/>
            <a:ext cx="7873344" cy="0"/>
          </a:xfrm>
          <a:prstGeom prst="line">
            <a:avLst/>
          </a:prstGeom>
          <a:noFill/>
          <a:ln w="28575">
            <a:solidFill>
              <a:srgbClr val="12202E"/>
            </a:solidFill>
            <a:prstDash val="solid"/>
          </a:ln>
        </p:spPr>
      </p:sp>
      <p:sp>
        <p:nvSpPr>
          <p:cNvPr id="110" name="Text 105"/>
          <p:cNvSpPr txBox="1"/>
          <p:nvPr/>
        </p:nvSpPr>
        <p:spPr>
          <a:xfrm>
            <a:off x="25755156" y="4434840"/>
            <a:ext cx="78733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 EBAI assessment</a:t>
            </a:r>
            <a:endParaRPr lang="en-US" sz="3200" dirty="0"/>
          </a:p>
        </p:txBody>
      </p:sp>
      <p:sp>
        <p:nvSpPr>
          <p:cNvPr id="111" name="Shape 106"/>
          <p:cNvSpPr/>
          <p:nvPr/>
        </p:nvSpPr>
        <p:spPr>
          <a:xfrm>
            <a:off x="25755156" y="5239512"/>
            <a:ext cx="7873344" cy="402336"/>
          </a:xfrm>
          <a:prstGeom prst="rect">
            <a:avLst/>
          </a:prstGeom>
          <a:solidFill>
            <a:srgbClr val="12202E"/>
          </a:solidFill>
          <a:ln/>
        </p:spPr>
      </p:sp>
      <p:sp>
        <p:nvSpPr>
          <p:cNvPr id="112" name="Text 107"/>
          <p:cNvSpPr txBox="1"/>
          <p:nvPr/>
        </p:nvSpPr>
        <p:spPr>
          <a:xfrm>
            <a:off x="25864884" y="5239512"/>
            <a:ext cx="7653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EBAI class B · indirect measure of existing biomarkers · use: enrichment</a:t>
            </a:r>
            <a:endParaRPr lang="en-US" sz="1250" dirty="0"/>
          </a:p>
        </p:txBody>
      </p:sp>
      <p:sp>
        <p:nvSpPr>
          <p:cNvPr id="113" name="Text 108"/>
          <p:cNvSpPr txBox="1"/>
          <p:nvPr/>
        </p:nvSpPr>
        <p:spPr>
          <a:xfrm>
            <a:off x="25755156" y="5669280"/>
            <a:ext cx="132588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Essential</a:t>
            </a:r>
            <a:endParaRPr lang="en-US" sz="1150" dirty="0"/>
          </a:p>
        </p:txBody>
      </p:sp>
      <p:sp>
        <p:nvSpPr>
          <p:cNvPr id="114" name="Text 109"/>
          <p:cNvSpPr txBox="1"/>
          <p:nvPr/>
        </p:nvSpPr>
        <p:spPr>
          <a:xfrm>
            <a:off x="27081036" y="5669280"/>
            <a:ext cx="16916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Comparator</a:t>
            </a:r>
            <a:endParaRPr lang="en-US" sz="1200" dirty="0"/>
          </a:p>
        </p:txBody>
      </p:sp>
      <p:sp>
        <p:nvSpPr>
          <p:cNvPr id="115" name="Shape 110"/>
          <p:cNvSpPr/>
          <p:nvPr/>
        </p:nvSpPr>
        <p:spPr>
          <a:xfrm>
            <a:off x="28772676" y="5710428"/>
            <a:ext cx="822960" cy="205740"/>
          </a:xfrm>
          <a:prstGeom prst="roundRect">
            <a:avLst>
              <a:gd name="adj" fmla="val 17778"/>
            </a:avLst>
          </a:prstGeom>
          <a:solidFill>
            <a:srgbClr val="2A6FD6"/>
          </a:solidFill>
          <a:ln w="12700">
            <a:solidFill>
              <a:srgbClr val="2A6FD6"/>
            </a:solidFill>
            <a:prstDash val="solid"/>
          </a:ln>
        </p:spPr>
      </p:sp>
      <p:sp>
        <p:nvSpPr>
          <p:cNvPr id="116" name="Text 111"/>
          <p:cNvSpPr txBox="1"/>
          <p:nvPr/>
        </p:nvSpPr>
        <p:spPr>
          <a:xfrm>
            <a:off x="28772676" y="5710428"/>
            <a:ext cx="82296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</a:t>
            </a:r>
            <a:endParaRPr lang="en-US" sz="1050" dirty="0"/>
          </a:p>
        </p:txBody>
      </p:sp>
      <p:sp>
        <p:nvSpPr>
          <p:cNvPr id="117" name="Text 112"/>
          <p:cNvSpPr txBox="1"/>
          <p:nvPr/>
        </p:nvSpPr>
        <p:spPr>
          <a:xfrm>
            <a:off x="29687076" y="5669280"/>
            <a:ext cx="394142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IMPACT505 NGS on the same sample</a:t>
            </a:r>
            <a:endParaRPr lang="en-US" sz="1200" dirty="0"/>
          </a:p>
        </p:txBody>
      </p:sp>
      <p:sp>
        <p:nvSpPr>
          <p:cNvPr id="118" name="Shape 113"/>
          <p:cNvSpPr/>
          <p:nvPr/>
        </p:nvSpPr>
        <p:spPr>
          <a:xfrm>
            <a:off x="27081036" y="5957316"/>
            <a:ext cx="654746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119" name="Text 114"/>
          <p:cNvSpPr txBox="1"/>
          <p:nvPr/>
        </p:nvSpPr>
        <p:spPr>
          <a:xfrm>
            <a:off x="27081036" y="5957316"/>
            <a:ext cx="16916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Discrimination</a:t>
            </a:r>
            <a:endParaRPr lang="en-US" sz="1200" dirty="0"/>
          </a:p>
        </p:txBody>
      </p:sp>
      <p:sp>
        <p:nvSpPr>
          <p:cNvPr id="120" name="Shape 115"/>
          <p:cNvSpPr/>
          <p:nvPr/>
        </p:nvSpPr>
        <p:spPr>
          <a:xfrm>
            <a:off x="28772676" y="5998464"/>
            <a:ext cx="822960" cy="205740"/>
          </a:xfrm>
          <a:prstGeom prst="roundRect">
            <a:avLst>
              <a:gd name="adj" fmla="val 17778"/>
            </a:avLst>
          </a:prstGeom>
          <a:solidFill>
            <a:srgbClr val="FBE3D5"/>
          </a:solidFill>
          <a:ln w="12700">
            <a:solidFill>
              <a:srgbClr val="C4501B"/>
            </a:solidFill>
            <a:prstDash val="solid"/>
          </a:ln>
        </p:spPr>
      </p:sp>
      <p:sp>
        <p:nvSpPr>
          <p:cNvPr id="121" name="Text 116"/>
          <p:cNvSpPr txBox="1"/>
          <p:nvPr/>
        </p:nvSpPr>
        <p:spPr>
          <a:xfrm>
            <a:off x="28772676" y="5998464"/>
            <a:ext cx="82296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A2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050" dirty="0"/>
          </a:p>
        </p:txBody>
      </p:sp>
      <p:sp>
        <p:nvSpPr>
          <p:cNvPr id="122" name="Text 117"/>
          <p:cNvSpPr txBox="1"/>
          <p:nvPr/>
        </p:nvSpPr>
        <p:spPr>
          <a:xfrm>
            <a:off x="29687076" y="5957316"/>
            <a:ext cx="394142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Pooled AUROC 0.77–0.79; per gene n.r.</a:t>
            </a:r>
            <a:endParaRPr lang="en-US" sz="1200" dirty="0"/>
          </a:p>
        </p:txBody>
      </p:sp>
      <p:sp>
        <p:nvSpPr>
          <p:cNvPr id="123" name="Shape 118"/>
          <p:cNvSpPr/>
          <p:nvPr/>
        </p:nvSpPr>
        <p:spPr>
          <a:xfrm>
            <a:off x="27081036" y="6245352"/>
            <a:ext cx="654746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124" name="Text 119"/>
          <p:cNvSpPr txBox="1"/>
          <p:nvPr/>
        </p:nvSpPr>
        <p:spPr>
          <a:xfrm>
            <a:off x="27081036" y="6245352"/>
            <a:ext cx="16916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point</a:t>
            </a:r>
            <a:endParaRPr lang="en-US" sz="1200" dirty="0"/>
          </a:p>
        </p:txBody>
      </p:sp>
      <p:sp>
        <p:nvSpPr>
          <p:cNvPr id="125" name="Shape 120"/>
          <p:cNvSpPr/>
          <p:nvPr/>
        </p:nvSpPr>
        <p:spPr>
          <a:xfrm>
            <a:off x="28772676" y="6286500"/>
            <a:ext cx="822960" cy="205740"/>
          </a:xfrm>
          <a:prstGeom prst="roundRect">
            <a:avLst>
              <a:gd name="adj" fmla="val 17778"/>
            </a:avLst>
          </a:prstGeom>
          <a:solidFill>
            <a:srgbClr val="FBE3D5"/>
          </a:solidFill>
          <a:ln w="12700">
            <a:solidFill>
              <a:srgbClr val="C4501B"/>
            </a:solidFill>
            <a:prstDash val="solid"/>
          </a:ln>
        </p:spPr>
      </p:sp>
      <p:sp>
        <p:nvSpPr>
          <p:cNvPr id="126" name="Text 121"/>
          <p:cNvSpPr txBox="1"/>
          <p:nvPr/>
        </p:nvSpPr>
        <p:spPr>
          <a:xfrm>
            <a:off x="28772676" y="6286500"/>
            <a:ext cx="82296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A2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050" dirty="0"/>
          </a:p>
        </p:txBody>
      </p:sp>
      <p:sp>
        <p:nvSpPr>
          <p:cNvPr id="127" name="Text 122"/>
          <p:cNvSpPr txBox="1"/>
          <p:nvPr/>
        </p:nvSpPr>
        <p:spPr>
          <a:xfrm>
            <a:off x="29687076" y="6245352"/>
            <a:ext cx="394142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Replicate: Se 0.90, NPV 0.86, LR− 0.22</a:t>
            </a:r>
            <a:endParaRPr lang="en-US" sz="1200" dirty="0"/>
          </a:p>
        </p:txBody>
      </p:sp>
      <p:sp>
        <p:nvSpPr>
          <p:cNvPr id="128" name="Shape 123"/>
          <p:cNvSpPr/>
          <p:nvPr/>
        </p:nvSpPr>
        <p:spPr>
          <a:xfrm>
            <a:off x="27081036" y="6533388"/>
            <a:ext cx="654746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129" name="Text 124"/>
          <p:cNvSpPr txBox="1"/>
          <p:nvPr/>
        </p:nvSpPr>
        <p:spPr>
          <a:xfrm>
            <a:off x="27081036" y="6533388"/>
            <a:ext cx="16916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</a:t>
            </a:r>
            <a:endParaRPr lang="en-US" sz="1200" dirty="0"/>
          </a:p>
        </p:txBody>
      </p:sp>
      <p:sp>
        <p:nvSpPr>
          <p:cNvPr id="130" name="Shape 125"/>
          <p:cNvSpPr/>
          <p:nvPr/>
        </p:nvSpPr>
        <p:spPr>
          <a:xfrm>
            <a:off x="28772676" y="6574536"/>
            <a:ext cx="822960" cy="205740"/>
          </a:xfrm>
          <a:prstGeom prst="roundRect">
            <a:avLst>
              <a:gd name="adj" fmla="val 17778"/>
            </a:avLst>
          </a:prstGeom>
          <a:solidFill>
            <a:srgbClr val="FBE3D5"/>
          </a:solidFill>
          <a:ln w="12700">
            <a:solidFill>
              <a:srgbClr val="C4501B"/>
            </a:solidFill>
            <a:prstDash val="solid"/>
          </a:ln>
        </p:spPr>
      </p:sp>
      <p:sp>
        <p:nvSpPr>
          <p:cNvPr id="131" name="Text 126"/>
          <p:cNvSpPr txBox="1"/>
          <p:nvPr/>
        </p:nvSpPr>
        <p:spPr>
          <a:xfrm>
            <a:off x="28772676" y="6574536"/>
            <a:ext cx="82296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A2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050" dirty="0"/>
          </a:p>
        </p:txBody>
      </p:sp>
      <p:sp>
        <p:nvSpPr>
          <p:cNvPr id="132" name="Text 127"/>
          <p:cNvSpPr txBox="1"/>
          <p:nvPr/>
        </p:nvSpPr>
        <p:spPr>
          <a:xfrm>
            <a:off x="29687076" y="6533388"/>
            <a:ext cx="394142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Replicate: slope 0.97, O:E 1.08</a:t>
            </a:r>
            <a:endParaRPr lang="en-US" sz="1200" dirty="0"/>
          </a:p>
        </p:txBody>
      </p:sp>
      <p:sp>
        <p:nvSpPr>
          <p:cNvPr id="133" name="Shape 128"/>
          <p:cNvSpPr/>
          <p:nvPr/>
        </p:nvSpPr>
        <p:spPr>
          <a:xfrm>
            <a:off x="27081036" y="6821424"/>
            <a:ext cx="654746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134" name="Text 129"/>
          <p:cNvSpPr txBox="1"/>
          <p:nvPr/>
        </p:nvSpPr>
        <p:spPr>
          <a:xfrm>
            <a:off x="27081036" y="6821424"/>
            <a:ext cx="16916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Indep. cohort</a:t>
            </a:r>
            <a:endParaRPr lang="en-US" sz="1200" dirty="0"/>
          </a:p>
        </p:txBody>
      </p:sp>
      <p:sp>
        <p:nvSpPr>
          <p:cNvPr id="135" name="Shape 130"/>
          <p:cNvSpPr/>
          <p:nvPr/>
        </p:nvSpPr>
        <p:spPr>
          <a:xfrm>
            <a:off x="28772676" y="6862572"/>
            <a:ext cx="822960" cy="2057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6B7682"/>
            </a:solidFill>
            <a:prstDash val="solid"/>
          </a:ln>
        </p:spPr>
      </p:sp>
      <p:sp>
        <p:nvSpPr>
          <p:cNvPr id="136" name="Text 131"/>
          <p:cNvSpPr txBox="1"/>
          <p:nvPr/>
        </p:nvSpPr>
        <p:spPr>
          <a:xfrm>
            <a:off x="28772676" y="6862572"/>
            <a:ext cx="82296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</a:t>
            </a:r>
            <a:endParaRPr lang="en-US" sz="1050" dirty="0"/>
          </a:p>
        </p:txBody>
      </p:sp>
      <p:sp>
        <p:nvSpPr>
          <p:cNvPr id="137" name="Text 132"/>
          <p:cNvSpPr txBox="1"/>
          <p:nvPr/>
        </p:nvSpPr>
        <p:spPr>
          <a:xfrm>
            <a:off x="29687076" y="6821424"/>
            <a:ext cx="394142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institution; external cohort needed</a:t>
            </a:r>
            <a:endParaRPr lang="en-US" sz="1200" dirty="0"/>
          </a:p>
        </p:txBody>
      </p:sp>
      <p:sp>
        <p:nvSpPr>
          <p:cNvPr id="138" name="Shape 133"/>
          <p:cNvSpPr/>
          <p:nvPr/>
        </p:nvSpPr>
        <p:spPr>
          <a:xfrm>
            <a:off x="27081036" y="7109460"/>
            <a:ext cx="654746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139" name="Text 134"/>
          <p:cNvSpPr txBox="1"/>
          <p:nvPr/>
        </p:nvSpPr>
        <p:spPr>
          <a:xfrm>
            <a:off x="27081036" y="7109460"/>
            <a:ext cx="16916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Assay variation</a:t>
            </a:r>
            <a:endParaRPr lang="en-US" sz="1200" dirty="0"/>
          </a:p>
        </p:txBody>
      </p:sp>
      <p:sp>
        <p:nvSpPr>
          <p:cNvPr id="140" name="Shape 135"/>
          <p:cNvSpPr/>
          <p:nvPr/>
        </p:nvSpPr>
        <p:spPr>
          <a:xfrm>
            <a:off x="28772676" y="7150608"/>
            <a:ext cx="822960" cy="205740"/>
          </a:xfrm>
          <a:prstGeom prst="roundRect">
            <a:avLst>
              <a:gd name="adj" fmla="val 17778"/>
            </a:avLst>
          </a:prstGeom>
          <a:solidFill>
            <a:srgbClr val="FBE3D5"/>
          </a:solidFill>
          <a:ln w="12700">
            <a:solidFill>
              <a:srgbClr val="C4501B"/>
            </a:solidFill>
            <a:prstDash val="solid"/>
          </a:ln>
        </p:spPr>
      </p:sp>
      <p:sp>
        <p:nvSpPr>
          <p:cNvPr id="141" name="Text 136"/>
          <p:cNvSpPr txBox="1"/>
          <p:nvPr/>
        </p:nvSpPr>
        <p:spPr>
          <a:xfrm>
            <a:off x="28772676" y="7150608"/>
            <a:ext cx="82296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A2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050" dirty="0"/>
          </a:p>
        </p:txBody>
      </p:sp>
      <p:sp>
        <p:nvSpPr>
          <p:cNvPr id="142" name="Text 137"/>
          <p:cNvSpPr txBox="1"/>
          <p:nvPr/>
        </p:nvSpPr>
        <p:spPr>
          <a:xfrm>
            <a:off x="29687076" y="7109460"/>
            <a:ext cx="394142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IMPACT341 input: AUROC 0.84 → 0.70</a:t>
            </a:r>
            <a:endParaRPr lang="en-US" sz="1200" dirty="0"/>
          </a:p>
        </p:txBody>
      </p:sp>
      <p:sp>
        <p:nvSpPr>
          <p:cNvPr id="143" name="Shape 138"/>
          <p:cNvSpPr/>
          <p:nvPr/>
        </p:nvSpPr>
        <p:spPr>
          <a:xfrm>
            <a:off x="27081036" y="7397496"/>
            <a:ext cx="654746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144" name="Shape 139"/>
          <p:cNvSpPr/>
          <p:nvPr/>
        </p:nvSpPr>
        <p:spPr>
          <a:xfrm>
            <a:off x="25755156" y="7397496"/>
            <a:ext cx="7873344" cy="0"/>
          </a:xfrm>
          <a:prstGeom prst="line">
            <a:avLst/>
          </a:prstGeom>
          <a:noFill/>
          <a:ln w="12700">
            <a:solidFill>
              <a:srgbClr val="12202E"/>
            </a:solidFill>
            <a:prstDash val="solid"/>
          </a:ln>
        </p:spPr>
      </p:sp>
      <p:sp>
        <p:nvSpPr>
          <p:cNvPr id="145" name="Text 140"/>
          <p:cNvSpPr txBox="1"/>
          <p:nvPr/>
        </p:nvSpPr>
        <p:spPr>
          <a:xfrm>
            <a:off x="25755156" y="7397496"/>
            <a:ext cx="132588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</a:t>
            </a:r>
            <a:endParaRPr lang="en-US" sz="1150" dirty="0"/>
          </a:p>
        </p:txBody>
      </p:sp>
      <p:sp>
        <p:nvSpPr>
          <p:cNvPr id="146" name="Text 141"/>
          <p:cNvSpPr txBox="1"/>
          <p:nvPr/>
        </p:nvSpPr>
        <p:spPr>
          <a:xfrm>
            <a:off x="27081036" y="7397496"/>
            <a:ext cx="16916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</a:t>
            </a:r>
            <a:endParaRPr lang="en-US" sz="1200" dirty="0"/>
          </a:p>
        </p:txBody>
      </p:sp>
      <p:sp>
        <p:nvSpPr>
          <p:cNvPr id="147" name="Shape 142"/>
          <p:cNvSpPr/>
          <p:nvPr/>
        </p:nvSpPr>
        <p:spPr>
          <a:xfrm>
            <a:off x="28772676" y="7438644"/>
            <a:ext cx="822960" cy="2057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6B7682"/>
            </a:solidFill>
            <a:prstDash val="solid"/>
          </a:ln>
        </p:spPr>
      </p:sp>
      <p:sp>
        <p:nvSpPr>
          <p:cNvPr id="148" name="Text 143"/>
          <p:cNvSpPr txBox="1"/>
          <p:nvPr/>
        </p:nvSpPr>
        <p:spPr>
          <a:xfrm>
            <a:off x="28772676" y="7438644"/>
            <a:ext cx="82296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</a:t>
            </a:r>
            <a:endParaRPr lang="en-US" sz="1050" dirty="0"/>
          </a:p>
        </p:txBody>
      </p:sp>
      <p:sp>
        <p:nvSpPr>
          <p:cNvPr id="149" name="Text 144"/>
          <p:cNvSpPr txBox="1"/>
          <p:nvPr/>
        </p:nvSpPr>
        <p:spPr>
          <a:xfrm>
            <a:off x="29687076" y="7397496"/>
            <a:ext cx="394142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Sex, ancestry, smoking, histology</a:t>
            </a:r>
            <a:endParaRPr lang="en-US" sz="1200" dirty="0"/>
          </a:p>
        </p:txBody>
      </p:sp>
      <p:sp>
        <p:nvSpPr>
          <p:cNvPr id="150" name="Shape 145"/>
          <p:cNvSpPr/>
          <p:nvPr/>
        </p:nvSpPr>
        <p:spPr>
          <a:xfrm>
            <a:off x="27081036" y="7685532"/>
            <a:ext cx="654746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151" name="Text 146"/>
          <p:cNvSpPr txBox="1"/>
          <p:nvPr/>
        </p:nvSpPr>
        <p:spPr>
          <a:xfrm>
            <a:off x="27081036" y="7685532"/>
            <a:ext cx="16916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</a:t>
            </a:r>
            <a:endParaRPr lang="en-US" sz="1200" dirty="0"/>
          </a:p>
        </p:txBody>
      </p:sp>
      <p:sp>
        <p:nvSpPr>
          <p:cNvPr id="152" name="Shape 147"/>
          <p:cNvSpPr/>
          <p:nvPr/>
        </p:nvSpPr>
        <p:spPr>
          <a:xfrm>
            <a:off x="28772676" y="7726680"/>
            <a:ext cx="822960" cy="205740"/>
          </a:xfrm>
          <a:prstGeom prst="roundRect">
            <a:avLst>
              <a:gd name="adj" fmla="val 17778"/>
            </a:avLst>
          </a:prstGeom>
          <a:solidFill>
            <a:srgbClr val="2A6FD6"/>
          </a:solidFill>
          <a:ln w="12700">
            <a:solidFill>
              <a:srgbClr val="2A6FD6"/>
            </a:solidFill>
            <a:prstDash val="solid"/>
          </a:ln>
        </p:spPr>
      </p:sp>
      <p:sp>
        <p:nvSpPr>
          <p:cNvPr id="153" name="Text 148"/>
          <p:cNvSpPr txBox="1"/>
          <p:nvPr/>
        </p:nvSpPr>
        <p:spPr>
          <a:xfrm>
            <a:off x="28772676" y="7726680"/>
            <a:ext cx="82296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</a:t>
            </a:r>
            <a:endParaRPr lang="en-US" sz="1050" dirty="0"/>
          </a:p>
        </p:txBody>
      </p:sp>
      <p:sp>
        <p:nvSpPr>
          <p:cNvPr id="154" name="Text 149"/>
          <p:cNvSpPr txBox="1"/>
          <p:nvPr/>
        </p:nvSpPr>
        <p:spPr>
          <a:xfrm>
            <a:off x="29687076" y="7685532"/>
            <a:ext cx="394142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Ablation: CN locus + mutational burden</a:t>
            </a:r>
            <a:endParaRPr lang="en-US" sz="1200" dirty="0"/>
          </a:p>
        </p:txBody>
      </p:sp>
      <p:sp>
        <p:nvSpPr>
          <p:cNvPr id="155" name="Shape 150"/>
          <p:cNvSpPr/>
          <p:nvPr/>
        </p:nvSpPr>
        <p:spPr>
          <a:xfrm>
            <a:off x="27081036" y="7973568"/>
            <a:ext cx="654746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156" name="Shape 151"/>
          <p:cNvSpPr/>
          <p:nvPr/>
        </p:nvSpPr>
        <p:spPr>
          <a:xfrm>
            <a:off x="25755156" y="7973568"/>
            <a:ext cx="7873344" cy="0"/>
          </a:xfrm>
          <a:prstGeom prst="line">
            <a:avLst/>
          </a:prstGeom>
          <a:noFill/>
          <a:ln w="12700">
            <a:solidFill>
              <a:srgbClr val="12202E"/>
            </a:solidFill>
            <a:prstDash val="solid"/>
          </a:ln>
        </p:spPr>
      </p:sp>
      <p:sp>
        <p:nvSpPr>
          <p:cNvPr id="157" name="Text 152"/>
          <p:cNvSpPr txBox="1"/>
          <p:nvPr/>
        </p:nvSpPr>
        <p:spPr>
          <a:xfrm>
            <a:off x="25755156" y="7973568"/>
            <a:ext cx="132588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</a:t>
            </a:r>
            <a:endParaRPr lang="en-US" sz="1150" dirty="0"/>
          </a:p>
        </p:txBody>
      </p:sp>
      <p:sp>
        <p:nvSpPr>
          <p:cNvPr id="158" name="Text 153"/>
          <p:cNvSpPr txBox="1"/>
          <p:nvPr/>
        </p:nvSpPr>
        <p:spPr>
          <a:xfrm>
            <a:off x="27081036" y="7973568"/>
            <a:ext cx="16916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1200" dirty="0"/>
          </a:p>
        </p:txBody>
      </p:sp>
      <p:sp>
        <p:nvSpPr>
          <p:cNvPr id="159" name="Shape 154"/>
          <p:cNvSpPr/>
          <p:nvPr/>
        </p:nvSpPr>
        <p:spPr>
          <a:xfrm>
            <a:off x="28772676" y="8014716"/>
            <a:ext cx="822960" cy="205740"/>
          </a:xfrm>
          <a:prstGeom prst="roundRect">
            <a:avLst>
              <a:gd name="adj" fmla="val 17778"/>
            </a:avLst>
          </a:prstGeom>
          <a:solidFill>
            <a:srgbClr val="FBE3D5"/>
          </a:solidFill>
          <a:ln w="12700">
            <a:solidFill>
              <a:srgbClr val="C4501B"/>
            </a:solidFill>
            <a:prstDash val="solid"/>
          </a:ln>
        </p:spPr>
      </p:sp>
      <p:sp>
        <p:nvSpPr>
          <p:cNvPr id="160" name="Text 155"/>
          <p:cNvSpPr txBox="1"/>
          <p:nvPr/>
        </p:nvSpPr>
        <p:spPr>
          <a:xfrm>
            <a:off x="28772676" y="8014716"/>
            <a:ext cx="82296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A2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050" dirty="0"/>
          </a:p>
        </p:txBody>
      </p:sp>
      <p:sp>
        <p:nvSpPr>
          <p:cNvPr id="161" name="Text 156"/>
          <p:cNvSpPr txBox="1"/>
          <p:nvPr/>
        </p:nvSpPr>
        <p:spPr>
          <a:xfrm>
            <a:off x="29687076" y="7973568"/>
            <a:ext cx="394142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Reuses routine panel data; not costed</a:t>
            </a:r>
            <a:endParaRPr lang="en-US" sz="1200" dirty="0"/>
          </a:p>
        </p:txBody>
      </p:sp>
      <p:sp>
        <p:nvSpPr>
          <p:cNvPr id="162" name="Shape 157"/>
          <p:cNvSpPr/>
          <p:nvPr/>
        </p:nvSpPr>
        <p:spPr>
          <a:xfrm>
            <a:off x="27081036" y="8261604"/>
            <a:ext cx="654746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163" name="Text 158"/>
          <p:cNvSpPr txBox="1"/>
          <p:nvPr/>
        </p:nvSpPr>
        <p:spPr>
          <a:xfrm>
            <a:off x="27081036" y="8261604"/>
            <a:ext cx="16916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Turnaround</a:t>
            </a:r>
            <a:endParaRPr lang="en-US" sz="1200" dirty="0"/>
          </a:p>
        </p:txBody>
      </p:sp>
      <p:sp>
        <p:nvSpPr>
          <p:cNvPr id="164" name="Shape 159"/>
          <p:cNvSpPr/>
          <p:nvPr/>
        </p:nvSpPr>
        <p:spPr>
          <a:xfrm>
            <a:off x="28772676" y="8302752"/>
            <a:ext cx="822960" cy="205740"/>
          </a:xfrm>
          <a:prstGeom prst="roundRect">
            <a:avLst>
              <a:gd name="adj" fmla="val 17778"/>
            </a:avLst>
          </a:prstGeom>
          <a:solidFill>
            <a:srgbClr val="FBE3D5"/>
          </a:solidFill>
          <a:ln w="12700">
            <a:solidFill>
              <a:srgbClr val="C4501B"/>
            </a:solidFill>
            <a:prstDash val="solid"/>
          </a:ln>
        </p:spPr>
      </p:sp>
      <p:sp>
        <p:nvSpPr>
          <p:cNvPr id="165" name="Text 160"/>
          <p:cNvSpPr txBox="1"/>
          <p:nvPr/>
        </p:nvSpPr>
        <p:spPr>
          <a:xfrm>
            <a:off x="28772676" y="8302752"/>
            <a:ext cx="82296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A2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050" dirty="0"/>
          </a:p>
        </p:txBody>
      </p:sp>
      <p:sp>
        <p:nvSpPr>
          <p:cNvPr id="166" name="Text 161"/>
          <p:cNvSpPr txBox="1"/>
          <p:nvPr/>
        </p:nvSpPr>
        <p:spPr>
          <a:xfrm>
            <a:off x="29687076" y="8261604"/>
            <a:ext cx="394142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 in seconds; workflow not timed</a:t>
            </a:r>
            <a:endParaRPr lang="en-US" sz="1200" dirty="0"/>
          </a:p>
        </p:txBody>
      </p:sp>
      <p:sp>
        <p:nvSpPr>
          <p:cNvPr id="167" name="Shape 162"/>
          <p:cNvSpPr/>
          <p:nvPr/>
        </p:nvSpPr>
        <p:spPr>
          <a:xfrm>
            <a:off x="27081036" y="8549640"/>
            <a:ext cx="654746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168" name="Shape 163"/>
          <p:cNvSpPr/>
          <p:nvPr/>
        </p:nvSpPr>
        <p:spPr>
          <a:xfrm>
            <a:off x="25755156" y="8549640"/>
            <a:ext cx="7873344" cy="0"/>
          </a:xfrm>
          <a:prstGeom prst="line">
            <a:avLst/>
          </a:prstGeom>
          <a:noFill/>
          <a:ln w="12700">
            <a:solidFill>
              <a:srgbClr val="12202E"/>
            </a:solidFill>
            <a:prstDash val="solid"/>
          </a:ln>
        </p:spPr>
      </p:sp>
      <p:sp>
        <p:nvSpPr>
          <p:cNvPr id="169" name="Text 164"/>
          <p:cNvSpPr txBox="1"/>
          <p:nvPr/>
        </p:nvSpPr>
        <p:spPr>
          <a:xfrm>
            <a:off x="25755156" y="8549640"/>
            <a:ext cx="132588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150" dirty="0"/>
          </a:p>
        </p:txBody>
      </p:sp>
      <p:sp>
        <p:nvSpPr>
          <p:cNvPr id="170" name="Text 165"/>
          <p:cNvSpPr txBox="1"/>
          <p:nvPr/>
        </p:nvSpPr>
        <p:spPr>
          <a:xfrm>
            <a:off x="27081036" y="8549640"/>
            <a:ext cx="16916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size</a:t>
            </a:r>
            <a:endParaRPr lang="en-US" sz="1200" dirty="0"/>
          </a:p>
        </p:txBody>
      </p:sp>
      <p:sp>
        <p:nvSpPr>
          <p:cNvPr id="171" name="Shape 166"/>
          <p:cNvSpPr/>
          <p:nvPr/>
        </p:nvSpPr>
        <p:spPr>
          <a:xfrm>
            <a:off x="28772676" y="8590788"/>
            <a:ext cx="822960" cy="205740"/>
          </a:xfrm>
          <a:prstGeom prst="roundRect">
            <a:avLst>
              <a:gd name="adj" fmla="val 17778"/>
            </a:avLst>
          </a:prstGeom>
          <a:solidFill>
            <a:srgbClr val="FBE3D5"/>
          </a:solidFill>
          <a:ln w="12700">
            <a:solidFill>
              <a:srgbClr val="C4501B"/>
            </a:solidFill>
            <a:prstDash val="solid"/>
          </a:ln>
        </p:spPr>
      </p:sp>
      <p:sp>
        <p:nvSpPr>
          <p:cNvPr id="172" name="Text 167"/>
          <p:cNvSpPr txBox="1"/>
          <p:nvPr/>
        </p:nvSpPr>
        <p:spPr>
          <a:xfrm>
            <a:off x="28772676" y="8590788"/>
            <a:ext cx="82296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A2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050" dirty="0"/>
          </a:p>
        </p:txBody>
      </p:sp>
      <p:sp>
        <p:nvSpPr>
          <p:cNvPr id="173" name="Text 168"/>
          <p:cNvSpPr txBox="1"/>
          <p:nvPr/>
        </p:nvSpPr>
        <p:spPr>
          <a:xfrm>
            <a:off x="29687076" y="8549640"/>
            <a:ext cx="394142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hoc: ≈ ±0.05 AUROC with 334 test patients</a:t>
            </a:r>
            <a:endParaRPr lang="en-US" sz="1200" dirty="0"/>
          </a:p>
        </p:txBody>
      </p:sp>
      <p:sp>
        <p:nvSpPr>
          <p:cNvPr id="174" name="Shape 169"/>
          <p:cNvSpPr/>
          <p:nvPr/>
        </p:nvSpPr>
        <p:spPr>
          <a:xfrm>
            <a:off x="27081036" y="8837676"/>
            <a:ext cx="654746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175" name="Text 170"/>
          <p:cNvSpPr txBox="1"/>
          <p:nvPr/>
        </p:nvSpPr>
        <p:spPr>
          <a:xfrm>
            <a:off x="27081036" y="8837676"/>
            <a:ext cx="16916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NRI / DCA</a:t>
            </a:r>
            <a:endParaRPr lang="en-US" sz="1200" dirty="0"/>
          </a:p>
        </p:txBody>
      </p:sp>
      <p:sp>
        <p:nvSpPr>
          <p:cNvPr id="176" name="Shape 171"/>
          <p:cNvSpPr/>
          <p:nvPr/>
        </p:nvSpPr>
        <p:spPr>
          <a:xfrm>
            <a:off x="28772676" y="8878824"/>
            <a:ext cx="822960" cy="2057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6B7682"/>
            </a:solidFill>
            <a:prstDash val="solid"/>
          </a:ln>
        </p:spPr>
      </p:sp>
      <p:sp>
        <p:nvSpPr>
          <p:cNvPr id="177" name="Text 172"/>
          <p:cNvSpPr txBox="1"/>
          <p:nvPr/>
        </p:nvSpPr>
        <p:spPr>
          <a:xfrm>
            <a:off x="28772676" y="8878824"/>
            <a:ext cx="82296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</a:t>
            </a:r>
            <a:endParaRPr lang="en-US" sz="1050" dirty="0"/>
          </a:p>
        </p:txBody>
      </p:sp>
      <p:sp>
        <p:nvSpPr>
          <p:cNvPr id="178" name="Text 173"/>
          <p:cNvSpPr txBox="1"/>
          <p:nvPr/>
        </p:nvSpPr>
        <p:spPr>
          <a:xfrm>
            <a:off x="29687076" y="8837676"/>
            <a:ext cx="394142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Versus burden + locus model; triage threshold</a:t>
            </a:r>
            <a:endParaRPr lang="en-US" sz="1200" dirty="0"/>
          </a:p>
        </p:txBody>
      </p:sp>
      <p:sp>
        <p:nvSpPr>
          <p:cNvPr id="179" name="Shape 174"/>
          <p:cNvSpPr/>
          <p:nvPr/>
        </p:nvSpPr>
        <p:spPr>
          <a:xfrm>
            <a:off x="27081036" y="9125712"/>
            <a:ext cx="654746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180" name="Shape 175"/>
          <p:cNvSpPr/>
          <p:nvPr/>
        </p:nvSpPr>
        <p:spPr>
          <a:xfrm>
            <a:off x="25755156" y="9125712"/>
            <a:ext cx="7873344" cy="0"/>
          </a:xfrm>
          <a:prstGeom prst="line">
            <a:avLst/>
          </a:prstGeom>
          <a:noFill/>
          <a:ln w="12700">
            <a:solidFill>
              <a:srgbClr val="12202E"/>
            </a:solidFill>
            <a:prstDash val="solid"/>
          </a:ln>
        </p:spPr>
      </p:sp>
      <p:sp>
        <p:nvSpPr>
          <p:cNvPr id="181" name="Text 176"/>
          <p:cNvSpPr txBox="1"/>
          <p:nvPr/>
        </p:nvSpPr>
        <p:spPr>
          <a:xfrm>
            <a:off x="25755156" y="9125712"/>
            <a:ext cx="132588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Post-adoption</a:t>
            </a:r>
            <a:endParaRPr lang="en-US" sz="1150" dirty="0"/>
          </a:p>
        </p:txBody>
      </p:sp>
      <p:sp>
        <p:nvSpPr>
          <p:cNvPr id="182" name="Text 177"/>
          <p:cNvSpPr txBox="1"/>
          <p:nvPr/>
        </p:nvSpPr>
        <p:spPr>
          <a:xfrm>
            <a:off x="27081036" y="9125712"/>
            <a:ext cx="16916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1200" dirty="0"/>
          </a:p>
        </p:txBody>
      </p:sp>
      <p:sp>
        <p:nvSpPr>
          <p:cNvPr id="183" name="Shape 178"/>
          <p:cNvSpPr/>
          <p:nvPr/>
        </p:nvSpPr>
        <p:spPr>
          <a:xfrm>
            <a:off x="28772676" y="9166860"/>
            <a:ext cx="822960" cy="2057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6B7682"/>
            </a:solidFill>
            <a:prstDash val="solid"/>
          </a:ln>
        </p:spPr>
      </p:sp>
      <p:sp>
        <p:nvSpPr>
          <p:cNvPr id="184" name="Text 179"/>
          <p:cNvSpPr txBox="1"/>
          <p:nvPr/>
        </p:nvSpPr>
        <p:spPr>
          <a:xfrm>
            <a:off x="28772676" y="9166860"/>
            <a:ext cx="82296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</a:t>
            </a:r>
            <a:endParaRPr lang="en-US" sz="1050" dirty="0"/>
          </a:p>
        </p:txBody>
      </p:sp>
      <p:sp>
        <p:nvSpPr>
          <p:cNvPr id="185" name="Text 180"/>
          <p:cNvSpPr txBox="1"/>
          <p:nvPr/>
        </p:nvSpPr>
        <p:spPr>
          <a:xfrm>
            <a:off x="29687076" y="9125712"/>
            <a:ext cx="394142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with panel versions and populations</a:t>
            </a:r>
            <a:endParaRPr lang="en-US" sz="1200" dirty="0"/>
          </a:p>
        </p:txBody>
      </p:sp>
      <p:sp>
        <p:nvSpPr>
          <p:cNvPr id="186" name="Shape 181"/>
          <p:cNvSpPr/>
          <p:nvPr/>
        </p:nvSpPr>
        <p:spPr>
          <a:xfrm>
            <a:off x="27081036" y="9413748"/>
            <a:ext cx="654746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187" name="Shape 182"/>
          <p:cNvSpPr/>
          <p:nvPr/>
        </p:nvSpPr>
        <p:spPr>
          <a:xfrm>
            <a:off x="25755156" y="9413748"/>
            <a:ext cx="7873344" cy="0"/>
          </a:xfrm>
          <a:prstGeom prst="line">
            <a:avLst/>
          </a:prstGeom>
          <a:noFill/>
          <a:ln w="12700">
            <a:solidFill>
              <a:srgbClr val="12202E"/>
            </a:solidFill>
            <a:prstDash val="solid"/>
          </a:ln>
        </p:spPr>
      </p:sp>
      <p:sp>
        <p:nvSpPr>
          <p:cNvPr id="188" name="Text 183"/>
          <p:cNvSpPr txBox="1"/>
          <p:nvPr/>
        </p:nvSpPr>
        <p:spPr>
          <a:xfrm>
            <a:off x="25755156" y="9505188"/>
            <a:ext cx="7873344" cy="645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5. </a:t>
            </a:r>
            <a:pPr indent="0" marL="0">
              <a:buNone/>
            </a:pPr>
            <a:r>
              <a:rPr lang="en-US" sz="130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along the seven EBAI dimensions and validation requirements for class B. Replicate values from MSK-IMPACT 2017; n.r., not reported. CN, copy number; DCA, decision-curve analysis; NRI, net reclassification improvement.</a:t>
            </a:r>
            <a:endParaRPr lang="en-US" sz="1300" dirty="0"/>
          </a:p>
        </p:txBody>
      </p:sp>
      <p:sp>
        <p:nvSpPr>
          <p:cNvPr id="189" name="Shape 184"/>
          <p:cNvSpPr/>
          <p:nvPr/>
        </p:nvSpPr>
        <p:spPr>
          <a:xfrm>
            <a:off x="25755156" y="10452735"/>
            <a:ext cx="7873344" cy="0"/>
          </a:xfrm>
          <a:prstGeom prst="line">
            <a:avLst/>
          </a:prstGeom>
          <a:noFill/>
          <a:ln w="28575">
            <a:solidFill>
              <a:srgbClr val="12202E"/>
            </a:solidFill>
            <a:prstDash val="solid"/>
          </a:ln>
        </p:spPr>
      </p:sp>
      <p:sp>
        <p:nvSpPr>
          <p:cNvPr id="190" name="Text 185"/>
          <p:cNvSpPr txBox="1"/>
          <p:nvPr/>
        </p:nvSpPr>
        <p:spPr>
          <a:xfrm>
            <a:off x="25755156" y="10544175"/>
            <a:ext cx="78733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 Limitations</a:t>
            </a:r>
            <a:endParaRPr lang="en-US" sz="3200" dirty="0"/>
          </a:p>
        </p:txBody>
      </p:sp>
      <p:sp>
        <p:nvSpPr>
          <p:cNvPr id="191" name="Text 186"/>
          <p:cNvSpPr txBox="1"/>
          <p:nvPr/>
        </p:nvSpPr>
        <p:spPr>
          <a:xfrm>
            <a:off x="25755156" y="11337874"/>
            <a:ext cx="7873344" cy="255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</a:t>
            </a:r>
            <a:endParaRPr lang="en-US" sz="1400" dirty="0"/>
          </a:p>
        </p:txBody>
      </p:sp>
      <p:sp>
        <p:nvSpPr>
          <p:cNvPr id="192" name="Text 187"/>
          <p:cNvSpPr txBox="1"/>
          <p:nvPr/>
        </p:nvSpPr>
        <p:spPr>
          <a:xfrm>
            <a:off x="25755156" y="11638864"/>
            <a:ext cx="7873344" cy="22661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Evaluation. 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15% test split; pooled AUROC without CI, per-gene AUROC, AUPRC or calibration; split stated as 75/15/15%.</a:t>
            </a:r>
            <a:endParaRPr lang="en-US" sz="15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Validity. 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masking of one IMPACT505 assay; single institution, no independent or real paired-assay cohort.</a:t>
            </a:r>
            <a:endParaRPr lang="en-US" sz="15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Scope. 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per-gene events ignore variant level (e.g. KRAS G12C) and fusions; actionable genes and subgroups not analysed.</a:t>
            </a:r>
            <a:endParaRPr lang="en-US" sz="15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claim. 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joint-fidelity metric; architecture variants unspecified.</a:t>
            </a:r>
            <a:endParaRPr lang="en-US" sz="1550" dirty="0"/>
          </a:p>
        </p:txBody>
      </p:sp>
      <p:sp>
        <p:nvSpPr>
          <p:cNvPr id="193" name="Text 188"/>
          <p:cNvSpPr txBox="1"/>
          <p:nvPr/>
        </p:nvSpPr>
        <p:spPr>
          <a:xfrm>
            <a:off x="25755156" y="14042212"/>
            <a:ext cx="7873344" cy="255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 and replicate</a:t>
            </a:r>
            <a:endParaRPr lang="en-US" sz="1400" dirty="0"/>
          </a:p>
        </p:txBody>
      </p:sp>
      <p:sp>
        <p:nvSpPr>
          <p:cNvPr id="194" name="Text 189"/>
          <p:cNvSpPr txBox="1"/>
          <p:nvPr/>
        </p:nvSpPr>
        <p:spPr>
          <a:xfrm>
            <a:off x="25755156" y="14343202"/>
            <a:ext cx="7873344" cy="1133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Replicate. 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 genes, 2014–2016 MSK data: not independent of MSK-CHORD under EBAI.</a:t>
            </a:r>
            <a:endParaRPr lang="en-US" sz="15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Models. 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point and calibration from L2 logistic regression, not the flow model; sample size post hoc.</a:t>
            </a:r>
            <a:endParaRPr lang="en-US" sz="1550" dirty="0"/>
          </a:p>
        </p:txBody>
      </p:sp>
      <p:sp>
        <p:nvSpPr>
          <p:cNvPr id="195" name="Shape 190"/>
          <p:cNvSpPr/>
          <p:nvPr/>
        </p:nvSpPr>
        <p:spPr>
          <a:xfrm>
            <a:off x="25755156" y="15640888"/>
            <a:ext cx="7873344" cy="0"/>
          </a:xfrm>
          <a:prstGeom prst="line">
            <a:avLst/>
          </a:prstGeom>
          <a:noFill/>
          <a:ln w="28575">
            <a:solidFill>
              <a:srgbClr val="12202E"/>
            </a:solidFill>
            <a:prstDash val="solid"/>
          </a:ln>
        </p:spPr>
      </p:sp>
      <p:sp>
        <p:nvSpPr>
          <p:cNvPr id="196" name="Text 191"/>
          <p:cNvSpPr txBox="1"/>
          <p:nvPr/>
        </p:nvSpPr>
        <p:spPr>
          <a:xfrm>
            <a:off x="25755156" y="15732328"/>
            <a:ext cx="78733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 Conclusions</a:t>
            </a:r>
            <a:endParaRPr lang="en-US" sz="3200" dirty="0"/>
          </a:p>
        </p:txBody>
      </p:sp>
      <p:sp>
        <p:nvSpPr>
          <p:cNvPr id="197" name="Text 192"/>
          <p:cNvSpPr txBox="1"/>
          <p:nvPr/>
        </p:nvSpPr>
        <p:spPr>
          <a:xfrm>
            <a:off x="25755156" y="16526027"/>
            <a:ext cx="7873344" cy="1699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targeted panel predicts part of the unassayed genome, mainly through copy-number co-location and mutational burden.</a:t>
            </a:r>
            <a:endParaRPr lang="en-US" sz="15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an EBAI class B biomarker its use is enrichment for confirmatory CGP, not rule-out (replicate NPV 0.86).</a:t>
            </a:r>
            <a:endParaRPr lang="en-US" sz="15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per-gene and calibration metrics, an independent multi-centre cohort and a fairness audit.</a:t>
            </a:r>
            <a:endParaRPr lang="en-US" sz="1550" dirty="0"/>
          </a:p>
        </p:txBody>
      </p:sp>
      <p:sp>
        <p:nvSpPr>
          <p:cNvPr id="198" name="Shape 193"/>
          <p:cNvSpPr/>
          <p:nvPr/>
        </p:nvSpPr>
        <p:spPr>
          <a:xfrm>
            <a:off x="571500" y="18336960"/>
            <a:ext cx="33057000" cy="0"/>
          </a:xfrm>
          <a:prstGeom prst="line">
            <a:avLst/>
          </a:prstGeom>
          <a:noFill/>
          <a:ln w="19050">
            <a:solidFill>
              <a:srgbClr val="12202E"/>
            </a:solidFill>
            <a:prstDash val="solid"/>
          </a:ln>
        </p:spPr>
      </p:sp>
      <p:sp>
        <p:nvSpPr>
          <p:cNvPr id="199" name="Text 194"/>
          <p:cNvSpPr txBox="1"/>
          <p:nvPr/>
        </p:nvSpPr>
        <p:spPr>
          <a:xfrm>
            <a:off x="571500" y="18474120"/>
            <a:ext cx="161444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C3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C3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Jee J, et al. Automated real-world data integration improves cancer outcome prediction. Nature 2024;636:728–36.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C3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Zehir A, et al. Mutational landscape of metastatic cancer revealed from prospective clinical sequencing of 10,000 patients. Nat Med 2017;23:703–13.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C3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Lipman Y, et al. Flow matching for generative modeling. ICLR 2023.   4. Collins GS, et al. TRIPOD+AI statement. BMJ 2024;385:e078378.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C3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Aldea M, et al. ESMO basic requirements for AI-based biomarkers in oncology (EBAI). Ann Oncol 2026;37:414–25.</a:t>
            </a:r>
            <a:endParaRPr lang="en-US" sz="1250" dirty="0"/>
          </a:p>
        </p:txBody>
      </p:sp>
      <p:sp>
        <p:nvSpPr>
          <p:cNvPr id="200" name="Text 195"/>
          <p:cNvSpPr txBox="1"/>
          <p:nvPr/>
        </p:nvSpPr>
        <p:spPr>
          <a:xfrm>
            <a:off x="17100000" y="18474120"/>
            <a:ext cx="807222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C3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and code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C3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MSK-CHORD and msk_impact_2017 via cBioPortal. Code and split IDs: github.com/chiaralouisa/brainmets-POP, available on request.</a:t>
            </a:r>
            <a:endParaRPr lang="en-US" sz="1250" dirty="0"/>
          </a:p>
        </p:txBody>
      </p:sp>
      <p:sp>
        <p:nvSpPr>
          <p:cNvPr id="201" name="Text 196"/>
          <p:cNvSpPr txBox="1"/>
          <p:nvPr/>
        </p:nvSpPr>
        <p:spPr>
          <a:xfrm>
            <a:off x="25556274" y="18474120"/>
            <a:ext cx="807222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C3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Disclosures · Contact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C3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authors declare no conflicts of interest.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C3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Louisa Hempel · louisa.hempel@googlemail.com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ESMO poster P305 – genomic panel completion</dc:title>
  <dc:subject>PptxGenJS Presentation</dc:subject>
  <dc:creator>PptxGenJS</dc:creator>
  <cp:lastModifiedBy>PptxGenJS</cp:lastModifiedBy>
  <cp:revision>1</cp:revision>
  <dcterms:created xsi:type="dcterms:W3CDTF">2026-10-01T14:14:00Z</dcterms:created>
  <dcterms:modified xsi:type="dcterms:W3CDTF">2026-10-01T14:14:00Z</dcterms:modified>
</cp:coreProperties>
</file>