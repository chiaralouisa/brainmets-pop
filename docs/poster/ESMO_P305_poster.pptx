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4200000" cy="19800000"/>
  <p:notesSz cx="19800000" cy="34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2A6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220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Amplifications (134 events)</c:v>
                  </c:pt>
                  <c:pt idx="1">
                    <c:v>Mutations (646 events)</c:v>
                  </c:pt>
                  <c:pt idx="2">
                    <c:v>Mutations, burden only</c:v>
                  </c:pt>
                  <c:pt idx="3">
                    <c:v>Deep deletions (18 events)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0.949</c:v>
                </c:pt>
                <c:pt idx="1">
                  <c:v>0.728</c:v>
                </c:pt>
                <c:pt idx="2">
                  <c:v>0.726</c:v>
                </c:pt>
                <c:pt idx="3">
                  <c:v>0.711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1220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2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9525" cap="flat">
              <a:solidFill>
                <a:srgbClr val="E0E4E8"/>
              </a:solidFill>
              <a:prstDash val="solid"/>
              <a:round/>
            </a:ln>
          </c:spPr>
        </c:majorGridlines>
        <c:numFmt formatCode="0.0#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B5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2A6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220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50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501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Masked panel, pooled</c:v>
                  </c:pt>
                  <c:pt idx="1">
                    <c:v>Real assay, pooled</c:v>
                  </c:pt>
                  <c:pt idx="2">
                    <c:v>Masked panel, per gene</c:v>
                  </c:pt>
                  <c:pt idx="3">
                    <c:v>Real assay, per gene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0.84</c:v>
                </c:pt>
                <c:pt idx="1">
                  <c:v>0.7</c:v>
                </c:pt>
                <c:pt idx="2">
                  <c:v>0.8</c:v>
                </c:pt>
                <c:pt idx="3">
                  <c:v>0.61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1220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2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9525" cap="flat">
              <a:solidFill>
                <a:srgbClr val="E0E4E8"/>
              </a:solidFill>
              <a:prstDash val="solid"/>
              <a:round/>
            </a:ln>
          </c:spPr>
        </c:majorGridlines>
        <c:numFmt formatCode="0.0#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B5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457200"/>
            <a:ext cx="29216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flow matching for genomic panel completion: inferring IMPACT505 alterations from the IMPACT341 targeted panel in non-small cell lung cancer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71500" y="2560320"/>
            <a:ext cx="2921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F. Capuano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3063240"/>
            <a:ext cx="2921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Department, Sigmund Freud University Vienna, Vienna, Austria   ·   </a:t>
            </a:r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Robotics Institute, University of Oxford, Oxford, United Kingdom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336660" y="457200"/>
            <a:ext cx="3291840" cy="32004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336660" y="868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0336660" y="1417320"/>
            <a:ext cx="329184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P305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571500" y="3977640"/>
            <a:ext cx="33057000" cy="0"/>
          </a:xfrm>
          <a:prstGeom prst="line">
            <a:avLst/>
          </a:prstGeom>
          <a:noFill/>
          <a:ln w="38100">
            <a:solidFill>
              <a:srgbClr val="122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Introduction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5212080"/>
            <a:ext cx="7873344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genomic profiling (CGP) underpins treatment selection in NSCLC, yet panel content varies widely across institutions and health-care systems. Smaller targeted panels reduce cost and turnaround time but leave part of the tumour genome unmeasured.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6588506"/>
            <a:ext cx="7873344" cy="87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determine whether a conditional generative model can infer alterations in genes absent from a targeted panel, and to quantify which biological signals make this possible.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571500" y="777856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1500" y="787000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Study design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571500" y="8647240"/>
            <a:ext cx="5314507" cy="566928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1500" y="8647240"/>
            <a:ext cx="53145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IMPACT341 · 341 genes (input)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886007" y="8647240"/>
            <a:ext cx="2558837" cy="566928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86007" y="8647240"/>
            <a:ext cx="25588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genes (target)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71500" y="9323896"/>
            <a:ext cx="7873344" cy="48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</a:t>
            </a:r>
            <a:pPr indent="0" marL="0">
              <a:buNone/>
            </a:pPr>
            <a:r>
              <a:rPr lang="en-US" sz="14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definition. IMPACT341 ⊂ IMPACT505; the 164 genes present only in IMPACT505 are masked from the input and predicted.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10079292"/>
            <a:ext cx="7873344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</a:t>
            </a:r>
            <a:pPr indent="0" marL="0">
              <a:buNone/>
            </a:pPr>
            <a:r>
              <a:rPr lang="en-US" sz="14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and target characteristics (MSK-CHORD).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10447846"/>
          <a:ext cx="7873344" cy="914400"/>
        </p:xfrm>
        <a:graphic>
          <a:graphicData uri="http://schemas.openxmlformats.org/drawingml/2006/table">
            <a:tbl>
              <a:tblPr/>
              <a:tblGrid>
                <a:gridCol w="4881473"/>
                <a:gridCol w="299187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Patients, NSCLC, sequenced on IMPACT505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genes (IMPACT341)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genes (IMPACT505 \ 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Altered target gene–patient pairs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 with ≥1 altered target gene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(patient level): train / val / 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/ 15 / 15% [confirm]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71500" y="10447846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71500" y="12752133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1500" y="13026454"/>
            <a:ext cx="7873344" cy="87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Alteration encoding.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binary event per gene and patient: non-synonymous mutation, amplification or deep deletion. One sample per patient; [state handling of VUS and structural variants].</a:t>
            </a:r>
            <a:endParaRPr lang="en-US" sz="1750" dirty="0"/>
          </a:p>
        </p:txBody>
      </p:sp>
      <p:sp>
        <p:nvSpPr>
          <p:cNvPr id="25" name="Shape 22"/>
          <p:cNvSpPr/>
          <p:nvPr/>
        </p:nvSpPr>
        <p:spPr>
          <a:xfrm>
            <a:off x="8966052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66052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Methods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8966052" y="5212080"/>
            <a:ext cx="7873344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Conditional flow matching.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 ∈ {0,1}</a:t>
            </a:r>
            <a:pPr indent="0" marL="0">
              <a:buNone/>
            </a:pPr>
            <a:r>
              <a:rPr lang="en-US" sz="175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denote a patient's IMPACT341 profile and x</a:t>
            </a:r>
            <a:pPr indent="0" marL="0">
              <a:buNone/>
            </a:pPr>
            <a:r>
              <a:rPr lang="en-US" sz="17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{−1,+1}</a:t>
            </a:r>
            <a:pPr indent="0" marL="0">
              <a:buNone/>
            </a:pPr>
            <a:r>
              <a:rPr lang="en-US" sz="175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target genes. A velocity field v</a:t>
            </a:r>
            <a:pPr indent="0" marL="0">
              <a:buNone/>
            </a:pPr>
            <a:r>
              <a:rPr lang="en-US" sz="17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trained along the linear path between Gaussian noise and data:</a:t>
            </a:r>
            <a:endParaRPr lang="en-US" sz="1750" dirty="0"/>
          </a:p>
        </p:txBody>
      </p:sp>
      <p:sp>
        <p:nvSpPr>
          <p:cNvPr id="28" name="Shape 25"/>
          <p:cNvSpPr/>
          <p:nvPr/>
        </p:nvSpPr>
        <p:spPr>
          <a:xfrm>
            <a:off x="8966052" y="6588506"/>
            <a:ext cx="7873344" cy="960120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966052" y="6698234"/>
            <a:ext cx="78733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t)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t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𝒩(0, I),    t ~ 𝒰(0, 1)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ℒ(θ) = 𝔼 ‖ v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t | c) − 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‖²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8966052" y="7822946"/>
            <a:ext cx="215310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2202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966052" y="7822946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 𝒩(0, I)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1119157" y="7822946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11503205" y="7822946"/>
            <a:ext cx="2799037" cy="6858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1503205" y="7822946"/>
            <a:ext cx="27990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dx/dt = v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 | c)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4302243" y="7822946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14686291" y="7822946"/>
            <a:ext cx="2153105" cy="685800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4686291" y="7822946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x̂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ℝ</a:t>
            </a:r>
            <a:pPr algn="ctr" indent="0" marL="0">
              <a:buNone/>
            </a:pPr>
            <a:r>
              <a:rPr lang="en-US" sz="140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0068320" y="8645906"/>
            <a:ext cx="5668808" cy="457200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068320" y="8645906"/>
            <a:ext cx="5668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conditioning c: observed IMPACT341 profile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966052" y="9212834"/>
            <a:ext cx="7873344" cy="48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</a:t>
            </a:r>
            <a:pPr indent="0" marL="0">
              <a:buNone/>
            </a:pPr>
            <a:r>
              <a:rPr lang="en-US" sz="14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Inference: the learned ODE transports noise to a completed 164-gene profile conditioned on the observed panel.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966052" y="9968230"/>
            <a:ext cx="7873344" cy="142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Probability read-out.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 the path is independent of x₁, so the optimal field satisfies v*(x₀, 0 | c) = 𝔼[x₁ | c] − x₀. Marginal alteration probabilities follow from a single evaluation, p̂ = ½(1 + x₀ + v_θ(x₀, 0 | c)), avoiding Monte Carlo ties at ~1% prevalence.</a:t>
            </a:r>
            <a:endParaRPr lang="en-US" sz="1750" dirty="0"/>
          </a:p>
        </p:txBody>
      </p:sp>
      <p:sp>
        <p:nvSpPr>
          <p:cNvPr id="42" name="Text 39"/>
          <p:cNvSpPr txBox="1"/>
          <p:nvPr/>
        </p:nvSpPr>
        <p:spPr>
          <a:xfrm>
            <a:off x="8966052" y="11622469"/>
            <a:ext cx="7873344" cy="198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Statistical analysis.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endpoint: AUROC on held-out patients, pooled over gene–patient pairs. Secondary: per-gene AUROC (mean over genes with ≥10 events), for which a prevalence-only predictor scores exactly 0.50. Comparators on identical splits: prevalence only; burden + locus (log mutation/CNA counts and copy-number state of the nearest assayed gene); L2-regularised logistic regression. 95% CIs by patient-level bootstrap (200 resamples).</a:t>
            </a:r>
            <a:endParaRPr lang="en-US" sz="1750" dirty="0"/>
          </a:p>
        </p:txBody>
      </p:sp>
      <p:sp>
        <p:nvSpPr>
          <p:cNvPr id="43" name="Text 40"/>
          <p:cNvSpPr txBox="1"/>
          <p:nvPr/>
        </p:nvSpPr>
        <p:spPr>
          <a:xfrm>
            <a:off x="8966052" y="13832332"/>
            <a:ext cx="7873344" cy="87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External replicate.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MSK-IMPACT 2017 (cBioPortal, ODbL): IMPACT341 → 69 IMPACT410-only genes in 1,215 NSCLC patients, 3 × 5-fold patient-level cross-validation with fold-stratified AUROC.</a:t>
            </a:r>
            <a:endParaRPr lang="en-US" sz="1750" dirty="0"/>
          </a:p>
        </p:txBody>
      </p:sp>
      <p:sp>
        <p:nvSpPr>
          <p:cNvPr id="44" name="Shape 41"/>
          <p:cNvSpPr/>
          <p:nvPr/>
        </p:nvSpPr>
        <p:spPr>
          <a:xfrm>
            <a:off x="17360604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7360604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Results</a:t>
            </a:r>
            <a:endParaRPr lang="en-US" sz="3200" dirty="0"/>
          </a:p>
        </p:txBody>
      </p:sp>
      <p:sp>
        <p:nvSpPr>
          <p:cNvPr id="46" name="Text 43"/>
          <p:cNvSpPr txBox="1"/>
          <p:nvPr/>
        </p:nvSpPr>
        <p:spPr>
          <a:xfrm>
            <a:off x="17360604" y="5212080"/>
            <a:ext cx="7873344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Primary cohort.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network architectures and training paradigms, the flow model reached a pooled AUROC of 0.77–0.79 on held-out patients, exceeding the prevalence-only baseline in all variants (Table 2).</a:t>
            </a:r>
            <a:endParaRPr lang="en-US" sz="1750" dirty="0"/>
          </a:p>
        </p:txBody>
      </p:sp>
      <p:sp>
        <p:nvSpPr>
          <p:cNvPr id="47" name="Text 44"/>
          <p:cNvSpPr txBox="1"/>
          <p:nvPr/>
        </p:nvSpPr>
        <p:spPr>
          <a:xfrm>
            <a:off x="17360604" y="6588506"/>
            <a:ext cx="7873344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</a:t>
            </a:r>
            <a:pPr indent="0" marL="0">
              <a:buNone/>
            </a:pPr>
            <a:r>
              <a:rPr lang="en-US" sz="14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 on the MSK-CHORD test set. AUROC (95% CI).</a:t>
            </a:r>
            <a:endParaRPr lang="en-US" sz="14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60604" y="6957060"/>
          <a:ext cx="7873344" cy="914400"/>
        </p:xfrm>
        <a:graphic>
          <a:graphicData uri="http://schemas.openxmlformats.org/drawingml/2006/table">
            <a:tbl>
              <a:tblPr/>
              <a:tblGrid>
                <a:gridCol w="3936672"/>
                <a:gridCol w="1968336"/>
                <a:gridCol w="1968336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gene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Prevalence 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Burden + locus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logistic regression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matching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0.77–0.79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9" name="Shape 45"/>
          <p:cNvSpPr/>
          <p:nvPr/>
        </p:nvSpPr>
        <p:spPr>
          <a:xfrm>
            <a:off x="17360604" y="6957060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7360604" y="7377684"/>
            <a:ext cx="7873344" cy="0"/>
          </a:xfrm>
          <a:prstGeom prst="line">
            <a:avLst/>
          </a:prstGeom>
          <a:noFill/>
          <a:ln w="15875">
            <a:solidFill>
              <a:srgbClr val="12202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7360604" y="9060180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7360604" y="9380220"/>
            <a:ext cx="7873344" cy="87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Benchmark on public data.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replicate, gene frequency alone yields a pooled AUROC of 0.715; per-gene AUROC isolates patient-specific information (Figure 3).</a:t>
            </a:r>
            <a:endParaRPr lang="en-US" sz="1750" dirty="0"/>
          </a:p>
        </p:txBody>
      </p:sp>
      <p:sp>
        <p:nvSpPr>
          <p:cNvPr id="53" name="Shape 49"/>
          <p:cNvSpPr/>
          <p:nvPr/>
        </p:nvSpPr>
        <p:spPr>
          <a:xfrm>
            <a:off x="17360604" y="10533698"/>
            <a:ext cx="146304" cy="146304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17580060" y="1047883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9646604" y="10542842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19847772" y="1047883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Per-gene AUROC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22024044" y="1047883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lines: 95% CI</a:t>
            </a:r>
            <a:endParaRPr lang="en-US" sz="1300" dirty="0"/>
          </a:p>
        </p:txBody>
      </p:sp>
      <p:sp>
        <p:nvSpPr>
          <p:cNvPr id="58" name="Text 54"/>
          <p:cNvSpPr txBox="1"/>
          <p:nvPr/>
        </p:nvSpPr>
        <p:spPr>
          <a:xfrm>
            <a:off x="17360604" y="10890313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only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22544246" y="11091482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2759637" y="11013757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23136487" y="1098175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0.715</a:t>
            </a:r>
            <a:endParaRPr lang="en-US" sz="1150" dirty="0"/>
          </a:p>
        </p:txBody>
      </p:sp>
      <p:sp>
        <p:nvSpPr>
          <p:cNvPr id="62" name="Shape 58"/>
          <p:cNvSpPr/>
          <p:nvPr/>
        </p:nvSpPr>
        <p:spPr>
          <a:xfrm>
            <a:off x="20147532" y="11301793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20330412" y="11256073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0.500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17360604" y="11566969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7360604" y="11566969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+ locus</a:t>
            </a:r>
            <a:endParaRPr lang="en-US" sz="1600" dirty="0"/>
          </a:p>
        </p:txBody>
      </p:sp>
      <p:sp>
        <p:nvSpPr>
          <p:cNvPr id="66" name="Shape 62"/>
          <p:cNvSpPr/>
          <p:nvPr/>
        </p:nvSpPr>
        <p:spPr>
          <a:xfrm>
            <a:off x="23081623" y="11768138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23309227" y="11690413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23673864" y="1165841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69" name="Shape 65"/>
          <p:cNvSpPr/>
          <p:nvPr/>
        </p:nvSpPr>
        <p:spPr>
          <a:xfrm>
            <a:off x="23093836" y="12042457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23322943" y="11978449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23747143" y="1193273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2" name="Shape 68"/>
          <p:cNvSpPr/>
          <p:nvPr/>
        </p:nvSpPr>
        <p:spPr>
          <a:xfrm>
            <a:off x="17360604" y="12243626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17360604" y="12243626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logistic regression</a:t>
            </a:r>
            <a:endParaRPr lang="en-US" sz="1600" dirty="0"/>
          </a:p>
        </p:txBody>
      </p:sp>
      <p:sp>
        <p:nvSpPr>
          <p:cNvPr id="74" name="Shape 70"/>
          <p:cNvSpPr/>
          <p:nvPr/>
        </p:nvSpPr>
        <p:spPr>
          <a:xfrm>
            <a:off x="23313672" y="12444794"/>
            <a:ext cx="512951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3529063" y="12367069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23881488" y="1233506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150" dirty="0"/>
          </a:p>
        </p:txBody>
      </p:sp>
      <p:sp>
        <p:nvSpPr>
          <p:cNvPr id="77" name="Shape 73"/>
          <p:cNvSpPr/>
          <p:nvPr/>
        </p:nvSpPr>
        <p:spPr>
          <a:xfrm>
            <a:off x="22715230" y="12719113"/>
            <a:ext cx="586230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2932123" y="12655105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23356323" y="1260938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0.728</a:t>
            </a:r>
            <a:endParaRPr lang="en-US" sz="1150" dirty="0"/>
          </a:p>
        </p:txBody>
      </p:sp>
      <p:sp>
        <p:nvSpPr>
          <p:cNvPr id="80" name="Shape 76"/>
          <p:cNvSpPr/>
          <p:nvPr/>
        </p:nvSpPr>
        <p:spPr>
          <a:xfrm>
            <a:off x="17360604" y="12920282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17360604" y="1292028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Pan-cancer logistic</a:t>
            </a:r>
            <a:endParaRPr lang="en-US" sz="1600" dirty="0"/>
          </a:p>
        </p:txBody>
      </p:sp>
      <p:sp>
        <p:nvSpPr>
          <p:cNvPr id="82" name="Shape 78"/>
          <p:cNvSpPr/>
          <p:nvPr/>
        </p:nvSpPr>
        <p:spPr>
          <a:xfrm>
            <a:off x="23765558" y="13121450"/>
            <a:ext cx="464099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3895457" y="13043726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4" name="Text 80"/>
          <p:cNvSpPr txBox="1"/>
          <p:nvPr/>
        </p:nvSpPr>
        <p:spPr>
          <a:xfrm>
            <a:off x="24284520" y="1301172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0.808</a:t>
            </a:r>
            <a:endParaRPr lang="en-US" sz="1150" dirty="0"/>
          </a:p>
        </p:txBody>
      </p:sp>
      <p:sp>
        <p:nvSpPr>
          <p:cNvPr id="85" name="Shape 81"/>
          <p:cNvSpPr/>
          <p:nvPr/>
        </p:nvSpPr>
        <p:spPr>
          <a:xfrm>
            <a:off x="23154902" y="13395769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3408435" y="13331761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87" name="Text 83"/>
          <p:cNvSpPr txBox="1"/>
          <p:nvPr/>
        </p:nvSpPr>
        <p:spPr>
          <a:xfrm>
            <a:off x="23808209" y="1328604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</a:t>
            </a:r>
            <a:endParaRPr lang="en-US" sz="1150" dirty="0"/>
          </a:p>
        </p:txBody>
      </p:sp>
      <p:sp>
        <p:nvSpPr>
          <p:cNvPr id="88" name="Shape 84"/>
          <p:cNvSpPr/>
          <p:nvPr/>
        </p:nvSpPr>
        <p:spPr>
          <a:xfrm>
            <a:off x="17360604" y="13596938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0211540" y="10890313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0" name="Text 86"/>
          <p:cNvSpPr txBox="1"/>
          <p:nvPr/>
        </p:nvSpPr>
        <p:spPr>
          <a:xfrm>
            <a:off x="19937220" y="1364265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150" dirty="0"/>
          </a:p>
        </p:txBody>
      </p:sp>
      <p:sp>
        <p:nvSpPr>
          <p:cNvPr id="91" name="Shape 87"/>
          <p:cNvSpPr/>
          <p:nvPr/>
        </p:nvSpPr>
        <p:spPr>
          <a:xfrm>
            <a:off x="21432852" y="10890313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2" name="Text 88"/>
          <p:cNvSpPr txBox="1"/>
          <p:nvPr/>
        </p:nvSpPr>
        <p:spPr>
          <a:xfrm>
            <a:off x="21158532" y="1364265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150" dirty="0"/>
          </a:p>
        </p:txBody>
      </p:sp>
      <p:sp>
        <p:nvSpPr>
          <p:cNvPr id="93" name="Shape 89"/>
          <p:cNvSpPr/>
          <p:nvPr/>
        </p:nvSpPr>
        <p:spPr>
          <a:xfrm>
            <a:off x="22654164" y="10890313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4" name="Text 90"/>
          <p:cNvSpPr txBox="1"/>
          <p:nvPr/>
        </p:nvSpPr>
        <p:spPr>
          <a:xfrm>
            <a:off x="22379844" y="1364265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</a:t>
            </a:r>
            <a:endParaRPr lang="en-US" sz="1150" dirty="0"/>
          </a:p>
        </p:txBody>
      </p:sp>
      <p:sp>
        <p:nvSpPr>
          <p:cNvPr id="95" name="Shape 91"/>
          <p:cNvSpPr/>
          <p:nvPr/>
        </p:nvSpPr>
        <p:spPr>
          <a:xfrm>
            <a:off x="23875476" y="10890313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6" name="Text 92"/>
          <p:cNvSpPr txBox="1"/>
          <p:nvPr/>
        </p:nvSpPr>
        <p:spPr>
          <a:xfrm>
            <a:off x="23601156" y="1364265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150" dirty="0"/>
          </a:p>
        </p:txBody>
      </p:sp>
      <p:sp>
        <p:nvSpPr>
          <p:cNvPr id="97" name="Shape 93"/>
          <p:cNvSpPr/>
          <p:nvPr/>
        </p:nvSpPr>
        <p:spPr>
          <a:xfrm>
            <a:off x="25096788" y="10890313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8" name="Text 94"/>
          <p:cNvSpPr txBox="1"/>
          <p:nvPr/>
        </p:nvSpPr>
        <p:spPr>
          <a:xfrm>
            <a:off x="24822468" y="1364265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150" dirty="0"/>
          </a:p>
        </p:txBody>
      </p:sp>
      <p:sp>
        <p:nvSpPr>
          <p:cNvPr id="99" name="Text 95"/>
          <p:cNvSpPr txBox="1"/>
          <p:nvPr/>
        </p:nvSpPr>
        <p:spPr>
          <a:xfrm>
            <a:off x="17360604" y="13962698"/>
            <a:ext cx="7873344" cy="48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</a:t>
            </a:r>
            <a:pPr indent="0" marL="0">
              <a:buNone/>
            </a:pPr>
            <a:r>
              <a:rPr lang="en-US" sz="14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(n = 1,215): AUROC with patient-bootstrap 95% CI. Pan-cancer: trained on 7,773 patients with cancer type as covariate.</a:t>
            </a:r>
            <a:endParaRPr lang="en-US" sz="1400" dirty="0"/>
          </a:p>
        </p:txBody>
      </p:sp>
      <p:sp>
        <p:nvSpPr>
          <p:cNvPr id="100" name="Shape 96"/>
          <p:cNvSpPr/>
          <p:nvPr/>
        </p:nvSpPr>
        <p:spPr>
          <a:xfrm>
            <a:off x="25755156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1" name="Text 97"/>
          <p:cNvSpPr txBox="1"/>
          <p:nvPr/>
        </p:nvSpPr>
        <p:spPr>
          <a:xfrm>
            <a:off x="25755156" y="4480560"/>
            <a:ext cx="7873344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Sources of signal.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Amplifications were recovered almost completely through co-amplification with neighbouring assayed genes (e.g. NFKBIA with NKX2-1 in 39/39 cases); mutation prediction matched a model using only three burden counts (Figure 4).</a:t>
            </a:r>
            <a:endParaRPr lang="en-US" sz="1750" dirty="0"/>
          </a:p>
        </p:txBody>
      </p:sp>
      <p:graphicFrame>
        <p:nvGraphicFramePr>
          <p:cNvPr id="102" name="Chart 0" descr=""/>
          <p:cNvGraphicFramePr/>
          <p:nvPr/>
        </p:nvGraphicFramePr>
        <p:xfrm>
          <a:off x="25755156" y="5856986"/>
          <a:ext cx="7873344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3" name="Text 98"/>
          <p:cNvSpPr txBox="1"/>
          <p:nvPr/>
        </p:nvSpPr>
        <p:spPr>
          <a:xfrm>
            <a:off x="25755156" y="8307578"/>
            <a:ext cx="7873344" cy="48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</a:t>
            </a:r>
            <a:pPr indent="0" marL="0">
              <a:buNone/>
            </a:pPr>
            <a:r>
              <a:rPr lang="en-US" sz="14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per-gene AUROC by event type (positives-weighted mean; axis origin 0.50), pan-cancer logistic regression.</a:t>
            </a:r>
            <a:endParaRPr lang="en-US" sz="1400" dirty="0"/>
          </a:p>
        </p:txBody>
      </p:sp>
      <p:sp>
        <p:nvSpPr>
          <p:cNvPr id="104" name="Text 99"/>
          <p:cNvSpPr txBox="1"/>
          <p:nvPr/>
        </p:nvSpPr>
        <p:spPr>
          <a:xfrm>
            <a:off x="25755156" y="9062974"/>
            <a:ext cx="7873344" cy="87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Simulated versus real input. </a:t>
            </a:r>
            <a:pPr indent="0" marL="0">
              <a:buNone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167 patients sequenced on both panels, input from the separate IMPACT341 assay reduced discrimination relative to the masked large panel (Figure 5).</a:t>
            </a:r>
            <a:endParaRPr lang="en-US" sz="1750" dirty="0"/>
          </a:p>
        </p:txBody>
      </p:sp>
      <p:graphicFrame>
        <p:nvGraphicFramePr>
          <p:cNvPr id="105" name="Chart 1" descr=""/>
          <p:cNvGraphicFramePr/>
          <p:nvPr/>
        </p:nvGraphicFramePr>
        <p:xfrm>
          <a:off x="25755156" y="10161588"/>
          <a:ext cx="7873344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6" name="Text 100"/>
          <p:cNvSpPr txBox="1"/>
          <p:nvPr/>
        </p:nvSpPr>
        <p:spPr>
          <a:xfrm>
            <a:off x="25755156" y="12612179"/>
            <a:ext cx="7873344" cy="481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</a:t>
            </a:r>
            <a:pPr indent="0" marL="0">
              <a:buNone/>
            </a:pPr>
            <a:r>
              <a:rPr lang="en-US" sz="14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AUROC with simulated (masked IMPACT410) versus real (IMPACT341 assay) input; axis origin 0.50.</a:t>
            </a:r>
            <a:endParaRPr lang="en-US" sz="1400" dirty="0"/>
          </a:p>
        </p:txBody>
      </p:sp>
      <p:sp>
        <p:nvSpPr>
          <p:cNvPr id="107" name="Shape 101"/>
          <p:cNvSpPr/>
          <p:nvPr/>
        </p:nvSpPr>
        <p:spPr>
          <a:xfrm>
            <a:off x="25755156" y="13367575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8" name="Text 102"/>
          <p:cNvSpPr txBox="1"/>
          <p:nvPr/>
        </p:nvSpPr>
        <p:spPr>
          <a:xfrm>
            <a:off x="25755156" y="13459015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Discussion</a:t>
            </a:r>
            <a:endParaRPr lang="en-US" sz="3200" dirty="0"/>
          </a:p>
        </p:txBody>
      </p:sp>
      <p:sp>
        <p:nvSpPr>
          <p:cNvPr id="109" name="Text 103"/>
          <p:cNvSpPr txBox="1"/>
          <p:nvPr/>
        </p:nvSpPr>
        <p:spPr>
          <a:xfrm>
            <a:off x="25755156" y="14236255"/>
            <a:ext cx="7873344" cy="2920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panel contains recoverable information on genes outside its assayed set (pooled AUROC 0.77–0.79).</a:t>
            </a:r>
            <a:endParaRPr lang="en-US" sz="17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information derives mainly from copy-number co-location and mutational burden.</a:t>
            </a:r>
            <a:endParaRPr lang="en-US" sz="17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simulated masking overestimates performance on real assays; single test split; actionable-gene subset not yet evaluated.</a:t>
            </a:r>
            <a:endParaRPr lang="en-US" sz="17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 models may prioritise patients for broad CGP; they do not replace it.</a:t>
            </a:r>
            <a:endParaRPr lang="en-US" sz="1750" dirty="0"/>
          </a:p>
        </p:txBody>
      </p:sp>
      <p:sp>
        <p:nvSpPr>
          <p:cNvPr id="110" name="Shape 104"/>
          <p:cNvSpPr/>
          <p:nvPr/>
        </p:nvSpPr>
        <p:spPr>
          <a:xfrm>
            <a:off x="571500" y="18336960"/>
            <a:ext cx="33057000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111" name="Text 105"/>
          <p:cNvSpPr txBox="1"/>
          <p:nvPr/>
        </p:nvSpPr>
        <p:spPr>
          <a:xfrm>
            <a:off x="571500" y="18474120"/>
            <a:ext cx="15380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Jee J, et al. Automated real-world data integration improves cancer outcome prediction. Nature 2024;636:728–36.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Zehir A, et al. Mutational landscape of metastatic cancer revealed from prospective clinical sequencing of 10,000 patients. Nat Med 2017;23:703–13.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Lipman Y, et al. Flow matching for generative modeling. ICLR 2023.   4. Collins GS, et al. TRIPOD+AI statement. BMJ 2024;385:e078378.</a:t>
            </a:r>
            <a:endParaRPr lang="en-US" sz="1250" dirty="0"/>
          </a:p>
        </p:txBody>
      </p:sp>
      <p:sp>
        <p:nvSpPr>
          <p:cNvPr id="112" name="Text 106"/>
          <p:cNvSpPr txBox="1"/>
          <p:nvPr/>
        </p:nvSpPr>
        <p:spPr>
          <a:xfrm>
            <a:off x="16336476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code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MSK-CHORD and msk_impact_2017 via cBioPortal. Code: </a:t>
            </a:r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[repository link]</a:t>
            </a:r>
            <a:endParaRPr lang="en-US" sz="1250" dirty="0"/>
          </a:p>
        </p:txBody>
      </p:sp>
      <p:sp>
        <p:nvSpPr>
          <p:cNvPr id="113" name="Text 107"/>
          <p:cNvSpPr txBox="1"/>
          <p:nvPr/>
        </p:nvSpPr>
        <p:spPr>
          <a:xfrm>
            <a:off x="24410988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Disclosures · Contact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[Conflict-of-interest statement]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[Corresponding author e-mail]</a:t>
            </a:r>
            <a:endParaRPr lang="en-US" sz="1250" dirty="0"/>
          </a:p>
        </p:txBody>
      </p:sp>
      <p:sp>
        <p:nvSpPr>
          <p:cNvPr id="114" name="Shape 108"/>
          <p:cNvSpPr/>
          <p:nvPr/>
        </p:nvSpPr>
        <p:spPr>
          <a:xfrm>
            <a:off x="32485500" y="18474120"/>
            <a:ext cx="1143000" cy="114300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682"/>
            </a:solidFill>
            <a:prstDash val="dash"/>
          </a:ln>
        </p:spPr>
      </p:sp>
      <p:sp>
        <p:nvSpPr>
          <p:cNvPr id="115" name="Text 109"/>
          <p:cNvSpPr txBox="1"/>
          <p:nvPr/>
        </p:nvSpPr>
        <p:spPr>
          <a:xfrm>
            <a:off x="32485500" y="184741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 code]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ESMO poster P305 – genomic panel completion</dc:title>
  <dc:subject>PptxGenJS Presentation</dc:subject>
  <dc:creator>PptxGenJS</dc:creator>
  <cp:lastModifiedBy>PptxGenJS</cp:lastModifiedBy>
  <cp:revision>1</cp:revision>
  <dcterms:created xsi:type="dcterms:W3CDTF">2026-10-01T13:24:27Z</dcterms:created>
  <dcterms:modified xsi:type="dcterms:W3CDTF">2026-10-01T13:24:27Z</dcterms:modified>
</cp:coreProperties>
</file>