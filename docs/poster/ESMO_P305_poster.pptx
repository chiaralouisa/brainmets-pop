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Introduction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underpins treatment selection in NSCLC, yet panel content varies widely across institutions and health-care systems. Smaller targeted panels reduce cost and turnaround time but leave part of the tumour genome unmeasured.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525006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the conditional distribution of alterations in genes absent from a targeted panel given the genes it measures, to benchmark it against simple statistical baselines, and to identify which signals make the missing genes predictable.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71500" y="7929372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" y="8020812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71500" y="8798052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" y="8798052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886007" y="8798052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86007" y="8798052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9474708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0214229"/>
            <a:ext cx="7873344" cy="250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3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0574846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 with ≥1 altered target gene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(patient level): train / val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 [confirm]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71500" y="10574846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71500" y="12879134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1500" y="13153454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one binary event per gene and patient (non-synonymous mutation, amplification or deep deletion; [state VUS and structural-variant handling]). Input: separate mutation, amplification and deletion indicators for the 341 assayed genes. One sample per patient. Genes not covered by a sample's panel are treated as missing, never as wild type.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8966052" y="5212080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Problem formulation.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observed IMPACT341 profile c, we learn the conditional distribution p(x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c) over the 164 target genes. Binary targets are embedded as x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6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(continuous relaxation); generated profiles are binarised by sign. Data were split by patient into 70% training, 15% validation (all model and hyper-parameter selection) and 15% test, evaluated once.</a:t>
            </a:r>
            <a:endParaRPr lang="en-US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8966052" y="7048881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Conditional flow matching.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field v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([architecture]) is regressed onto the straight-line path between Gaussian noise and data:</a:t>
            </a:r>
            <a:endParaRPr lang="en-US" sz="1650" dirty="0"/>
          </a:p>
        </p:txBody>
      </p:sp>
      <p:sp>
        <p:nvSpPr>
          <p:cNvPr id="29" name="Shape 26"/>
          <p:cNvSpPr/>
          <p:nvPr/>
        </p:nvSpPr>
        <p:spPr>
          <a:xfrm>
            <a:off x="8966052" y="8035862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966052" y="8145590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8966052" y="9270302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66052" y="9270302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1119157" y="9270302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11503205" y="9270302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1503205" y="9270302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4302243" y="9270302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14686291" y="9270302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4686291" y="9270302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068320" y="10093262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068320" y="10093262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966052" y="10660190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the learned ODE, integrated from t = 0 to 1 ([solver, N steps]), transports noise to a completed 164-gene profile conditioned on the observed panel.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8966052" y="11399711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Probability read-out.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the path is independent of x₁, so the optimal field satisfies v*(x₀, 0 | c) = 𝔼[x₁ | c] − x₀. Per-gene probabilities p̂ = ½(1 + x₀ + vθ(x₀, 0 | c)), averaged over K noise draws, equal the infinite-sample Monte Carlo estimate without its 1/S resolution limit, which at ~1% prevalence ties most pairs at 0. [state read-out used]</a:t>
            </a:r>
            <a:endParaRPr lang="en-US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3236512"/>
            <a:ext cx="7873344" cy="317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Evaluation.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Discrimination: AUROC pooled over gene–patient pairs (primary) and per gene (genes with ≥5 test events), where a prevalence-only predictor scores exactly 0.50. Class imbalance: AUPRC against the prevalence of 0.012. Calibration: slope, intercept, observed:expected (O:E) ratio and Brier skill score. Intended-use operating point (EBAI class B): sensitivity, specificity, PPV, NPV and LR± for ≥1 altered target gene. Joint fidelity, the property that justifies a generative model: energy score of sampled profiles versus independent Bernoulli draws from the same marginals. Comparators on identical splits: prevalence; burden + locus (3 burden counts and copy-number state of the nearest assayed gene); L2 logistic regression. 95% CIs and paired differences by patient-level bootstrap.</a:t>
            </a:r>
            <a:endParaRPr lang="en-US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8966052" y="16644938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External replicate.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(cBioPortal, ODbL): IMPACT341 → 69 IMPACT410-only genes in 1,215 NSCLC patients; 3 × 5-fold patient-level cross-validation, AUROC computed within folds.</a:t>
            </a:r>
            <a:endParaRPr lang="en-US" sz="1650" dirty="0"/>
          </a:p>
        </p:txBody>
      </p:sp>
      <p:sp>
        <p:nvSpPr>
          <p:cNvPr id="45" name="Shape 42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7360604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7" name="Text 44"/>
          <p:cNvSpPr txBox="1"/>
          <p:nvPr/>
        </p:nvSpPr>
        <p:spPr>
          <a:xfrm>
            <a:off x="17360604" y="5212080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architectures and training paradigms, the flow model reached a pooled test AUROC of 0.77–0.79, above the prevalence-only baseline in every variant (Table 2).</a:t>
            </a:r>
            <a:endParaRPr lang="en-US" sz="1650" dirty="0"/>
          </a:p>
        </p:txBody>
      </p:sp>
      <p:sp>
        <p:nvSpPr>
          <p:cNvPr id="48" name="Text 45"/>
          <p:cNvSpPr txBox="1"/>
          <p:nvPr/>
        </p:nvSpPr>
        <p:spPr>
          <a:xfrm>
            <a:off x="17360604" y="6263069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test set: AUROC pooled and per gene, and AUPRC (chance level = prevalence, 0.012); point estimate (95% CI).</a:t>
            </a:r>
            <a:endParaRPr lang="en-US" sz="13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6837998"/>
          <a:ext cx="7873344" cy="914400"/>
        </p:xfrm>
        <a:graphic>
          <a:graphicData uri="http://schemas.openxmlformats.org/drawingml/2006/table">
            <a:tbl>
              <a:tblPr/>
              <a:tblGrid>
                <a:gridCol w="3149338"/>
                <a:gridCol w="1574669"/>
                <a:gridCol w="1732136"/>
                <a:gridCol w="141720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gene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Prevalence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Burden + locus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logistic regression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matching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0" name="Shape 46"/>
          <p:cNvSpPr/>
          <p:nvPr/>
        </p:nvSpPr>
        <p:spPr>
          <a:xfrm>
            <a:off x="17360604" y="683799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7360604" y="7258622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7360604" y="894111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7360604" y="9169718"/>
            <a:ext cx="7873344" cy="56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joint fidelity: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skill </a:t>
            </a:r>
            <a:pPr indent="0" marL="0">
              <a:buNone/>
            </a:pPr>
            <a:r>
              <a:rPr lang="en-US" sz="16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energy score, flow samples vs independent draws </a:t>
            </a:r>
            <a:pPr indent="0" marL="0">
              <a:buNone/>
            </a:pPr>
            <a:r>
              <a:rPr lang="en-US" sz="16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vs [ ]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50" dirty="0"/>
          </a:p>
        </p:txBody>
      </p:sp>
      <p:sp>
        <p:nvSpPr>
          <p:cNvPr id="54" name="Text 50"/>
          <p:cNvSpPr txBox="1"/>
          <p:nvPr/>
        </p:nvSpPr>
        <p:spPr>
          <a:xfrm>
            <a:off x="17360604" y="10004489"/>
            <a:ext cx="7873344" cy="1346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compares pairs across genes, so ranking genes by training frequency alone scores 0.715. Per gene, a 7-feature model matches 1,026-feature logistic regression (0.760 vs 0.728), and pan-cancer training adds +0.039 (95% CI 0.024–0.057; Figure 3).</a:t>
            </a:r>
            <a:endParaRPr lang="en-US" sz="1650" dirty="0"/>
          </a:p>
        </p:txBody>
      </p:sp>
      <p:sp>
        <p:nvSpPr>
          <p:cNvPr id="55" name="Shape 51"/>
          <p:cNvSpPr/>
          <p:nvPr/>
        </p:nvSpPr>
        <p:spPr>
          <a:xfrm>
            <a:off x="17360604" y="11634216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17580060" y="115793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57" name="Shape 53"/>
          <p:cNvSpPr/>
          <p:nvPr/>
        </p:nvSpPr>
        <p:spPr>
          <a:xfrm>
            <a:off x="19646604" y="11643360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19847772" y="1157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22024044" y="1157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60" name="Text 56"/>
          <p:cNvSpPr txBox="1"/>
          <p:nvPr/>
        </p:nvSpPr>
        <p:spPr>
          <a:xfrm>
            <a:off x="17360604" y="1199083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600" dirty="0"/>
          </a:p>
        </p:txBody>
      </p:sp>
      <p:sp>
        <p:nvSpPr>
          <p:cNvPr id="61" name="Shape 57"/>
          <p:cNvSpPr/>
          <p:nvPr/>
        </p:nvSpPr>
        <p:spPr>
          <a:xfrm>
            <a:off x="22544246" y="12192000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2759637" y="12114276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23136487" y="120822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20147532" y="12402312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20330412" y="12356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6" name="Shape 62"/>
          <p:cNvSpPr/>
          <p:nvPr/>
        </p:nvSpPr>
        <p:spPr>
          <a:xfrm>
            <a:off x="17360604" y="12667488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17360604" y="1266748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600" dirty="0"/>
          </a:p>
        </p:txBody>
      </p:sp>
      <p:sp>
        <p:nvSpPr>
          <p:cNvPr id="68" name="Shape 64"/>
          <p:cNvSpPr/>
          <p:nvPr/>
        </p:nvSpPr>
        <p:spPr>
          <a:xfrm>
            <a:off x="23081623" y="12868656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23309227" y="12790932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23673864" y="127589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1" name="Shape 67"/>
          <p:cNvSpPr/>
          <p:nvPr/>
        </p:nvSpPr>
        <p:spPr>
          <a:xfrm>
            <a:off x="23093836" y="13142976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22943" y="13078968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23747143" y="130332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4" name="Shape 70"/>
          <p:cNvSpPr/>
          <p:nvPr/>
        </p:nvSpPr>
        <p:spPr>
          <a:xfrm>
            <a:off x="17360604" y="13344144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17360604" y="1334414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600" dirty="0"/>
          </a:p>
        </p:txBody>
      </p:sp>
      <p:sp>
        <p:nvSpPr>
          <p:cNvPr id="76" name="Shape 72"/>
          <p:cNvSpPr/>
          <p:nvPr/>
        </p:nvSpPr>
        <p:spPr>
          <a:xfrm>
            <a:off x="23313672" y="13545312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3529063" y="13467588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23881488" y="1343558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79" name="Shape 75"/>
          <p:cNvSpPr/>
          <p:nvPr/>
        </p:nvSpPr>
        <p:spPr>
          <a:xfrm>
            <a:off x="22715230" y="13819632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932123" y="13755624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1" name="Text 77"/>
          <p:cNvSpPr txBox="1"/>
          <p:nvPr/>
        </p:nvSpPr>
        <p:spPr>
          <a:xfrm>
            <a:off x="23356323" y="1370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2" name="Shape 78"/>
          <p:cNvSpPr/>
          <p:nvPr/>
        </p:nvSpPr>
        <p:spPr>
          <a:xfrm>
            <a:off x="17360604" y="14020800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17360604" y="1402080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600" dirty="0"/>
          </a:p>
        </p:txBody>
      </p:sp>
      <p:sp>
        <p:nvSpPr>
          <p:cNvPr id="84" name="Shape 80"/>
          <p:cNvSpPr/>
          <p:nvPr/>
        </p:nvSpPr>
        <p:spPr>
          <a:xfrm>
            <a:off x="23765558" y="14221968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23895457" y="14144244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24284520" y="1411224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87" name="Shape 83"/>
          <p:cNvSpPr/>
          <p:nvPr/>
        </p:nvSpPr>
        <p:spPr>
          <a:xfrm>
            <a:off x="23154902" y="14496288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3408435" y="14432280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23808209" y="143865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90" name="Shape 86"/>
          <p:cNvSpPr/>
          <p:nvPr/>
        </p:nvSpPr>
        <p:spPr>
          <a:xfrm>
            <a:off x="17360604" y="14697456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0211540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2" name="Text 88"/>
          <p:cNvSpPr txBox="1"/>
          <p:nvPr/>
        </p:nvSpPr>
        <p:spPr>
          <a:xfrm>
            <a:off x="19937220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3" name="Shape 89"/>
          <p:cNvSpPr/>
          <p:nvPr/>
        </p:nvSpPr>
        <p:spPr>
          <a:xfrm>
            <a:off x="21432852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4" name="Text 90"/>
          <p:cNvSpPr txBox="1"/>
          <p:nvPr/>
        </p:nvSpPr>
        <p:spPr>
          <a:xfrm>
            <a:off x="21158532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5" name="Shape 91"/>
          <p:cNvSpPr/>
          <p:nvPr/>
        </p:nvSpPr>
        <p:spPr>
          <a:xfrm>
            <a:off x="22654164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6" name="Text 92"/>
          <p:cNvSpPr txBox="1"/>
          <p:nvPr/>
        </p:nvSpPr>
        <p:spPr>
          <a:xfrm>
            <a:off x="22379844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97" name="Shape 93"/>
          <p:cNvSpPr/>
          <p:nvPr/>
        </p:nvSpPr>
        <p:spPr>
          <a:xfrm>
            <a:off x="23875476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8" name="Text 94"/>
          <p:cNvSpPr txBox="1"/>
          <p:nvPr/>
        </p:nvSpPr>
        <p:spPr>
          <a:xfrm>
            <a:off x="23601156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99" name="Shape 95"/>
          <p:cNvSpPr/>
          <p:nvPr/>
        </p:nvSpPr>
        <p:spPr>
          <a:xfrm>
            <a:off x="25096788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0" name="Text 96"/>
          <p:cNvSpPr txBox="1"/>
          <p:nvPr/>
        </p:nvSpPr>
        <p:spPr>
          <a:xfrm>
            <a:off x="24822468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101" name="Text 97"/>
          <p:cNvSpPr txBox="1"/>
          <p:nvPr/>
        </p:nvSpPr>
        <p:spPr>
          <a:xfrm>
            <a:off x="17360604" y="15063216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350" dirty="0"/>
          </a:p>
        </p:txBody>
      </p:sp>
      <p:sp>
        <p:nvSpPr>
          <p:cNvPr id="102" name="Text 98"/>
          <p:cNvSpPr txBox="1"/>
          <p:nvPr/>
        </p:nvSpPr>
        <p:spPr>
          <a:xfrm>
            <a:off x="17360604" y="15802737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Simulated versus real input.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taking the input from the separate IMPACT341 assay instead of masking the IMPACT410 sample lowered pooled AUROC from 0.84 to 0.70 and per-gene AUROC from 0.80 to 0.61 (pan-cancer logistic regression). The paired samples also differ in specimen and time, so the gap combines assay shift and tumour heterogeneity.</a:t>
            </a:r>
            <a:endParaRPr lang="en-US" sz="1650" dirty="0"/>
          </a:p>
        </p:txBody>
      </p:sp>
      <p:sp>
        <p:nvSpPr>
          <p:cNvPr id="103" name="Shape 99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25755156" y="4480560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Sources of signal.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highly discriminable (AUROC 0.95), explained largely by co-amplification with neighbouring assayed genes (NFKBIA with NKX2-1 in 39/39 cases). Mutations reached 0.73, no better than three mutational-burden counts alone (Figure 4).</a:t>
            </a:r>
            <a:endParaRPr lang="en-US" sz="1650" dirty="0"/>
          </a:p>
        </p:txBody>
      </p:sp>
      <p:graphicFrame>
        <p:nvGraphicFramePr>
          <p:cNvPr id="105" name="Chart 0" descr=""/>
          <p:cNvGraphicFramePr/>
          <p:nvPr/>
        </p:nvGraphicFramePr>
        <p:xfrm>
          <a:off x="25755156" y="5793486"/>
          <a:ext cx="7873344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6" name="Text 101"/>
          <p:cNvSpPr txBox="1"/>
          <p:nvPr/>
        </p:nvSpPr>
        <p:spPr>
          <a:xfrm>
            <a:off x="25755156" y="7924038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350" dirty="0"/>
          </a:p>
        </p:txBody>
      </p:sp>
      <p:sp>
        <p:nvSpPr>
          <p:cNvPr id="107" name="Shape 102"/>
          <p:cNvSpPr/>
          <p:nvPr/>
        </p:nvSpPr>
        <p:spPr>
          <a:xfrm>
            <a:off x="25755156" y="8663559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8" name="Text 103"/>
          <p:cNvSpPr txBox="1"/>
          <p:nvPr/>
        </p:nvSpPr>
        <p:spPr>
          <a:xfrm>
            <a:off x="25755156" y="8754999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EBAI assessment</a:t>
            </a:r>
            <a:endParaRPr lang="en-US" sz="3200" dirty="0"/>
          </a:p>
        </p:txBody>
      </p:sp>
      <p:sp>
        <p:nvSpPr>
          <p:cNvPr id="109" name="Shape 104"/>
          <p:cNvSpPr/>
          <p:nvPr/>
        </p:nvSpPr>
        <p:spPr>
          <a:xfrm>
            <a:off x="25755156" y="9532239"/>
            <a:ext cx="7873344" cy="420624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110" name="Text 105"/>
          <p:cNvSpPr txBox="1"/>
          <p:nvPr/>
        </p:nvSpPr>
        <p:spPr>
          <a:xfrm>
            <a:off x="25864884" y="9532239"/>
            <a:ext cx="7653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 · indirect measure of existing biomarkers · use: pre-screening</a:t>
            </a:r>
            <a:endParaRPr lang="en-US" sz="1300" dirty="0"/>
          </a:p>
        </p:txBody>
      </p:sp>
      <p:sp>
        <p:nvSpPr>
          <p:cNvPr id="111" name="Text 106"/>
          <p:cNvSpPr txBox="1"/>
          <p:nvPr/>
        </p:nvSpPr>
        <p:spPr>
          <a:xfrm>
            <a:off x="25755156" y="9989439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sp>
        <p:nvSpPr>
          <p:cNvPr id="112" name="Shape 107"/>
          <p:cNvSpPr/>
          <p:nvPr/>
        </p:nvSpPr>
        <p:spPr>
          <a:xfrm>
            <a:off x="27766836" y="10044303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3" name="Text 108"/>
          <p:cNvSpPr txBox="1"/>
          <p:nvPr/>
        </p:nvSpPr>
        <p:spPr>
          <a:xfrm>
            <a:off x="27766836" y="10044303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50" dirty="0"/>
          </a:p>
        </p:txBody>
      </p:sp>
      <p:sp>
        <p:nvSpPr>
          <p:cNvPr id="114" name="Text 109"/>
          <p:cNvSpPr txBox="1"/>
          <p:nvPr/>
        </p:nvSpPr>
        <p:spPr>
          <a:xfrm>
            <a:off x="28772676" y="9989439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IMPACT505 NGS on the same sample</a:t>
            </a:r>
            <a:endParaRPr lang="en-US" sz="1300" dirty="0"/>
          </a:p>
        </p:txBody>
      </p:sp>
      <p:sp>
        <p:nvSpPr>
          <p:cNvPr id="115" name="Shape 110"/>
          <p:cNvSpPr/>
          <p:nvPr/>
        </p:nvSpPr>
        <p:spPr>
          <a:xfrm>
            <a:off x="25755156" y="10327767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16" name="Text 111"/>
          <p:cNvSpPr txBox="1"/>
          <p:nvPr/>
        </p:nvSpPr>
        <p:spPr>
          <a:xfrm>
            <a:off x="25755156" y="10327767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endParaRPr lang="en-US" sz="1300" dirty="0"/>
          </a:p>
        </p:txBody>
      </p:sp>
      <p:sp>
        <p:nvSpPr>
          <p:cNvPr id="117" name="Shape 112"/>
          <p:cNvSpPr/>
          <p:nvPr/>
        </p:nvSpPr>
        <p:spPr>
          <a:xfrm>
            <a:off x="27766836" y="10382631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8" name="Text 113"/>
          <p:cNvSpPr txBox="1"/>
          <p:nvPr/>
        </p:nvSpPr>
        <p:spPr>
          <a:xfrm>
            <a:off x="27766836" y="10382631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50" dirty="0"/>
          </a:p>
        </p:txBody>
      </p:sp>
      <p:sp>
        <p:nvSpPr>
          <p:cNvPr id="119" name="Text 114"/>
          <p:cNvSpPr txBox="1"/>
          <p:nvPr/>
        </p:nvSpPr>
        <p:spPr>
          <a:xfrm>
            <a:off x="28772676" y="10327767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0.77–0.79; per gene </a:t>
            </a:r>
            <a:pPr indent="0" marL="0">
              <a:buNone/>
            </a:pPr>
            <a:r>
              <a:rPr lang="en-US" sz="13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300" dirty="0"/>
          </a:p>
        </p:txBody>
      </p:sp>
      <p:sp>
        <p:nvSpPr>
          <p:cNvPr id="120" name="Shape 115"/>
          <p:cNvSpPr/>
          <p:nvPr/>
        </p:nvSpPr>
        <p:spPr>
          <a:xfrm>
            <a:off x="25755156" y="10666095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1" name="Text 116"/>
          <p:cNvSpPr txBox="1"/>
          <p:nvPr/>
        </p:nvSpPr>
        <p:spPr>
          <a:xfrm>
            <a:off x="25755156" y="10666095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300" dirty="0"/>
          </a:p>
        </p:txBody>
      </p:sp>
      <p:sp>
        <p:nvSpPr>
          <p:cNvPr id="122" name="Shape 117"/>
          <p:cNvSpPr/>
          <p:nvPr/>
        </p:nvSpPr>
        <p:spPr>
          <a:xfrm>
            <a:off x="27766836" y="10720959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27766836" y="10720959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50" dirty="0"/>
          </a:p>
        </p:txBody>
      </p:sp>
      <p:sp>
        <p:nvSpPr>
          <p:cNvPr id="124" name="Text 119"/>
          <p:cNvSpPr txBox="1"/>
          <p:nvPr/>
        </p:nvSpPr>
        <p:spPr>
          <a:xfrm>
            <a:off x="28772676" y="10666095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Se 0.90, NPV 0.86, LR− 0.22; cohort </a:t>
            </a:r>
            <a:pPr indent="0" marL="0">
              <a:buNone/>
            </a:pPr>
            <a:r>
              <a:rPr lang="en-US" sz="13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300" dirty="0"/>
          </a:p>
        </p:txBody>
      </p:sp>
      <p:sp>
        <p:nvSpPr>
          <p:cNvPr id="125" name="Shape 120"/>
          <p:cNvSpPr/>
          <p:nvPr/>
        </p:nvSpPr>
        <p:spPr>
          <a:xfrm>
            <a:off x="25755156" y="11004423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25755156" y="11004423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127" name="Shape 122"/>
          <p:cNvSpPr/>
          <p:nvPr/>
        </p:nvSpPr>
        <p:spPr>
          <a:xfrm>
            <a:off x="27766836" y="11059287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8" name="Text 123"/>
          <p:cNvSpPr txBox="1"/>
          <p:nvPr/>
        </p:nvSpPr>
        <p:spPr>
          <a:xfrm>
            <a:off x="27766836" y="11059287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50" dirty="0"/>
          </a:p>
        </p:txBody>
      </p:sp>
      <p:sp>
        <p:nvSpPr>
          <p:cNvPr id="129" name="Text 124"/>
          <p:cNvSpPr txBox="1"/>
          <p:nvPr/>
        </p:nvSpPr>
        <p:spPr>
          <a:xfrm>
            <a:off x="28772676" y="11004423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slope 0.97, O:E 1.08; cohort </a:t>
            </a:r>
            <a:pPr indent="0" marL="0">
              <a:buNone/>
            </a:pPr>
            <a:r>
              <a:rPr lang="en-US" sz="13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300" dirty="0"/>
          </a:p>
        </p:txBody>
      </p:sp>
      <p:sp>
        <p:nvSpPr>
          <p:cNvPr id="130" name="Shape 125"/>
          <p:cNvSpPr/>
          <p:nvPr/>
        </p:nvSpPr>
        <p:spPr>
          <a:xfrm>
            <a:off x="25755156" y="11342751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25755156" y="11342751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cohort</a:t>
            </a:r>
            <a:endParaRPr lang="en-US" sz="1300" dirty="0"/>
          </a:p>
        </p:txBody>
      </p:sp>
      <p:sp>
        <p:nvSpPr>
          <p:cNvPr id="132" name="Shape 127"/>
          <p:cNvSpPr/>
          <p:nvPr/>
        </p:nvSpPr>
        <p:spPr>
          <a:xfrm>
            <a:off x="27766836" y="11397615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33" name="Text 128"/>
          <p:cNvSpPr txBox="1"/>
          <p:nvPr/>
        </p:nvSpPr>
        <p:spPr>
          <a:xfrm>
            <a:off x="27766836" y="11397615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150" dirty="0"/>
          </a:p>
        </p:txBody>
      </p:sp>
      <p:sp>
        <p:nvSpPr>
          <p:cNvPr id="134" name="Text 129"/>
          <p:cNvSpPr txBox="1"/>
          <p:nvPr/>
        </p:nvSpPr>
        <p:spPr>
          <a:xfrm>
            <a:off x="28772676" y="11342751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institution; non-MSK validation needed</a:t>
            </a:r>
            <a:endParaRPr lang="en-US" sz="1300" dirty="0"/>
          </a:p>
        </p:txBody>
      </p:sp>
      <p:sp>
        <p:nvSpPr>
          <p:cNvPr id="135" name="Shape 130"/>
          <p:cNvSpPr/>
          <p:nvPr/>
        </p:nvSpPr>
        <p:spPr>
          <a:xfrm>
            <a:off x="25755156" y="11681079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25755156" y="11681079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shift</a:t>
            </a:r>
            <a:endParaRPr lang="en-US" sz="1300" dirty="0"/>
          </a:p>
        </p:txBody>
      </p:sp>
      <p:sp>
        <p:nvSpPr>
          <p:cNvPr id="137" name="Shape 132"/>
          <p:cNvSpPr/>
          <p:nvPr/>
        </p:nvSpPr>
        <p:spPr>
          <a:xfrm>
            <a:off x="27766836" y="11735943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38" name="Text 133"/>
          <p:cNvSpPr txBox="1"/>
          <p:nvPr/>
        </p:nvSpPr>
        <p:spPr>
          <a:xfrm>
            <a:off x="27766836" y="11735943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50" dirty="0"/>
          </a:p>
        </p:txBody>
      </p:sp>
      <p:sp>
        <p:nvSpPr>
          <p:cNvPr id="139" name="Text 134"/>
          <p:cNvSpPr txBox="1"/>
          <p:nvPr/>
        </p:nvSpPr>
        <p:spPr>
          <a:xfrm>
            <a:off x="28772676" y="11681079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IMPACT341 input: AUROC 0.84 → 0.70</a:t>
            </a:r>
            <a:endParaRPr lang="en-US" sz="1300" dirty="0"/>
          </a:p>
        </p:txBody>
      </p:sp>
      <p:sp>
        <p:nvSpPr>
          <p:cNvPr id="140" name="Shape 135"/>
          <p:cNvSpPr/>
          <p:nvPr/>
        </p:nvSpPr>
        <p:spPr>
          <a:xfrm>
            <a:off x="25755156" y="12019407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25755156" y="12019407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42" name="Shape 137"/>
          <p:cNvSpPr/>
          <p:nvPr/>
        </p:nvSpPr>
        <p:spPr>
          <a:xfrm>
            <a:off x="27766836" y="12074271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43" name="Text 138"/>
          <p:cNvSpPr txBox="1"/>
          <p:nvPr/>
        </p:nvSpPr>
        <p:spPr>
          <a:xfrm>
            <a:off x="27766836" y="12074271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150" dirty="0"/>
          </a:p>
        </p:txBody>
      </p:sp>
      <p:sp>
        <p:nvSpPr>
          <p:cNvPr id="144" name="Text 139"/>
          <p:cNvSpPr txBox="1"/>
          <p:nvPr/>
        </p:nvSpPr>
        <p:spPr>
          <a:xfrm>
            <a:off x="28772676" y="12019407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ancestry, smoking, histology subgroups</a:t>
            </a:r>
            <a:endParaRPr lang="en-US" sz="1300" dirty="0"/>
          </a:p>
        </p:txBody>
      </p:sp>
      <p:sp>
        <p:nvSpPr>
          <p:cNvPr id="145" name="Shape 140"/>
          <p:cNvSpPr/>
          <p:nvPr/>
        </p:nvSpPr>
        <p:spPr>
          <a:xfrm>
            <a:off x="25755156" y="12357735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6" name="Text 141"/>
          <p:cNvSpPr txBox="1"/>
          <p:nvPr/>
        </p:nvSpPr>
        <p:spPr>
          <a:xfrm>
            <a:off x="25755156" y="12357735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00" dirty="0"/>
          </a:p>
        </p:txBody>
      </p:sp>
      <p:sp>
        <p:nvSpPr>
          <p:cNvPr id="147" name="Shape 142"/>
          <p:cNvSpPr/>
          <p:nvPr/>
        </p:nvSpPr>
        <p:spPr>
          <a:xfrm>
            <a:off x="27766836" y="12412599"/>
            <a:ext cx="896112" cy="228600"/>
          </a:xfrm>
          <a:prstGeom prst="roundRect">
            <a:avLst>
              <a:gd name="adj" fmla="val 20000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27766836" y="12412599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50" dirty="0"/>
          </a:p>
        </p:txBody>
      </p:sp>
      <p:sp>
        <p:nvSpPr>
          <p:cNvPr id="149" name="Text 144"/>
          <p:cNvSpPr txBox="1"/>
          <p:nvPr/>
        </p:nvSpPr>
        <p:spPr>
          <a:xfrm>
            <a:off x="28772676" y="12357735"/>
            <a:ext cx="48558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= copy-number locus + mutational burden</a:t>
            </a:r>
            <a:endParaRPr lang="en-US" sz="1300" dirty="0"/>
          </a:p>
        </p:txBody>
      </p:sp>
      <p:sp>
        <p:nvSpPr>
          <p:cNvPr id="150" name="Shape 145"/>
          <p:cNvSpPr/>
          <p:nvPr/>
        </p:nvSpPr>
        <p:spPr>
          <a:xfrm>
            <a:off x="25755156" y="12696063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1" name="Shape 146"/>
          <p:cNvSpPr/>
          <p:nvPr/>
        </p:nvSpPr>
        <p:spPr>
          <a:xfrm>
            <a:off x="25755156" y="12696063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52" name="Text 147"/>
          <p:cNvSpPr txBox="1"/>
          <p:nvPr/>
        </p:nvSpPr>
        <p:spPr>
          <a:xfrm>
            <a:off x="25755156" y="12787503"/>
            <a:ext cx="7873344" cy="679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against the ESMO EBAI class B requirements. Replicate values from MSK-IMPACT 2017; [ ] to be computed on MSK-CHORD. Se, sensitivity for ≥1 altered target gene.</a:t>
            </a:r>
            <a:endParaRPr lang="en-US" sz="1350" dirty="0"/>
          </a:p>
        </p:txBody>
      </p:sp>
      <p:sp>
        <p:nvSpPr>
          <p:cNvPr id="153" name="Shape 148"/>
          <p:cNvSpPr/>
          <p:nvPr/>
        </p:nvSpPr>
        <p:spPr>
          <a:xfrm>
            <a:off x="25755156" y="13741336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54" name="Text 149"/>
          <p:cNvSpPr txBox="1"/>
          <p:nvPr/>
        </p:nvSpPr>
        <p:spPr>
          <a:xfrm>
            <a:off x="25755156" y="13832776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Discussion</a:t>
            </a:r>
            <a:endParaRPr lang="en-US" sz="3200" dirty="0"/>
          </a:p>
        </p:txBody>
      </p:sp>
      <p:sp>
        <p:nvSpPr>
          <p:cNvPr id="155" name="Text 150"/>
          <p:cNvSpPr txBox="1"/>
          <p:nvPr/>
        </p:nvSpPr>
        <p:spPr>
          <a:xfrm>
            <a:off x="25755156" y="14610016"/>
            <a:ext cx="7873344" cy="30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carries predictive information on unassayed genes; per-gene AUROC and simple baselines, not pooled AUROC alone, measure how much.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mainly copy-number co-location and mutational burden; a generative model must add joint fidelity to justify its complexity.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masked-panel evaluation is an upper bound; single institution and split; fairness and actionable genes not yet evaluated.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an EBAI class B pre-screening tool, negatives still require confirmatory CGP (NPV 0.86 at 90% sensitivity).</a:t>
            </a:r>
            <a:endParaRPr lang="en-US" sz="1650" dirty="0"/>
          </a:p>
        </p:txBody>
      </p:sp>
      <p:sp>
        <p:nvSpPr>
          <p:cNvPr id="156" name="Shape 151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571500" y="18474120"/>
            <a:ext cx="15380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Aldea M, et al. ESMO basic requirements for AI-based biomarkers in oncology (EBAI). Ann Oncol 2026;37:414–25.</a:t>
            </a:r>
            <a:endParaRPr lang="en-US" sz="1250" dirty="0"/>
          </a:p>
        </p:txBody>
      </p:sp>
      <p:sp>
        <p:nvSpPr>
          <p:cNvPr id="158" name="Text 153"/>
          <p:cNvSpPr txBox="1"/>
          <p:nvPr/>
        </p:nvSpPr>
        <p:spPr>
          <a:xfrm>
            <a:off x="16336476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Code: </a:t>
            </a:r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[repository link]</a:t>
            </a:r>
            <a:endParaRPr lang="en-US" sz="1250" dirty="0"/>
          </a:p>
        </p:txBody>
      </p:sp>
      <p:sp>
        <p:nvSpPr>
          <p:cNvPr id="159" name="Text 154"/>
          <p:cNvSpPr txBox="1"/>
          <p:nvPr/>
        </p:nvSpPr>
        <p:spPr>
          <a:xfrm>
            <a:off x="24410988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[Conflict-of-interest statement]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[Corresponding author e-mail]</a:t>
            </a:r>
            <a:endParaRPr lang="en-US" sz="1250" dirty="0"/>
          </a:p>
        </p:txBody>
      </p:sp>
      <p:sp>
        <p:nvSpPr>
          <p:cNvPr id="160" name="Shape 155"/>
          <p:cNvSpPr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682"/>
            </a:solidFill>
            <a:prstDash val="dash"/>
          </a:ln>
        </p:spPr>
      </p:sp>
      <p:sp>
        <p:nvSpPr>
          <p:cNvPr id="161" name="Text 156"/>
          <p:cNvSpPr txBox="1"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2026-10-01T13:36:56Z</dcterms:created>
  <dcterms:modified xsi:type="dcterms:W3CDTF">2026-10-01T13:36:56Z</dcterms:modified>
</cp:coreProperties>
</file>