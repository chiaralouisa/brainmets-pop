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4200000" cy="19800000"/>
  <p:notesSz cx="19800000" cy="34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AUROC</c:v>
                </c:pt>
              </c:strCache>
            </c:strRef>
          </c:tx>
          <c:spPr>
            <a:solidFill>
              <a:srgbClr val="2A6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220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6F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Amplifications (134 events)</c:v>
                  </c:pt>
                  <c:pt idx="1">
                    <c:v>Mutations (646 events)</c:v>
                  </c:pt>
                  <c:pt idx="2">
                    <c:v>Mutations, burden only</c:v>
                  </c:pt>
                  <c:pt idx="3">
                    <c:v>Deep deletions (18 events)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0.949</c:v>
                </c:pt>
                <c:pt idx="1">
                  <c:v>0.728</c:v>
                </c:pt>
                <c:pt idx="2">
                  <c:v>0.726</c:v>
                </c:pt>
                <c:pt idx="3">
                  <c:v>0.711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500" u="none">
                  <a:solidFill>
                    <a:srgbClr val="1220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220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9525" cap="flat">
              <a:solidFill>
                <a:srgbClr val="E0E4E8"/>
              </a:solidFill>
              <a:prstDash val="solid"/>
              <a:round/>
            </a:ln>
          </c:spPr>
        </c:majorGridlines>
        <c:numFmt formatCode="0.0#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4B5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500" y="457200"/>
            <a:ext cx="292165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flow matching for genomic panel completion: inferring IMPACT505 alterations from the IMPACT341 targeted panel in non-small cell lung cancer</a:t>
            </a:r>
            <a:endParaRPr lang="en-US" sz="4700" dirty="0"/>
          </a:p>
        </p:txBody>
      </p:sp>
      <p:sp>
        <p:nvSpPr>
          <p:cNvPr id="3" name="Text 1"/>
          <p:cNvSpPr txBox="1"/>
          <p:nvPr/>
        </p:nvSpPr>
        <p:spPr>
          <a:xfrm>
            <a:off x="571500" y="2560320"/>
            <a:ext cx="2921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Louisa Hempel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F. Capuano</a:t>
            </a:r>
            <a:pPr indent="0" marL="0">
              <a:buNone/>
            </a:pPr>
            <a:r>
              <a:rPr lang="en-US" sz="2000" b="1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3063240"/>
            <a:ext cx="2921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Department, Sigmund Freud University Vienna, Vienna, Austria   ·   </a:t>
            </a:r>
            <a:pPr indent="0" marL="0">
              <a:buNone/>
            </a:pPr>
            <a:r>
              <a:rPr lang="en-US" sz="1500" baseline="300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5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Oxford Robotics Institute, University of Oxford, Oxford, United Kingdom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336660" y="457200"/>
            <a:ext cx="3291840" cy="32004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336660" y="868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0336660" y="1417320"/>
            <a:ext cx="329184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P305</a:t>
            </a:r>
            <a:endParaRPr lang="en-US" sz="8000" dirty="0"/>
          </a:p>
        </p:txBody>
      </p:sp>
      <p:sp>
        <p:nvSpPr>
          <p:cNvPr id="8" name="Shape 6"/>
          <p:cNvSpPr/>
          <p:nvPr/>
        </p:nvSpPr>
        <p:spPr>
          <a:xfrm>
            <a:off x="571500" y="3977640"/>
            <a:ext cx="33057000" cy="0"/>
          </a:xfrm>
          <a:prstGeom prst="line">
            <a:avLst/>
          </a:prstGeom>
          <a:noFill/>
          <a:ln w="38100">
            <a:solidFill>
              <a:srgbClr val="122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1500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Background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" y="5212080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genomic profiling (CGP) guides treatment in NSCLC, but panel content, cost and turnaround time differ widely between institutions, and smaller targeted panels leave part of the tumour genome unmeasured.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6525006"/>
            <a:ext cx="7873344" cy="2394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ESMO basic requirements for AI-based biomarkers (EBAI), a model that predicts an established biomarker from an input different from the gold-standard test is class B; here the input is the smaller panel itself. Because the input differs from the reference test, risk and complexity exceed class A. Such tools may predict only a subset of alterations with sufficient sensitivity and specificity, and usually aim to </a:t>
            </a:r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population for confirmatory testing, or, where a negative result reliably excludes the alteration, to </a:t>
            </a:r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out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testing. They do not substitute an established genomic test.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9147620"/>
            <a:ext cx="7873344" cy="1346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the conditional distribution of alterations in genes absent from a targeted panel given the genes it measures, benchmark it against simple baselines, and evaluate it along the seven EBAI dimensions: comparator, performance, generalisability, fairness, explainability, cost and turnaround time.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71500" y="10813923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1500" y="10905363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Study design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571500" y="11682603"/>
            <a:ext cx="5314507" cy="566928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" y="11682603"/>
            <a:ext cx="53145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IMPACT341 · 341 genes (input)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886007" y="11682603"/>
            <a:ext cx="2558837" cy="566928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86007" y="11682603"/>
            <a:ext cx="25588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genes (target)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12359259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definition. IMPACT341 ⊂ IMPACT505; the 164 genes present only in IMPACT505 are masked from the input and predicted.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13098780"/>
            <a:ext cx="7873344" cy="250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and target characteristics (MSK-CHORD).</a:t>
            </a:r>
            <a:endParaRPr lang="en-US" sz="13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3459397"/>
          <a:ext cx="7873344" cy="914400"/>
        </p:xfrm>
        <a:graphic>
          <a:graphicData uri="http://schemas.openxmlformats.org/drawingml/2006/table">
            <a:tbl>
              <a:tblPr/>
              <a:tblGrid>
                <a:gridCol w="4881473"/>
                <a:gridCol w="299187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Patients, NSCLC, sequenced on IMPACT505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genes (IMPACT341)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genes (IMPACT505 \ IMPACT341)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target gene–patient pairs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 with ≥1 altered target gene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(patient level): train / val / 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/ 15 / 15% [confirm]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36576" marB="36576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71500" y="13459397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71500" y="15763685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1500" y="16038005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 encoding.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one binary event per gene and patient (non-synonymous mutation, amplification or deep deletion; [state VUS and structural-variant handling]). Input: separate mutation, amplification and deletion indicators for the 341 assayed genes. One sample per patient. Genes not covered by a sample's panel are treated as missing, never as wild type.</a:t>
            </a:r>
            <a:endParaRPr lang="en-US" sz="1650" dirty="0"/>
          </a:p>
        </p:txBody>
      </p:sp>
      <p:sp>
        <p:nvSpPr>
          <p:cNvPr id="26" name="Shape 23"/>
          <p:cNvSpPr/>
          <p:nvPr/>
        </p:nvSpPr>
        <p:spPr>
          <a:xfrm>
            <a:off x="8966052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66052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Methods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8966052" y="5212080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Problem formulation.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the observed IMPACT341 profile c, we learn the conditional distribution p(x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| c) over the 164 target genes. Binary targets are embedded as x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{−1,+1}</a:t>
            </a:r>
            <a:pPr indent="0" marL="0">
              <a:buNone/>
            </a:pPr>
            <a:r>
              <a:rPr lang="en-US" sz="165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(continuous relaxation); generated profiles are binarised by sign. Data were split by patient into 70% training, 15% validation (all model and hyper-parameter selection) and 15% test, evaluated once.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8966052" y="7048881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Conditional flow matching.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field v</a:t>
            </a:r>
            <a:pPr indent="0" marL="0">
              <a:buNone/>
            </a:pPr>
            <a:r>
              <a:rPr lang="en-US" sz="165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([architecture]) is regressed onto the straight-line path between Gaussian noise and data:</a:t>
            </a:r>
            <a:endParaRPr lang="en-US" sz="1650" dirty="0"/>
          </a:p>
        </p:txBody>
      </p:sp>
      <p:sp>
        <p:nvSpPr>
          <p:cNvPr id="30" name="Shape 27"/>
          <p:cNvSpPr/>
          <p:nvPr/>
        </p:nvSpPr>
        <p:spPr>
          <a:xfrm>
            <a:off x="8966052" y="8035862"/>
            <a:ext cx="7873344" cy="960120"/>
          </a:xfrm>
          <a:prstGeom prst="rect">
            <a:avLst/>
          </a:prstGeom>
          <a:solidFill>
            <a:srgbClr val="F2F4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966052" y="8145590"/>
            <a:ext cx="78733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t)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t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𝒩(0, I),    t ~ 𝒰(0, 1)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ℒ(θ) = 𝔼 ‖ v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 | c) − (x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ctr" indent="0" marL="0">
              <a:lnSpc>
                <a:spcPct val="130000"/>
              </a:lnSpc>
              <a:buNone/>
            </a:pPr>
            <a:r>
              <a:rPr lang="en-US" sz="1700" baseline="-400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‖²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8966052" y="9270302"/>
            <a:ext cx="215310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202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66052" y="9270302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 𝒩(0, I)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1119157" y="9270302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11503205" y="9270302"/>
            <a:ext cx="2799037" cy="685800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1503205" y="9270302"/>
            <a:ext cx="27990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dx/dt = v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</a:t>
            </a:r>
            <a:pPr algn="ctr" indent="0" marL="0">
              <a:buNone/>
            </a:pPr>
            <a:r>
              <a:rPr lang="en-US" sz="1400" baseline="-4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 | c)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4302243" y="9270302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Shape 35"/>
          <p:cNvSpPr/>
          <p:nvPr/>
        </p:nvSpPr>
        <p:spPr>
          <a:xfrm>
            <a:off x="14686291" y="9270302"/>
            <a:ext cx="2153105" cy="685800"/>
          </a:xfrm>
          <a:prstGeom prst="rect">
            <a:avLst/>
          </a:prstGeom>
          <a:solidFill>
            <a:srgbClr val="FBE3D5"/>
          </a:solidFill>
          <a:ln w="19050">
            <a:solidFill>
              <a:srgbClr val="C4501B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4686291" y="9270302"/>
            <a:ext cx="21531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x̂</a:t>
            </a:r>
            <a:pPr algn="ctr" indent="0" marL="0">
              <a:buNone/>
            </a:pPr>
            <a:r>
              <a:rPr lang="en-US" sz="1400" baseline="-4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ctr" indent="0" marL="0">
              <a:buNone/>
            </a:pPr>
            <a:r>
              <a:rPr lang="en-US" sz="14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ℝ</a:t>
            </a:r>
            <a:pPr algn="ctr" indent="0" marL="0">
              <a:buNone/>
            </a:pPr>
            <a:r>
              <a:rPr lang="en-US" sz="1400" baseline="300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10068320" y="10093262"/>
            <a:ext cx="5668808" cy="457200"/>
          </a:xfrm>
          <a:prstGeom prst="rect">
            <a:avLst/>
          </a:prstGeom>
          <a:solidFill>
            <a:srgbClr val="2A6FD6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0068320" y="10093262"/>
            <a:ext cx="5668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c: observed IMPACT341 profile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966052" y="10660190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the learned ODE, integrated from t = 0 to 1 ([solver, N steps]), transports noise to a completed 164-gene profile conditioned on the observed panel.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8966052" y="11399711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Probability read-out.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0, xₜ is independent of x₁, so v*(x₀, 0 | c) = 𝔼[x₁ | c] − x₀ and p̂ = ½(1 + x₀ + vθ(x₀, 0 | c)), averaged over K noise draws. This avoids Monte Carlo ties at ~1% prevalence. [state read-out used]</a:t>
            </a:r>
            <a:endParaRPr lang="en-US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8966052" y="12712637"/>
            <a:ext cx="7873344" cy="317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Evaluation (EBAI).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Pre-specified primary endpoint: pooled AUROC. Secondary: per-gene AUROC (genes with ≥5 test events; prevalence-only = 0.50); AUPRC (chance = 0.012); calibration plot, slope, intercept, O:E and Brier skill; at the intended-use threshold for ≥1 altered target gene, sensitivity, specificity, PPV, NPV and LR±; NRI over the burden + locus model and decision-curve analysis; joint fidelity (energy score versus independent Bernoulli draws). Comparators on identical splits: prevalence, burden + locus, L2 logistic regression. 95% CIs and paired differences by patient bootstrap. </a:t>
            </a:r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(post hoc; EBAI asks a priori):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~334 test patients give a 95% CI half-width of ≈ ±0.05 for a patient-level AUROC of 0.79 (Hanley–McNeil, 43% prevalence assumed).</a:t>
            </a:r>
            <a:endParaRPr lang="en-US" sz="1650" dirty="0"/>
          </a:p>
        </p:txBody>
      </p:sp>
      <p:sp>
        <p:nvSpPr>
          <p:cNvPr id="45" name="Text 42"/>
          <p:cNvSpPr txBox="1"/>
          <p:nvPr/>
        </p:nvSpPr>
        <p:spPr>
          <a:xfrm>
            <a:off x="8966052" y="16121062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External replicate.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MSK-IMPACT 2017 (cBioPortal, ODbL): IMPACT341 → 69 IMPACT410-only genes in 1,215 NSCLC patients; 3 × 5-fold patient-level cross-validation, AUROC computed within folds.</a:t>
            </a:r>
            <a:endParaRPr lang="en-US" sz="1650" dirty="0"/>
          </a:p>
        </p:txBody>
      </p:sp>
      <p:sp>
        <p:nvSpPr>
          <p:cNvPr id="46" name="Shape 43"/>
          <p:cNvSpPr/>
          <p:nvPr/>
        </p:nvSpPr>
        <p:spPr>
          <a:xfrm>
            <a:off x="17360604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7360604" y="4434840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Results</a:t>
            </a:r>
            <a:endParaRPr lang="en-US" sz="3200" dirty="0"/>
          </a:p>
        </p:txBody>
      </p:sp>
      <p:sp>
        <p:nvSpPr>
          <p:cNvPr id="48" name="Text 45"/>
          <p:cNvSpPr txBox="1"/>
          <p:nvPr/>
        </p:nvSpPr>
        <p:spPr>
          <a:xfrm>
            <a:off x="17360604" y="5212080"/>
            <a:ext cx="7873344" cy="822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Primary cohort.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architectures and training paradigms, the flow model reached a pooled test AUROC of 0.77–0.79, above the prevalence-only baseline in every variant (Table 2).</a:t>
            </a:r>
            <a:endParaRPr lang="en-US" sz="1650" dirty="0"/>
          </a:p>
        </p:txBody>
      </p:sp>
      <p:sp>
        <p:nvSpPr>
          <p:cNvPr id="49" name="Text 46"/>
          <p:cNvSpPr txBox="1"/>
          <p:nvPr/>
        </p:nvSpPr>
        <p:spPr>
          <a:xfrm>
            <a:off x="17360604" y="6263069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test set: AUROC pooled and per gene, and AUPRC (chance level = prevalence, 0.012); point estimate (95% CI).</a:t>
            </a:r>
            <a:endParaRPr lang="en-US" sz="13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60604" y="6837998"/>
          <a:ext cx="7873344" cy="914400"/>
        </p:xfrm>
        <a:graphic>
          <a:graphicData uri="http://schemas.openxmlformats.org/drawingml/2006/table">
            <a:tbl>
              <a:tblPr/>
              <a:tblGrid>
                <a:gridCol w="3149338"/>
                <a:gridCol w="1574669"/>
                <a:gridCol w="1732136"/>
                <a:gridCol w="141720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gene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AUPRC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Prevalence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Burden + locus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logistic regression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matching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22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0.77–0.79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A341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]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45720" marB="45720">
                    <a:lnL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0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1" name="Shape 47"/>
          <p:cNvSpPr/>
          <p:nvPr/>
        </p:nvSpPr>
        <p:spPr>
          <a:xfrm>
            <a:off x="17360604" y="683799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7360604" y="7258622"/>
            <a:ext cx="7873344" cy="0"/>
          </a:xfrm>
          <a:prstGeom prst="line">
            <a:avLst/>
          </a:prstGeom>
          <a:noFill/>
          <a:ln w="15875">
            <a:solidFill>
              <a:srgbClr val="12202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7360604" y="8941118"/>
            <a:ext cx="7873344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7360604" y="9169718"/>
            <a:ext cx="7873344" cy="56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joint fidelity: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skill </a:t>
            </a:r>
            <a:pPr indent="0" marL="0">
              <a:buNone/>
            </a:pPr>
            <a:r>
              <a:rPr lang="en-US" sz="16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energy score, flow samples vs independent draws </a:t>
            </a:r>
            <a:pPr indent="0" marL="0">
              <a:buNone/>
            </a:pPr>
            <a:r>
              <a:rPr lang="en-US" sz="16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vs [ ]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50" dirty="0"/>
          </a:p>
        </p:txBody>
      </p:sp>
      <p:sp>
        <p:nvSpPr>
          <p:cNvPr id="55" name="Text 51"/>
          <p:cNvSpPr txBox="1"/>
          <p:nvPr/>
        </p:nvSpPr>
        <p:spPr>
          <a:xfrm>
            <a:off x="17360604" y="10004489"/>
            <a:ext cx="7873344" cy="1346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Benchmark on public data.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compares pairs across genes, so ranking genes by training frequency alone scores 0.715. Per gene, a 7-feature model matches 1,026-feature logistic regression (0.760 vs 0.728), and pan-cancer training adds +0.039 (95% CI 0.024–0.057; Figure 3).</a:t>
            </a:r>
            <a:endParaRPr lang="en-US" sz="1650" dirty="0"/>
          </a:p>
        </p:txBody>
      </p:sp>
      <p:sp>
        <p:nvSpPr>
          <p:cNvPr id="56" name="Shape 52"/>
          <p:cNvSpPr/>
          <p:nvPr/>
        </p:nvSpPr>
        <p:spPr>
          <a:xfrm>
            <a:off x="17360604" y="11634216"/>
            <a:ext cx="146304" cy="146304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17580060" y="115793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19646604" y="11643360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9847772" y="1157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Per-gene AUROC</a:t>
            </a:r>
            <a:endParaRPr lang="en-US" sz="1300" dirty="0"/>
          </a:p>
        </p:txBody>
      </p:sp>
      <p:sp>
        <p:nvSpPr>
          <p:cNvPr id="60" name="Text 56"/>
          <p:cNvSpPr txBox="1"/>
          <p:nvPr/>
        </p:nvSpPr>
        <p:spPr>
          <a:xfrm>
            <a:off x="22024044" y="1157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lines: 95% CI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17360604" y="11990832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only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22544246" y="12192000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22759637" y="12114276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23136487" y="1208227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0.715</a:t>
            </a:r>
            <a:endParaRPr lang="en-US" sz="1150" dirty="0"/>
          </a:p>
        </p:txBody>
      </p:sp>
      <p:sp>
        <p:nvSpPr>
          <p:cNvPr id="65" name="Shape 61"/>
          <p:cNvSpPr/>
          <p:nvPr/>
        </p:nvSpPr>
        <p:spPr>
          <a:xfrm>
            <a:off x="20147532" y="12402312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20330412" y="123565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0.500</a:t>
            </a:r>
            <a:endParaRPr lang="en-US" sz="1150" dirty="0"/>
          </a:p>
        </p:txBody>
      </p:sp>
      <p:sp>
        <p:nvSpPr>
          <p:cNvPr id="67" name="Shape 63"/>
          <p:cNvSpPr/>
          <p:nvPr/>
        </p:nvSpPr>
        <p:spPr>
          <a:xfrm>
            <a:off x="17360604" y="12667488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7360604" y="12667488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Burden + locus</a:t>
            </a:r>
            <a:endParaRPr lang="en-US" sz="1600" dirty="0"/>
          </a:p>
        </p:txBody>
      </p:sp>
      <p:sp>
        <p:nvSpPr>
          <p:cNvPr id="69" name="Shape 65"/>
          <p:cNvSpPr/>
          <p:nvPr/>
        </p:nvSpPr>
        <p:spPr>
          <a:xfrm>
            <a:off x="23081623" y="12868656"/>
            <a:ext cx="537377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23309227" y="12790932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23673864" y="127589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2" name="Shape 68"/>
          <p:cNvSpPr/>
          <p:nvPr/>
        </p:nvSpPr>
        <p:spPr>
          <a:xfrm>
            <a:off x="23093836" y="13142976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23322943" y="13078968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23747143" y="130332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0.760</a:t>
            </a:r>
            <a:endParaRPr lang="en-US" sz="1150" dirty="0"/>
          </a:p>
        </p:txBody>
      </p:sp>
      <p:sp>
        <p:nvSpPr>
          <p:cNvPr id="75" name="Shape 71"/>
          <p:cNvSpPr/>
          <p:nvPr/>
        </p:nvSpPr>
        <p:spPr>
          <a:xfrm>
            <a:off x="17360604" y="13344144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17360604" y="13344144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logistic regression</a:t>
            </a:r>
            <a:endParaRPr lang="en-US" sz="1600" dirty="0"/>
          </a:p>
        </p:txBody>
      </p:sp>
      <p:sp>
        <p:nvSpPr>
          <p:cNvPr id="77" name="Shape 73"/>
          <p:cNvSpPr/>
          <p:nvPr/>
        </p:nvSpPr>
        <p:spPr>
          <a:xfrm>
            <a:off x="23313672" y="13545312"/>
            <a:ext cx="512951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3529063" y="13467588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23881488" y="1343558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0.778</a:t>
            </a:r>
            <a:endParaRPr lang="en-US" sz="1150" dirty="0"/>
          </a:p>
        </p:txBody>
      </p:sp>
      <p:sp>
        <p:nvSpPr>
          <p:cNvPr id="80" name="Shape 76"/>
          <p:cNvSpPr/>
          <p:nvPr/>
        </p:nvSpPr>
        <p:spPr>
          <a:xfrm>
            <a:off x="22715230" y="13819632"/>
            <a:ext cx="586230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2932123" y="13755624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82" name="Text 78"/>
          <p:cNvSpPr txBox="1"/>
          <p:nvPr/>
        </p:nvSpPr>
        <p:spPr>
          <a:xfrm>
            <a:off x="23356323" y="1370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0.728</a:t>
            </a:r>
            <a:endParaRPr lang="en-US" sz="1150" dirty="0"/>
          </a:p>
        </p:txBody>
      </p:sp>
      <p:sp>
        <p:nvSpPr>
          <p:cNvPr id="83" name="Shape 79"/>
          <p:cNvSpPr/>
          <p:nvPr/>
        </p:nvSpPr>
        <p:spPr>
          <a:xfrm>
            <a:off x="17360604" y="14020800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17360604" y="14020800"/>
            <a:ext cx="2240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Pan-cancer logistic</a:t>
            </a:r>
            <a:endParaRPr lang="en-US" sz="1600" dirty="0"/>
          </a:p>
        </p:txBody>
      </p:sp>
      <p:sp>
        <p:nvSpPr>
          <p:cNvPr id="85" name="Shape 81"/>
          <p:cNvSpPr/>
          <p:nvPr/>
        </p:nvSpPr>
        <p:spPr>
          <a:xfrm>
            <a:off x="23765558" y="14221968"/>
            <a:ext cx="464099" cy="0"/>
          </a:xfrm>
          <a:prstGeom prst="line">
            <a:avLst/>
          </a:prstGeom>
          <a:noFill/>
          <a:ln w="25400">
            <a:solidFill>
              <a:srgbClr val="2A6FD6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3895457" y="14144244"/>
            <a:ext cx="155448" cy="155448"/>
          </a:xfrm>
          <a:prstGeom prst="ellipse">
            <a:avLst/>
          </a:prstGeom>
          <a:solidFill>
            <a:srgbClr val="2A6FD6"/>
          </a:solidFill>
          <a:ln/>
        </p:spPr>
      </p:sp>
      <p:sp>
        <p:nvSpPr>
          <p:cNvPr id="87" name="Text 83"/>
          <p:cNvSpPr txBox="1"/>
          <p:nvPr/>
        </p:nvSpPr>
        <p:spPr>
          <a:xfrm>
            <a:off x="24284520" y="1411224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0.808</a:t>
            </a:r>
            <a:endParaRPr lang="en-US" sz="1150" dirty="0"/>
          </a:p>
        </p:txBody>
      </p:sp>
      <p:sp>
        <p:nvSpPr>
          <p:cNvPr id="88" name="Shape 84"/>
          <p:cNvSpPr/>
          <p:nvPr/>
        </p:nvSpPr>
        <p:spPr>
          <a:xfrm>
            <a:off x="23154902" y="14496288"/>
            <a:ext cx="598443" cy="0"/>
          </a:xfrm>
          <a:prstGeom prst="line">
            <a:avLst/>
          </a:prstGeom>
          <a:noFill/>
          <a:ln w="25400">
            <a:solidFill>
              <a:srgbClr val="C4501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3408435" y="14432280"/>
            <a:ext cx="128016" cy="128016"/>
          </a:xfrm>
          <a:prstGeom prst="rect">
            <a:avLst/>
          </a:prstGeom>
          <a:solidFill>
            <a:srgbClr val="C4501B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23808209" y="143865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150" dirty="0"/>
          </a:p>
        </p:txBody>
      </p:sp>
      <p:sp>
        <p:nvSpPr>
          <p:cNvPr id="91" name="Shape 87"/>
          <p:cNvSpPr/>
          <p:nvPr/>
        </p:nvSpPr>
        <p:spPr>
          <a:xfrm>
            <a:off x="17360604" y="14697456"/>
            <a:ext cx="787334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0211540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3" name="Text 89"/>
          <p:cNvSpPr txBox="1"/>
          <p:nvPr/>
        </p:nvSpPr>
        <p:spPr>
          <a:xfrm>
            <a:off x="19937220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1150" dirty="0"/>
          </a:p>
        </p:txBody>
      </p:sp>
      <p:sp>
        <p:nvSpPr>
          <p:cNvPr id="94" name="Shape 90"/>
          <p:cNvSpPr/>
          <p:nvPr/>
        </p:nvSpPr>
        <p:spPr>
          <a:xfrm>
            <a:off x="21432852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5" name="Text 91"/>
          <p:cNvSpPr txBox="1"/>
          <p:nvPr/>
        </p:nvSpPr>
        <p:spPr>
          <a:xfrm>
            <a:off x="21158532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50" dirty="0"/>
          </a:p>
        </p:txBody>
      </p:sp>
      <p:sp>
        <p:nvSpPr>
          <p:cNvPr id="96" name="Shape 92"/>
          <p:cNvSpPr/>
          <p:nvPr/>
        </p:nvSpPr>
        <p:spPr>
          <a:xfrm>
            <a:off x="22654164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7" name="Text 93"/>
          <p:cNvSpPr txBox="1"/>
          <p:nvPr/>
        </p:nvSpPr>
        <p:spPr>
          <a:xfrm>
            <a:off x="22379844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</a:t>
            </a:r>
            <a:endParaRPr lang="en-US" sz="1150" dirty="0"/>
          </a:p>
        </p:txBody>
      </p:sp>
      <p:sp>
        <p:nvSpPr>
          <p:cNvPr id="98" name="Shape 94"/>
          <p:cNvSpPr/>
          <p:nvPr/>
        </p:nvSpPr>
        <p:spPr>
          <a:xfrm>
            <a:off x="23875476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99" name="Text 95"/>
          <p:cNvSpPr txBox="1"/>
          <p:nvPr/>
        </p:nvSpPr>
        <p:spPr>
          <a:xfrm>
            <a:off x="23601156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50" dirty="0"/>
          </a:p>
        </p:txBody>
      </p:sp>
      <p:sp>
        <p:nvSpPr>
          <p:cNvPr id="100" name="Shape 96"/>
          <p:cNvSpPr/>
          <p:nvPr/>
        </p:nvSpPr>
        <p:spPr>
          <a:xfrm>
            <a:off x="25096788" y="11990832"/>
            <a:ext cx="0" cy="2706624"/>
          </a:xfrm>
          <a:prstGeom prst="line">
            <a:avLst/>
          </a:prstGeom>
          <a:noFill/>
          <a:ln w="9525">
            <a:solidFill>
              <a:srgbClr val="E0E4E8"/>
            </a:solidFill>
            <a:prstDash val="dash"/>
          </a:ln>
        </p:spPr>
      </p:sp>
      <p:sp>
        <p:nvSpPr>
          <p:cNvPr id="101" name="Text 97"/>
          <p:cNvSpPr txBox="1"/>
          <p:nvPr/>
        </p:nvSpPr>
        <p:spPr>
          <a:xfrm>
            <a:off x="24822468" y="1474317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</a:t>
            </a:r>
            <a:endParaRPr lang="en-US" sz="1150" dirty="0"/>
          </a:p>
        </p:txBody>
      </p:sp>
      <p:sp>
        <p:nvSpPr>
          <p:cNvPr id="102" name="Text 98"/>
          <p:cNvSpPr txBox="1"/>
          <p:nvPr/>
        </p:nvSpPr>
        <p:spPr>
          <a:xfrm>
            <a:off x="17360604" y="15063216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(n = 1,215): AUROC with patient-bootstrap 95% CI. Pan-cancer: trained on 7,773 patients with cancer type as covariate.</a:t>
            </a:r>
            <a:endParaRPr lang="en-US" sz="1350" dirty="0"/>
          </a:p>
        </p:txBody>
      </p:sp>
      <p:sp>
        <p:nvSpPr>
          <p:cNvPr id="103" name="Text 99"/>
          <p:cNvSpPr txBox="1"/>
          <p:nvPr/>
        </p:nvSpPr>
        <p:spPr>
          <a:xfrm>
            <a:off x="17360604" y="15802737"/>
            <a:ext cx="7873344" cy="160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Simulated versus real input.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167 patients sequenced on both panels, taking the input from the separate IMPACT341 assay instead of masking the IMPACT410 sample lowered pooled AUROC from 0.84 to 0.70 and per-gene AUROC from 0.80 to 0.61 (pan-cancer logistic regression). The paired samples also differ in specimen and time, so the gap combines assay shift and tumour heterogeneity.</a:t>
            </a:r>
            <a:endParaRPr lang="en-US" sz="1650" dirty="0"/>
          </a:p>
        </p:txBody>
      </p:sp>
      <p:sp>
        <p:nvSpPr>
          <p:cNvPr id="104" name="Shape 100"/>
          <p:cNvSpPr/>
          <p:nvPr/>
        </p:nvSpPr>
        <p:spPr>
          <a:xfrm>
            <a:off x="25755156" y="4343400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5" name="Text 101"/>
          <p:cNvSpPr txBox="1"/>
          <p:nvPr/>
        </p:nvSpPr>
        <p:spPr>
          <a:xfrm>
            <a:off x="25755156" y="4480560"/>
            <a:ext cx="7873344" cy="1084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Sources of signal. </a:t>
            </a:r>
            <a:pPr indent="0" marL="0">
              <a:buNone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Amplifications were highly discriminable (AUROC 0.95), explained largely by co-amplification with neighbouring assayed genes (NFKBIA with NKX2-1 in 39/39 cases). Mutations reached 0.73, no better than three mutational-burden counts alone (Figure 4).</a:t>
            </a:r>
            <a:endParaRPr lang="en-US" sz="1650" dirty="0"/>
          </a:p>
        </p:txBody>
      </p:sp>
      <p:graphicFrame>
        <p:nvGraphicFramePr>
          <p:cNvPr id="106" name="Chart 0" descr=""/>
          <p:cNvGraphicFramePr/>
          <p:nvPr/>
        </p:nvGraphicFramePr>
        <p:xfrm>
          <a:off x="25755156" y="5793486"/>
          <a:ext cx="7873344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7" name="Text 102"/>
          <p:cNvSpPr txBox="1"/>
          <p:nvPr/>
        </p:nvSpPr>
        <p:spPr>
          <a:xfrm>
            <a:off x="25755156" y="7558278"/>
            <a:ext cx="7873344" cy="46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per-gene AUROC by event type (positives-weighted mean; axis origin 0.50), pan-cancer logistic regression.</a:t>
            </a:r>
            <a:endParaRPr lang="en-US" sz="1350" dirty="0"/>
          </a:p>
        </p:txBody>
      </p:sp>
      <p:sp>
        <p:nvSpPr>
          <p:cNvPr id="108" name="Shape 103"/>
          <p:cNvSpPr/>
          <p:nvPr/>
        </p:nvSpPr>
        <p:spPr>
          <a:xfrm>
            <a:off x="25755156" y="8297799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09" name="Text 104"/>
          <p:cNvSpPr txBox="1"/>
          <p:nvPr/>
        </p:nvSpPr>
        <p:spPr>
          <a:xfrm>
            <a:off x="25755156" y="8389239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EBAI assessment</a:t>
            </a:r>
            <a:endParaRPr lang="en-US" sz="3200" dirty="0"/>
          </a:p>
        </p:txBody>
      </p:sp>
      <p:sp>
        <p:nvSpPr>
          <p:cNvPr id="110" name="Shape 105"/>
          <p:cNvSpPr/>
          <p:nvPr/>
        </p:nvSpPr>
        <p:spPr>
          <a:xfrm>
            <a:off x="25755156" y="9166479"/>
            <a:ext cx="7873344" cy="402336"/>
          </a:xfrm>
          <a:prstGeom prst="rect">
            <a:avLst/>
          </a:prstGeom>
          <a:solidFill>
            <a:srgbClr val="12202E"/>
          </a:solidFill>
          <a:ln/>
        </p:spPr>
      </p:sp>
      <p:sp>
        <p:nvSpPr>
          <p:cNvPr id="111" name="Text 106"/>
          <p:cNvSpPr txBox="1"/>
          <p:nvPr/>
        </p:nvSpPr>
        <p:spPr>
          <a:xfrm>
            <a:off x="25864884" y="9166479"/>
            <a:ext cx="7653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 · indirect measure of existing biomarkers · use: enrichment</a:t>
            </a:r>
            <a:endParaRPr lang="en-US" sz="1250" dirty="0"/>
          </a:p>
        </p:txBody>
      </p:sp>
      <p:sp>
        <p:nvSpPr>
          <p:cNvPr id="112" name="Text 107"/>
          <p:cNvSpPr txBox="1"/>
          <p:nvPr/>
        </p:nvSpPr>
        <p:spPr>
          <a:xfrm>
            <a:off x="25755156" y="9596247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</a:t>
            </a:r>
            <a:endParaRPr lang="en-US" sz="1150" dirty="0"/>
          </a:p>
        </p:txBody>
      </p:sp>
      <p:sp>
        <p:nvSpPr>
          <p:cNvPr id="113" name="Text 108"/>
          <p:cNvSpPr txBox="1"/>
          <p:nvPr/>
        </p:nvSpPr>
        <p:spPr>
          <a:xfrm>
            <a:off x="27081036" y="9596247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</a:t>
            </a:r>
            <a:endParaRPr lang="en-US" sz="1200" dirty="0"/>
          </a:p>
        </p:txBody>
      </p:sp>
      <p:sp>
        <p:nvSpPr>
          <p:cNvPr id="114" name="Shape 109"/>
          <p:cNvSpPr/>
          <p:nvPr/>
        </p:nvSpPr>
        <p:spPr>
          <a:xfrm>
            <a:off x="28772676" y="9637395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15" name="Text 110"/>
          <p:cNvSpPr txBox="1"/>
          <p:nvPr/>
        </p:nvSpPr>
        <p:spPr>
          <a:xfrm>
            <a:off x="28772676" y="9637395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16" name="Text 111"/>
          <p:cNvSpPr txBox="1"/>
          <p:nvPr/>
        </p:nvSpPr>
        <p:spPr>
          <a:xfrm>
            <a:off x="29687076" y="9596247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IMPACT505 NGS on the same sample</a:t>
            </a:r>
            <a:endParaRPr lang="en-US" sz="1200" dirty="0"/>
          </a:p>
        </p:txBody>
      </p:sp>
      <p:sp>
        <p:nvSpPr>
          <p:cNvPr id="117" name="Shape 112"/>
          <p:cNvSpPr/>
          <p:nvPr/>
        </p:nvSpPr>
        <p:spPr>
          <a:xfrm>
            <a:off x="27081036" y="9884283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18" name="Text 113"/>
          <p:cNvSpPr txBox="1"/>
          <p:nvPr/>
        </p:nvSpPr>
        <p:spPr>
          <a:xfrm>
            <a:off x="27081036" y="9884283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Discrimination</a:t>
            </a:r>
            <a:endParaRPr lang="en-US" sz="1200" dirty="0"/>
          </a:p>
        </p:txBody>
      </p:sp>
      <p:sp>
        <p:nvSpPr>
          <p:cNvPr id="119" name="Shape 114"/>
          <p:cNvSpPr/>
          <p:nvPr/>
        </p:nvSpPr>
        <p:spPr>
          <a:xfrm>
            <a:off x="28772676" y="9925431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20" name="Text 115"/>
          <p:cNvSpPr txBox="1"/>
          <p:nvPr/>
        </p:nvSpPr>
        <p:spPr>
          <a:xfrm>
            <a:off x="28772676" y="9925431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21" name="Text 116"/>
          <p:cNvSpPr txBox="1"/>
          <p:nvPr/>
        </p:nvSpPr>
        <p:spPr>
          <a:xfrm>
            <a:off x="29687076" y="9884283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AUROC 0.77–0.79; per gene </a:t>
            </a:r>
            <a:pPr indent="0" marL="0">
              <a:buNone/>
            </a:pPr>
            <a:r>
              <a:rPr lang="en-US" sz="12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200" dirty="0"/>
          </a:p>
        </p:txBody>
      </p:sp>
      <p:sp>
        <p:nvSpPr>
          <p:cNvPr id="122" name="Shape 117"/>
          <p:cNvSpPr/>
          <p:nvPr/>
        </p:nvSpPr>
        <p:spPr>
          <a:xfrm>
            <a:off x="27081036" y="10172319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27081036" y="10172319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point</a:t>
            </a:r>
            <a:endParaRPr lang="en-US" sz="1200" dirty="0"/>
          </a:p>
        </p:txBody>
      </p:sp>
      <p:sp>
        <p:nvSpPr>
          <p:cNvPr id="124" name="Shape 119"/>
          <p:cNvSpPr/>
          <p:nvPr/>
        </p:nvSpPr>
        <p:spPr>
          <a:xfrm>
            <a:off x="28772676" y="10213467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25" name="Text 120"/>
          <p:cNvSpPr txBox="1"/>
          <p:nvPr/>
        </p:nvSpPr>
        <p:spPr>
          <a:xfrm>
            <a:off x="28772676" y="10213467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26" name="Text 121"/>
          <p:cNvSpPr txBox="1"/>
          <p:nvPr/>
        </p:nvSpPr>
        <p:spPr>
          <a:xfrm>
            <a:off x="29687076" y="10172319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Se 0.90, NPV 0.86, LR− 0.22</a:t>
            </a:r>
            <a:endParaRPr lang="en-US" sz="1200" dirty="0"/>
          </a:p>
        </p:txBody>
      </p:sp>
      <p:sp>
        <p:nvSpPr>
          <p:cNvPr id="127" name="Shape 122"/>
          <p:cNvSpPr/>
          <p:nvPr/>
        </p:nvSpPr>
        <p:spPr>
          <a:xfrm>
            <a:off x="27081036" y="10460355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28" name="Text 123"/>
          <p:cNvSpPr txBox="1"/>
          <p:nvPr/>
        </p:nvSpPr>
        <p:spPr>
          <a:xfrm>
            <a:off x="27081036" y="10460355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29" name="Shape 124"/>
          <p:cNvSpPr/>
          <p:nvPr/>
        </p:nvSpPr>
        <p:spPr>
          <a:xfrm>
            <a:off x="28772676" y="10501503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30" name="Text 125"/>
          <p:cNvSpPr txBox="1"/>
          <p:nvPr/>
        </p:nvSpPr>
        <p:spPr>
          <a:xfrm>
            <a:off x="28772676" y="10501503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31" name="Text 126"/>
          <p:cNvSpPr txBox="1"/>
          <p:nvPr/>
        </p:nvSpPr>
        <p:spPr>
          <a:xfrm>
            <a:off x="29687076" y="10460355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Replicate: slope 0.97, O:E 1.08; plot </a:t>
            </a:r>
            <a:pPr indent="0" marL="0">
              <a:buNone/>
            </a:pPr>
            <a:r>
              <a:rPr lang="en-US" sz="12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200" dirty="0"/>
          </a:p>
        </p:txBody>
      </p:sp>
      <p:sp>
        <p:nvSpPr>
          <p:cNvPr id="132" name="Shape 127"/>
          <p:cNvSpPr/>
          <p:nvPr/>
        </p:nvSpPr>
        <p:spPr>
          <a:xfrm>
            <a:off x="27081036" y="10748391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3" name="Text 128"/>
          <p:cNvSpPr txBox="1"/>
          <p:nvPr/>
        </p:nvSpPr>
        <p:spPr>
          <a:xfrm>
            <a:off x="27081036" y="10748391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Indep. cohort</a:t>
            </a:r>
            <a:endParaRPr lang="en-US" sz="1200" dirty="0"/>
          </a:p>
        </p:txBody>
      </p:sp>
      <p:sp>
        <p:nvSpPr>
          <p:cNvPr id="134" name="Shape 129"/>
          <p:cNvSpPr/>
          <p:nvPr/>
        </p:nvSpPr>
        <p:spPr>
          <a:xfrm>
            <a:off x="28772676" y="10789539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28772676" y="10789539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36" name="Text 131"/>
          <p:cNvSpPr txBox="1"/>
          <p:nvPr/>
        </p:nvSpPr>
        <p:spPr>
          <a:xfrm>
            <a:off x="29687076" y="10748391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institution; external cohort needed</a:t>
            </a:r>
            <a:endParaRPr lang="en-US" sz="1200" dirty="0"/>
          </a:p>
        </p:txBody>
      </p:sp>
      <p:sp>
        <p:nvSpPr>
          <p:cNvPr id="137" name="Shape 132"/>
          <p:cNvSpPr/>
          <p:nvPr/>
        </p:nvSpPr>
        <p:spPr>
          <a:xfrm>
            <a:off x="27081036" y="11036427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38" name="Text 133"/>
          <p:cNvSpPr txBox="1"/>
          <p:nvPr/>
        </p:nvSpPr>
        <p:spPr>
          <a:xfrm>
            <a:off x="27081036" y="11036427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Assay variation</a:t>
            </a:r>
            <a:endParaRPr lang="en-US" sz="1200" dirty="0"/>
          </a:p>
        </p:txBody>
      </p:sp>
      <p:sp>
        <p:nvSpPr>
          <p:cNvPr id="139" name="Shape 134"/>
          <p:cNvSpPr/>
          <p:nvPr/>
        </p:nvSpPr>
        <p:spPr>
          <a:xfrm>
            <a:off x="28772676" y="11077575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40" name="Text 135"/>
          <p:cNvSpPr txBox="1"/>
          <p:nvPr/>
        </p:nvSpPr>
        <p:spPr>
          <a:xfrm>
            <a:off x="28772676" y="11077575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41" name="Text 136"/>
          <p:cNvSpPr txBox="1"/>
          <p:nvPr/>
        </p:nvSpPr>
        <p:spPr>
          <a:xfrm>
            <a:off x="29687076" y="11036427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IMPACT341 input: AUROC 0.84 → 0.70</a:t>
            </a:r>
            <a:endParaRPr lang="en-US" sz="1200" dirty="0"/>
          </a:p>
        </p:txBody>
      </p:sp>
      <p:sp>
        <p:nvSpPr>
          <p:cNvPr id="142" name="Shape 137"/>
          <p:cNvSpPr/>
          <p:nvPr/>
        </p:nvSpPr>
        <p:spPr>
          <a:xfrm>
            <a:off x="27081036" y="11324463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43" name="Shape 138"/>
          <p:cNvSpPr/>
          <p:nvPr/>
        </p:nvSpPr>
        <p:spPr>
          <a:xfrm>
            <a:off x="25755156" y="11324463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25755156" y="11324463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150" dirty="0"/>
          </a:p>
        </p:txBody>
      </p:sp>
      <p:sp>
        <p:nvSpPr>
          <p:cNvPr id="145" name="Text 140"/>
          <p:cNvSpPr txBox="1"/>
          <p:nvPr/>
        </p:nvSpPr>
        <p:spPr>
          <a:xfrm>
            <a:off x="27081036" y="11324463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00" dirty="0"/>
          </a:p>
        </p:txBody>
      </p:sp>
      <p:sp>
        <p:nvSpPr>
          <p:cNvPr id="146" name="Shape 141"/>
          <p:cNvSpPr/>
          <p:nvPr/>
        </p:nvSpPr>
        <p:spPr>
          <a:xfrm>
            <a:off x="28772676" y="11365611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47" name="Text 142"/>
          <p:cNvSpPr txBox="1"/>
          <p:nvPr/>
        </p:nvSpPr>
        <p:spPr>
          <a:xfrm>
            <a:off x="28772676" y="11365611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48" name="Text 143"/>
          <p:cNvSpPr txBox="1"/>
          <p:nvPr/>
        </p:nvSpPr>
        <p:spPr>
          <a:xfrm>
            <a:off x="29687076" y="11324463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Sex, ancestry, smoking, histology</a:t>
            </a:r>
            <a:endParaRPr lang="en-US" sz="1200" dirty="0"/>
          </a:p>
        </p:txBody>
      </p:sp>
      <p:sp>
        <p:nvSpPr>
          <p:cNvPr id="149" name="Shape 144"/>
          <p:cNvSpPr/>
          <p:nvPr/>
        </p:nvSpPr>
        <p:spPr>
          <a:xfrm>
            <a:off x="27081036" y="11612499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0" name="Text 145"/>
          <p:cNvSpPr txBox="1"/>
          <p:nvPr/>
        </p:nvSpPr>
        <p:spPr>
          <a:xfrm>
            <a:off x="27081036" y="11612499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200" dirty="0"/>
          </a:p>
        </p:txBody>
      </p:sp>
      <p:sp>
        <p:nvSpPr>
          <p:cNvPr id="151" name="Shape 146"/>
          <p:cNvSpPr/>
          <p:nvPr/>
        </p:nvSpPr>
        <p:spPr>
          <a:xfrm>
            <a:off x="28772676" y="11653647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2A6FD6"/>
          </a:solidFill>
          <a:ln w="12700">
            <a:solidFill>
              <a:srgbClr val="2A6FD6"/>
            </a:solidFill>
            <a:prstDash val="solid"/>
          </a:ln>
        </p:spPr>
      </p:sp>
      <p:sp>
        <p:nvSpPr>
          <p:cNvPr id="152" name="Text 147"/>
          <p:cNvSpPr txBox="1"/>
          <p:nvPr/>
        </p:nvSpPr>
        <p:spPr>
          <a:xfrm>
            <a:off x="28772676" y="11653647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</a:t>
            </a:r>
            <a:endParaRPr lang="en-US" sz="1050" dirty="0"/>
          </a:p>
        </p:txBody>
      </p:sp>
      <p:sp>
        <p:nvSpPr>
          <p:cNvPr id="153" name="Text 148"/>
          <p:cNvSpPr txBox="1"/>
          <p:nvPr/>
        </p:nvSpPr>
        <p:spPr>
          <a:xfrm>
            <a:off x="29687076" y="11612499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CN locus + mutational burden</a:t>
            </a:r>
            <a:endParaRPr lang="en-US" sz="1200" dirty="0"/>
          </a:p>
        </p:txBody>
      </p:sp>
      <p:sp>
        <p:nvSpPr>
          <p:cNvPr id="154" name="Shape 149"/>
          <p:cNvSpPr/>
          <p:nvPr/>
        </p:nvSpPr>
        <p:spPr>
          <a:xfrm>
            <a:off x="27081036" y="11900535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55" name="Shape 150"/>
          <p:cNvSpPr/>
          <p:nvPr/>
        </p:nvSpPr>
        <p:spPr>
          <a:xfrm>
            <a:off x="25755156" y="11900535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56" name="Text 151"/>
          <p:cNvSpPr txBox="1"/>
          <p:nvPr/>
        </p:nvSpPr>
        <p:spPr>
          <a:xfrm>
            <a:off x="25755156" y="11900535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150" dirty="0"/>
          </a:p>
        </p:txBody>
      </p:sp>
      <p:sp>
        <p:nvSpPr>
          <p:cNvPr id="157" name="Text 152"/>
          <p:cNvSpPr txBox="1"/>
          <p:nvPr/>
        </p:nvSpPr>
        <p:spPr>
          <a:xfrm>
            <a:off x="27081036" y="11900535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00" dirty="0"/>
          </a:p>
        </p:txBody>
      </p:sp>
      <p:sp>
        <p:nvSpPr>
          <p:cNvPr id="158" name="Shape 153"/>
          <p:cNvSpPr/>
          <p:nvPr/>
        </p:nvSpPr>
        <p:spPr>
          <a:xfrm>
            <a:off x="28772676" y="11941683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59" name="Text 154"/>
          <p:cNvSpPr txBox="1"/>
          <p:nvPr/>
        </p:nvSpPr>
        <p:spPr>
          <a:xfrm>
            <a:off x="28772676" y="11941683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0" name="Text 155"/>
          <p:cNvSpPr txBox="1"/>
          <p:nvPr/>
        </p:nvSpPr>
        <p:spPr>
          <a:xfrm>
            <a:off x="29687076" y="11900535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routine panel data; cost analysis </a:t>
            </a:r>
            <a:pPr indent="0" marL="0">
              <a:buNone/>
            </a:pPr>
            <a:r>
              <a:rPr lang="en-US" sz="12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200" dirty="0"/>
          </a:p>
        </p:txBody>
      </p:sp>
      <p:sp>
        <p:nvSpPr>
          <p:cNvPr id="161" name="Shape 156"/>
          <p:cNvSpPr/>
          <p:nvPr/>
        </p:nvSpPr>
        <p:spPr>
          <a:xfrm>
            <a:off x="27081036" y="12188571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2" name="Text 157"/>
          <p:cNvSpPr txBox="1"/>
          <p:nvPr/>
        </p:nvSpPr>
        <p:spPr>
          <a:xfrm>
            <a:off x="27081036" y="12188571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1200" dirty="0"/>
          </a:p>
        </p:txBody>
      </p:sp>
      <p:sp>
        <p:nvSpPr>
          <p:cNvPr id="163" name="Shape 158"/>
          <p:cNvSpPr/>
          <p:nvPr/>
        </p:nvSpPr>
        <p:spPr>
          <a:xfrm>
            <a:off x="28772676" y="12229719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64" name="Text 159"/>
          <p:cNvSpPr txBox="1"/>
          <p:nvPr/>
        </p:nvSpPr>
        <p:spPr>
          <a:xfrm>
            <a:off x="28772676" y="12229719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65" name="Text 160"/>
          <p:cNvSpPr txBox="1"/>
          <p:nvPr/>
        </p:nvSpPr>
        <p:spPr>
          <a:xfrm>
            <a:off x="29687076" y="12188571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in seconds; end-to-end time </a:t>
            </a:r>
            <a:pPr indent="0" marL="0">
              <a:buNone/>
            </a:pPr>
            <a:r>
              <a:rPr lang="en-US" sz="120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</a:t>
            </a:r>
            <a:endParaRPr lang="en-US" sz="1200" dirty="0"/>
          </a:p>
        </p:txBody>
      </p:sp>
      <p:sp>
        <p:nvSpPr>
          <p:cNvPr id="166" name="Shape 161"/>
          <p:cNvSpPr/>
          <p:nvPr/>
        </p:nvSpPr>
        <p:spPr>
          <a:xfrm>
            <a:off x="27081036" y="12476607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67" name="Shape 162"/>
          <p:cNvSpPr/>
          <p:nvPr/>
        </p:nvSpPr>
        <p:spPr>
          <a:xfrm>
            <a:off x="25755156" y="12476607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68" name="Text 163"/>
          <p:cNvSpPr txBox="1"/>
          <p:nvPr/>
        </p:nvSpPr>
        <p:spPr>
          <a:xfrm>
            <a:off x="25755156" y="12476607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69" name="Text 164"/>
          <p:cNvSpPr txBox="1"/>
          <p:nvPr/>
        </p:nvSpPr>
        <p:spPr>
          <a:xfrm>
            <a:off x="27081036" y="12476607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</a:t>
            </a:r>
            <a:endParaRPr lang="en-US" sz="1200" dirty="0"/>
          </a:p>
        </p:txBody>
      </p:sp>
      <p:sp>
        <p:nvSpPr>
          <p:cNvPr id="170" name="Shape 165"/>
          <p:cNvSpPr/>
          <p:nvPr/>
        </p:nvSpPr>
        <p:spPr>
          <a:xfrm>
            <a:off x="28772676" y="12517755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BE3D5"/>
          </a:solidFill>
          <a:ln w="12700">
            <a:solidFill>
              <a:srgbClr val="C4501B"/>
            </a:solidFill>
            <a:prstDash val="solid"/>
          </a:ln>
        </p:spPr>
      </p:sp>
      <p:sp>
        <p:nvSpPr>
          <p:cNvPr id="171" name="Text 166"/>
          <p:cNvSpPr txBox="1"/>
          <p:nvPr/>
        </p:nvSpPr>
        <p:spPr>
          <a:xfrm>
            <a:off x="28772676" y="12517755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2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172" name="Text 167"/>
          <p:cNvSpPr txBox="1"/>
          <p:nvPr/>
        </p:nvSpPr>
        <p:spPr>
          <a:xfrm>
            <a:off x="29687076" y="12476607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hoc: ≈ ±0.05 AUROC with 334 test patients</a:t>
            </a:r>
            <a:endParaRPr lang="en-US" sz="1200" dirty="0"/>
          </a:p>
        </p:txBody>
      </p:sp>
      <p:sp>
        <p:nvSpPr>
          <p:cNvPr id="173" name="Shape 168"/>
          <p:cNvSpPr/>
          <p:nvPr/>
        </p:nvSpPr>
        <p:spPr>
          <a:xfrm>
            <a:off x="27081036" y="12764643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74" name="Text 169"/>
          <p:cNvSpPr txBox="1"/>
          <p:nvPr/>
        </p:nvSpPr>
        <p:spPr>
          <a:xfrm>
            <a:off x="27081036" y="12764643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NRI / DCA</a:t>
            </a:r>
            <a:endParaRPr lang="en-US" sz="1200" dirty="0"/>
          </a:p>
        </p:txBody>
      </p:sp>
      <p:sp>
        <p:nvSpPr>
          <p:cNvPr id="175" name="Shape 170"/>
          <p:cNvSpPr/>
          <p:nvPr/>
        </p:nvSpPr>
        <p:spPr>
          <a:xfrm>
            <a:off x="28772676" y="12805791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76" name="Text 171"/>
          <p:cNvSpPr txBox="1"/>
          <p:nvPr/>
        </p:nvSpPr>
        <p:spPr>
          <a:xfrm>
            <a:off x="28772676" y="12805791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77" name="Text 172"/>
          <p:cNvSpPr txBox="1"/>
          <p:nvPr/>
        </p:nvSpPr>
        <p:spPr>
          <a:xfrm>
            <a:off x="29687076" y="12764643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burden + locus model; triage threshold</a:t>
            </a:r>
            <a:endParaRPr lang="en-US" sz="1200" dirty="0"/>
          </a:p>
        </p:txBody>
      </p:sp>
      <p:sp>
        <p:nvSpPr>
          <p:cNvPr id="178" name="Shape 173"/>
          <p:cNvSpPr/>
          <p:nvPr/>
        </p:nvSpPr>
        <p:spPr>
          <a:xfrm>
            <a:off x="27081036" y="13052679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79" name="Shape 174"/>
          <p:cNvSpPr/>
          <p:nvPr/>
        </p:nvSpPr>
        <p:spPr>
          <a:xfrm>
            <a:off x="25755156" y="13052679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0" name="Text 175"/>
          <p:cNvSpPr txBox="1"/>
          <p:nvPr/>
        </p:nvSpPr>
        <p:spPr>
          <a:xfrm>
            <a:off x="25755156" y="13052679"/>
            <a:ext cx="13258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Post-adoption</a:t>
            </a:r>
            <a:endParaRPr lang="en-US" sz="1150" dirty="0"/>
          </a:p>
        </p:txBody>
      </p:sp>
      <p:sp>
        <p:nvSpPr>
          <p:cNvPr id="181" name="Text 176"/>
          <p:cNvSpPr txBox="1"/>
          <p:nvPr/>
        </p:nvSpPr>
        <p:spPr>
          <a:xfrm>
            <a:off x="27081036" y="13052679"/>
            <a:ext cx="169164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182" name="Shape 177"/>
          <p:cNvSpPr/>
          <p:nvPr/>
        </p:nvSpPr>
        <p:spPr>
          <a:xfrm>
            <a:off x="28772676" y="13093827"/>
            <a:ext cx="822960" cy="2057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6B7682"/>
            </a:solidFill>
            <a:prstDash val="solid"/>
          </a:ln>
        </p:spPr>
      </p:sp>
      <p:sp>
        <p:nvSpPr>
          <p:cNvPr id="183" name="Text 178"/>
          <p:cNvSpPr txBox="1"/>
          <p:nvPr/>
        </p:nvSpPr>
        <p:spPr>
          <a:xfrm>
            <a:off x="28772676" y="13093827"/>
            <a:ext cx="8229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</a:t>
            </a:r>
            <a:endParaRPr lang="en-US" sz="1050" dirty="0"/>
          </a:p>
        </p:txBody>
      </p:sp>
      <p:sp>
        <p:nvSpPr>
          <p:cNvPr id="184" name="Text 179"/>
          <p:cNvSpPr txBox="1"/>
          <p:nvPr/>
        </p:nvSpPr>
        <p:spPr>
          <a:xfrm>
            <a:off x="29687076" y="13052679"/>
            <a:ext cx="394142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with panel versions and populations</a:t>
            </a:r>
            <a:endParaRPr lang="en-US" sz="1200" dirty="0"/>
          </a:p>
        </p:txBody>
      </p:sp>
      <p:sp>
        <p:nvSpPr>
          <p:cNvPr id="185" name="Shape 180"/>
          <p:cNvSpPr/>
          <p:nvPr/>
        </p:nvSpPr>
        <p:spPr>
          <a:xfrm>
            <a:off x="27081036" y="13340715"/>
            <a:ext cx="6547464" cy="0"/>
          </a:xfrm>
          <a:prstGeom prst="line">
            <a:avLst/>
          </a:prstGeom>
          <a:noFill/>
          <a:ln w="9525">
            <a:solidFill>
              <a:srgbClr val="E0E4E8"/>
            </a:solidFill>
            <a:prstDash val="solid"/>
          </a:ln>
        </p:spPr>
      </p:sp>
      <p:sp>
        <p:nvSpPr>
          <p:cNvPr id="186" name="Shape 181"/>
          <p:cNvSpPr/>
          <p:nvPr/>
        </p:nvSpPr>
        <p:spPr>
          <a:xfrm>
            <a:off x="25755156" y="13340715"/>
            <a:ext cx="7873344" cy="0"/>
          </a:xfrm>
          <a:prstGeom prst="line">
            <a:avLst/>
          </a:prstGeom>
          <a:noFill/>
          <a:ln w="12700">
            <a:solidFill>
              <a:srgbClr val="12202E"/>
            </a:solidFill>
            <a:prstDash val="solid"/>
          </a:ln>
        </p:spPr>
      </p:sp>
      <p:sp>
        <p:nvSpPr>
          <p:cNvPr id="187" name="Text 182"/>
          <p:cNvSpPr txBox="1"/>
          <p:nvPr/>
        </p:nvSpPr>
        <p:spPr>
          <a:xfrm>
            <a:off x="25755156" y="13432155"/>
            <a:ext cx="7873344" cy="679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5. </a:t>
            </a:r>
            <a:pPr indent="0" marL="0">
              <a:buNone/>
            </a:pPr>
            <a:r>
              <a:rPr lang="en-US" sz="135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along the seven EBAI dimensions and validation requirements for class B. Replicate values from MSK-IMPACT 2017; [ ] to compute on MSK-CHORD. CN, copy number; DCA, decision-curve analysis; NRI, net reclassification improvement.</a:t>
            </a:r>
            <a:endParaRPr lang="en-US" sz="1350" dirty="0"/>
          </a:p>
        </p:txBody>
      </p:sp>
      <p:sp>
        <p:nvSpPr>
          <p:cNvPr id="188" name="Shape 183"/>
          <p:cNvSpPr/>
          <p:nvPr/>
        </p:nvSpPr>
        <p:spPr>
          <a:xfrm>
            <a:off x="25755156" y="14385988"/>
            <a:ext cx="7873344" cy="0"/>
          </a:xfrm>
          <a:prstGeom prst="line">
            <a:avLst/>
          </a:prstGeom>
          <a:noFill/>
          <a:ln w="28575">
            <a:solidFill>
              <a:srgbClr val="12202E"/>
            </a:solidFill>
            <a:prstDash val="solid"/>
          </a:ln>
        </p:spPr>
      </p:sp>
      <p:sp>
        <p:nvSpPr>
          <p:cNvPr id="189" name="Text 184"/>
          <p:cNvSpPr txBox="1"/>
          <p:nvPr/>
        </p:nvSpPr>
        <p:spPr>
          <a:xfrm>
            <a:off x="25755156" y="14477428"/>
            <a:ext cx="7873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22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 Discussion</a:t>
            </a:r>
            <a:endParaRPr lang="en-US" sz="3200" dirty="0"/>
          </a:p>
        </p:txBody>
      </p:sp>
      <p:sp>
        <p:nvSpPr>
          <p:cNvPr id="190" name="Text 185"/>
          <p:cNvSpPr txBox="1"/>
          <p:nvPr/>
        </p:nvSpPr>
        <p:spPr>
          <a:xfrm>
            <a:off x="25755156" y="15254668"/>
            <a:ext cx="7873344" cy="2516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panel predicts part of the unassayed genome; per-gene AUROC and simple baselines, not pooled AUROC alone, show how much.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is copy-number co-location and mutational burden; a generative model must add joint fidelity to justify its complexity.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EBAI class B: NPV 0.86 at 90% sensitivity does not support rule-out; use is enrichment, with confirmatory CGP.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12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independent multi-centre validation, fairness audit, DCA and post-deployment drift monitoring.</a:t>
            </a:r>
            <a:endParaRPr lang="en-US" sz="1650" dirty="0"/>
          </a:p>
        </p:txBody>
      </p:sp>
      <p:sp>
        <p:nvSpPr>
          <p:cNvPr id="191" name="Shape 186"/>
          <p:cNvSpPr/>
          <p:nvPr/>
        </p:nvSpPr>
        <p:spPr>
          <a:xfrm>
            <a:off x="571500" y="18336960"/>
            <a:ext cx="33057000" cy="0"/>
          </a:xfrm>
          <a:prstGeom prst="line">
            <a:avLst/>
          </a:prstGeom>
          <a:noFill/>
          <a:ln w="19050">
            <a:solidFill>
              <a:srgbClr val="12202E"/>
            </a:solidFill>
            <a:prstDash val="solid"/>
          </a:ln>
        </p:spPr>
      </p:sp>
      <p:sp>
        <p:nvSpPr>
          <p:cNvPr id="192" name="Text 187"/>
          <p:cNvSpPr txBox="1"/>
          <p:nvPr/>
        </p:nvSpPr>
        <p:spPr>
          <a:xfrm>
            <a:off x="571500" y="18474120"/>
            <a:ext cx="153809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Jee J, et al. Automated real-world data integration improves cancer outcome prediction. Nature 2024;636:728–36.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Zehir A, et al. Mutational landscape of metastatic cancer revealed from prospective clinical sequencing of 10,000 patients. Nat Med 2017;23:703–13.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Lipman Y, et al. Flow matching for generative modeling. ICLR 2023.   4. Collins GS, et al. TRIPOD+AI statement. BMJ 2024;385:e078378.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Aldea M, et al. ESMO basic requirements for AI-based biomarkers in oncology (EBAI). Ann Oncol 2026;37:414–25.</a:t>
            </a:r>
            <a:endParaRPr lang="en-US" sz="1250" dirty="0"/>
          </a:p>
        </p:txBody>
      </p:sp>
      <p:sp>
        <p:nvSpPr>
          <p:cNvPr id="193" name="Text 188"/>
          <p:cNvSpPr txBox="1"/>
          <p:nvPr/>
        </p:nvSpPr>
        <p:spPr>
          <a:xfrm>
            <a:off x="16336476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code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MSK-CHORD and msk_impact_2017 via cBioPortal. Code: </a:t>
            </a:r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[repository link]</a:t>
            </a:r>
            <a:endParaRPr lang="en-US" sz="1250" dirty="0"/>
          </a:p>
        </p:txBody>
      </p:sp>
      <p:sp>
        <p:nvSpPr>
          <p:cNvPr id="194" name="Text 189"/>
          <p:cNvSpPr txBox="1"/>
          <p:nvPr/>
        </p:nvSpPr>
        <p:spPr>
          <a:xfrm>
            <a:off x="24410988" y="18474120"/>
            <a:ext cx="7690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C3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Disclosures · Contact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[Conflict-of-interest statement]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341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[Corresponding author e-mail]</a:t>
            </a:r>
            <a:endParaRPr lang="en-US" sz="1250" dirty="0"/>
          </a:p>
        </p:txBody>
      </p:sp>
      <p:sp>
        <p:nvSpPr>
          <p:cNvPr id="195" name="Shape 190"/>
          <p:cNvSpPr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682"/>
            </a:solidFill>
            <a:prstDash val="dash"/>
          </a:ln>
        </p:spPr>
      </p:sp>
      <p:sp>
        <p:nvSpPr>
          <p:cNvPr id="196" name="Text 191"/>
          <p:cNvSpPr txBox="1"/>
          <p:nvPr/>
        </p:nvSpPr>
        <p:spPr>
          <a:xfrm>
            <a:off x="32485500" y="184741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4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 code]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ESMO poster P305 – genomic panel completion</dc:title>
  <dc:subject>PptxGenJS Presentation</dc:subject>
  <dc:creator>PptxGenJS</dc:creator>
  <cp:lastModifiedBy>PptxGenJS</cp:lastModifiedBy>
  <cp:revision>1</cp:revision>
  <dcterms:created xsi:type="dcterms:W3CDTF">2026-10-01T13:59:53Z</dcterms:created>
  <dcterms:modified xsi:type="dcterms:W3CDTF">2026-10-01T13:59:53Z</dcterms:modified>
</cp:coreProperties>
</file>