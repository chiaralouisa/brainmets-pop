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</p:sldIdLst>
  <p:sldSz cy="19800000" cx="34200000"/>
  <p:notesSz cx="19800000" cy="34200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56D2D5-0C8D-4605-BC88-D8D7B6A8A795}">
  <a:tblStyle styleId="{4B56D2D5-0C8D-4605-BC88-D8D7B6A8A79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572400" y="2682000"/>
            <a:ext cx="2088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L. Hempel</a:t>
            </a:r>
            <a:r>
              <a:rPr b="1" baseline="30000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, F. Capuano</a:t>
            </a:r>
            <a:r>
              <a:rPr b="1" baseline="30000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572400" y="540000"/>
            <a:ext cx="20880000" cy="19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0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Predicting Comprehensive Genomic Profiles from Targeted Panels with Generative Models</a:t>
            </a:r>
          </a:p>
        </p:txBody>
      </p:sp>
      <p:sp>
        <p:nvSpPr>
          <p:cNvPr id="18" name="Google Shape;18;p3"/>
          <p:cNvSpPr/>
          <p:nvPr/>
        </p:nvSpPr>
        <p:spPr>
          <a:xfrm>
            <a:off x="31255200" y="882000"/>
            <a:ext cx="2376000" cy="237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31255200" y="1152000"/>
            <a:ext cx="2376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D8E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8FD8E0"/>
                </a:solidFill>
                <a:latin typeface="Calibri"/>
                <a:ea typeface="Calibri"/>
                <a:cs typeface="Calibri"/>
                <a:sym typeface="Calibri"/>
              </a:rPr>
              <a:t>FPN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31255200" y="1494000"/>
            <a:ext cx="2376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P305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571500" y="3977640"/>
            <a:ext cx="33057000" cy="0"/>
          </a:xfrm>
          <a:prstGeom prst="straightConnector1">
            <a:avLst/>
          </a:prstGeom>
          <a:noFill/>
          <a:ln cap="flat" cmpd="sng" w="381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571500" y="4343400"/>
            <a:ext cx="7873344" cy="0"/>
          </a:xfrm>
          <a:prstGeom prst="straightConnector1">
            <a:avLst/>
          </a:prstGeom>
          <a:noFill/>
          <a:ln cap="flat" cmpd="sng" w="28575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3"/>
          <p:cNvSpPr txBox="1"/>
          <p:nvPr/>
        </p:nvSpPr>
        <p:spPr>
          <a:xfrm>
            <a:off x="571500" y="4434840"/>
            <a:ext cx="78733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7C8A"/>
                </a:solidFill>
                <a:latin typeface="Cambria"/>
                <a:ea typeface="Cambria"/>
                <a:cs typeface="Cambria"/>
                <a:sym typeface="Cambria"/>
              </a:rPr>
              <a:t>1  </a:t>
            </a:r>
            <a:r>
              <a:rPr b="1" i="0" lang="en-US" sz="32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Background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571500" y="5212080"/>
            <a:ext cx="7873344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70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Char char="●"/>
            </a:pPr>
            <a:r>
              <a:rPr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Comprehensive genomic profiling (CGP) guides treatment in NSCLC, but panel content, cost and turnaround time differ widely between institutions, and smaller targeted panels leave part of the tumour genome unmeasured.</a:t>
            </a:r>
          </a:p>
          <a:p>
            <a:pPr indent="-3270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Char char="●"/>
            </a:pPr>
            <a:r>
              <a:rPr b="1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EBAI class B. </a:t>
            </a:r>
            <a:r>
              <a:rPr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Under the ESMO basic requirements for AI-based biomarkers, a model that predicts an established biomarker from an input other than the gold-standard test (here, the smaller panel itself) is class B: higher risk than class A, intended to enrich a population for confirmatory testing or, only with a very high NPV, to rule it out, never to replace the genomic test.</a:t>
            </a:r>
          </a:p>
        </p:txBody>
      </p:sp>
      <p:sp>
        <p:nvSpPr>
          <p:cNvPr id="25" name="Google Shape;25;p3"/>
          <p:cNvSpPr txBox="1"/>
          <p:nvPr/>
        </p:nvSpPr>
        <p:spPr>
          <a:xfrm>
            <a:off x="571500" y="7656946"/>
            <a:ext cx="7873200" cy="12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Objective. </a:t>
            </a:r>
            <a:r>
              <a:rPr b="0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To learn the conditional distribution of alterations in genes absent from a targeted panel given the genes it measures, benchmark it against simple baselines, and evaluate it along the seven EBAI dimensions: comparator, performance, generalisability, fairness, explainability, cost and turnaround time.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571650" y="9084268"/>
            <a:ext cx="7873200" cy="0"/>
          </a:xfrm>
          <a:prstGeom prst="straightConnector1">
            <a:avLst/>
          </a:prstGeom>
          <a:noFill/>
          <a:ln cap="flat" cmpd="sng" w="28575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3"/>
          <p:cNvSpPr txBox="1"/>
          <p:nvPr/>
        </p:nvSpPr>
        <p:spPr>
          <a:xfrm>
            <a:off x="571650" y="9356221"/>
            <a:ext cx="787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7C8A"/>
                </a:solidFill>
                <a:latin typeface="Cambria"/>
                <a:ea typeface="Cambria"/>
                <a:cs typeface="Cambria"/>
                <a:sym typeface="Cambria"/>
              </a:rPr>
              <a:t>2  </a:t>
            </a:r>
            <a:r>
              <a:rPr b="1" i="0" lang="en-US" sz="32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Study design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71500" y="11211878"/>
            <a:ext cx="5314507" cy="566928"/>
          </a:xfrm>
          <a:prstGeom prst="rect">
            <a:avLst/>
          </a:prstGeom>
          <a:solidFill>
            <a:srgbClr val="0F7C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571500" y="11211878"/>
            <a:ext cx="5314507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IMPACT341 · 341 genes (input)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886007" y="11211878"/>
            <a:ext cx="2558837" cy="566928"/>
          </a:xfrm>
          <a:prstGeom prst="rect">
            <a:avLst/>
          </a:prstGeom>
          <a:solidFill>
            <a:srgbClr val="E9EAFB"/>
          </a:solidFill>
          <a:ln cap="flat" cmpd="sng" w="19050">
            <a:solidFill>
              <a:srgbClr val="5B5F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5886007" y="11211878"/>
            <a:ext cx="2558837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19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F3191"/>
                </a:solidFill>
                <a:latin typeface="Calibri"/>
                <a:ea typeface="Calibri"/>
                <a:cs typeface="Calibri"/>
                <a:sym typeface="Calibri"/>
              </a:rPr>
              <a:t>164 genes (target)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 txBox="1"/>
          <p:nvPr/>
        </p:nvSpPr>
        <p:spPr>
          <a:xfrm>
            <a:off x="571500" y="11888534"/>
            <a:ext cx="7873344" cy="442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Figure 1. </a:t>
            </a:r>
            <a:r>
              <a:rPr b="0" i="0" lang="en-US" sz="13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Task definition. IMPACT341 ⊂ IMPACT505; the 164 genes present only in IMPACT505 are masked from the input and predicted.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571500" y="12733592"/>
            <a:ext cx="7873344" cy="239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Table 1. </a:t>
            </a:r>
            <a:r>
              <a:rPr b="0" i="0" lang="en-US" sz="13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Cohort and target characteristics (MSK-CHORD).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" name="Google Shape;34;p3"/>
          <p:cNvGraphicFramePr/>
          <p:nvPr/>
        </p:nvGraphicFramePr>
        <p:xfrm>
          <a:off x="571500" y="130829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{4B56D2D5-0C8D-4605-BC88-D8D7B6A8A795}</a:tableStyleId>
              </a:tblPr>
              <a:tblGrid>
                <a:gridCol w="4881475"/>
                <a:gridCol w="29918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Patients, NSCLC, sequenced on IMPACT505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2,226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 genes (IMPACT341)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 genes (IMPACT505 \ IMPACT341)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Altered target gene–patient pairs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1.21%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Test-set patients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≈334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Patient-level split: train / validation / test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 / 15 / 15%*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5" name="Google Shape;35;p3"/>
          <p:cNvCxnSpPr/>
          <p:nvPr/>
        </p:nvCxnSpPr>
        <p:spPr>
          <a:xfrm>
            <a:off x="571500" y="13082969"/>
            <a:ext cx="7873344" cy="0"/>
          </a:xfrm>
          <a:prstGeom prst="straightConnector1">
            <a:avLst/>
          </a:prstGeom>
          <a:noFill/>
          <a:ln cap="flat" cmpd="sng" w="1905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3"/>
          <p:cNvCxnSpPr/>
          <p:nvPr/>
        </p:nvCxnSpPr>
        <p:spPr>
          <a:xfrm>
            <a:off x="571500" y="15387257"/>
            <a:ext cx="7873344" cy="0"/>
          </a:xfrm>
          <a:prstGeom prst="straightConnector1">
            <a:avLst/>
          </a:prstGeom>
          <a:noFill/>
          <a:ln cap="flat" cmpd="sng" w="1905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3"/>
          <p:cNvSpPr txBox="1"/>
          <p:nvPr/>
        </p:nvSpPr>
        <p:spPr>
          <a:xfrm>
            <a:off x="571500" y="15557181"/>
            <a:ext cx="7873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* </a:t>
            </a:r>
            <a:r>
              <a:rPr b="0" i="0" lang="en-US" sz="13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Test (15%, ≈334 patients) and validation (15%) as in the abstract; the remaining 70% trains the model. The abstract’s “75%” for training would sum to 105%.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580250" y="16008452"/>
            <a:ext cx="7873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Alteration encoding. </a:t>
            </a:r>
            <a:r>
              <a:rPr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Gene alterations were encoded as binary events comprising non-synonymous mutations and copy-number alterations.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None/>
            </a:pPr>
            <a:r>
              <a:rPr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Target: one binary event per gene and patient (any non-synonymous mutation, including variants of unknown significance, amplification or deep deletion; fusions and other structural variants not modelled).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None/>
            </a:pPr>
            <a:r>
              <a:rPr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Input: separate mutation, amplification and deletion indicators for the 341 assayed genes. One sample per patient. Genes not covered by a sample’s panel are treated as missing, never as wild type.</a:t>
            </a:r>
          </a:p>
        </p:txBody>
      </p:sp>
      <p:cxnSp>
        <p:nvCxnSpPr>
          <p:cNvPr id="39" name="Google Shape;39;p3"/>
          <p:cNvCxnSpPr/>
          <p:nvPr/>
        </p:nvCxnSpPr>
        <p:spPr>
          <a:xfrm>
            <a:off x="8966052" y="4343400"/>
            <a:ext cx="7873344" cy="0"/>
          </a:xfrm>
          <a:prstGeom prst="straightConnector1">
            <a:avLst/>
          </a:prstGeom>
          <a:noFill/>
          <a:ln cap="flat" cmpd="sng" w="28575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3"/>
          <p:cNvSpPr txBox="1"/>
          <p:nvPr/>
        </p:nvSpPr>
        <p:spPr>
          <a:xfrm>
            <a:off x="8966052" y="4434840"/>
            <a:ext cx="78733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7C8A"/>
                </a:solidFill>
                <a:latin typeface="Cambria"/>
                <a:ea typeface="Cambria"/>
                <a:cs typeface="Cambria"/>
                <a:sym typeface="Cambria"/>
              </a:rPr>
              <a:t>3  </a:t>
            </a:r>
            <a:r>
              <a:rPr b="1" i="0" lang="en-US" sz="32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Methods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8966052" y="5212080"/>
            <a:ext cx="7873344" cy="1489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3.1 Problem formulation. </a:t>
            </a:r>
            <a:r>
              <a:rPr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Given the observed IMPACT341 profile c, we learn the conditional distribution p(x₁ | c) over the 164 target genes. Binary targets are embedded as x₁ ∈ {−1,+1}¹⁶⁴ (continuous relaxation); generated profiles are binarised by sign. Data were split by patient into 70% training, 15% validation (all model and hyperparameter selection) and 15% test, evaluated once.</a:t>
            </a:r>
          </a:p>
        </p:txBody>
      </p:sp>
      <p:sp>
        <p:nvSpPr>
          <p:cNvPr id="42" name="Google Shape;42;p3"/>
          <p:cNvSpPr txBox="1"/>
          <p:nvPr/>
        </p:nvSpPr>
        <p:spPr>
          <a:xfrm>
            <a:off x="8966052" y="6930009"/>
            <a:ext cx="7873344" cy="762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3.2 Conditional flow matching. </a:t>
            </a:r>
            <a:r>
              <a:rPr b="0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 velocity field v</a:t>
            </a:r>
            <a:r>
              <a:rPr b="0" baseline="-25000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="0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, a neural network (architecture variants compared on the validation set), is regressed onto the straight-line path between Gaussian noise and data: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8966052" y="7857554"/>
            <a:ext cx="7873344" cy="96012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8966052" y="7967282"/>
            <a:ext cx="787334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700"/>
              <a:buFont typeface="Cambria"/>
              <a:buNone/>
            </a:pPr>
            <a:r>
              <a:rPr b="0" i="0" lang="en-US" sz="17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b="0" baseline="-25000" i="0" lang="en-US" sz="17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b="0" i="0" lang="en-US" sz="17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 = (1 − t) x</a:t>
            </a:r>
            <a:r>
              <a:rPr b="0" baseline="-25000" i="0" lang="en-US" sz="17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b="0" i="0" lang="en-US" sz="17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 + t x</a:t>
            </a:r>
            <a:r>
              <a:rPr b="0" baseline="-25000" i="0" lang="en-US" sz="17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b="0" i="0" lang="en-US" sz="17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,    x</a:t>
            </a:r>
            <a:r>
              <a:rPr b="0" baseline="-25000" i="0" lang="en-US" sz="17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b="0" i="0" lang="en-US" sz="17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 ~ 𝒩(0, I),    t ~ 𝒰(0, 1)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700"/>
              <a:buFont typeface="Cambria"/>
              <a:buNone/>
            </a:pPr>
            <a:r>
              <a:rPr b="0" i="0" lang="en-US" sz="17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ℒ(θ) = 𝔼 ‖ v</a:t>
            </a:r>
            <a:r>
              <a:rPr b="0" baseline="-25000" i="0" lang="en-US" sz="17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θ</a:t>
            </a:r>
            <a:r>
              <a:rPr b="0" i="0" lang="en-US" sz="17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(x</a:t>
            </a:r>
            <a:r>
              <a:rPr b="0" baseline="-25000" i="0" lang="en-US" sz="17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b="0" i="0" lang="en-US" sz="17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, t | c) − (x</a:t>
            </a:r>
            <a:r>
              <a:rPr b="0" baseline="-25000" i="0" lang="en-US" sz="17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b="0" i="0" lang="en-US" sz="17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 − x</a:t>
            </a:r>
            <a:r>
              <a:rPr b="0" baseline="-25000" i="0" lang="en-US" sz="17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b="0" i="0" lang="en-US" sz="17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) ‖²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8966052" y="9091994"/>
            <a:ext cx="2153105" cy="685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8966052" y="9091994"/>
            <a:ext cx="215310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baseline="-25000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~ 𝒩(0, I)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11119157" y="9091994"/>
            <a:ext cx="3840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11503205" y="9091994"/>
            <a:ext cx="2799037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 txBox="1"/>
          <p:nvPr/>
        </p:nvSpPr>
        <p:spPr>
          <a:xfrm>
            <a:off x="11503205" y="9091994"/>
            <a:ext cx="2799037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dx/dt = v</a:t>
            </a:r>
            <a:r>
              <a:rPr b="0" baseline="-2500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(x</a:t>
            </a:r>
            <a:r>
              <a:rPr b="0" baseline="-2500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t | c)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14302243" y="9091994"/>
            <a:ext cx="3840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14686291" y="9091994"/>
            <a:ext cx="2153105" cy="685800"/>
          </a:xfrm>
          <a:prstGeom prst="rect">
            <a:avLst/>
          </a:prstGeom>
          <a:solidFill>
            <a:srgbClr val="E9EAFB"/>
          </a:solidFill>
          <a:ln cap="flat" cmpd="sng" w="19050">
            <a:solidFill>
              <a:srgbClr val="5B5F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 txBox="1"/>
          <p:nvPr/>
        </p:nvSpPr>
        <p:spPr>
          <a:xfrm>
            <a:off x="14686291" y="9091994"/>
            <a:ext cx="215310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x̂</a:t>
            </a:r>
            <a:r>
              <a:rPr b="0" baseline="-25000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∈ ℝ</a:t>
            </a:r>
            <a:r>
              <a:rPr b="0" baseline="30000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164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0068320" y="9914954"/>
            <a:ext cx="5668808" cy="457200"/>
          </a:xfrm>
          <a:prstGeom prst="rect">
            <a:avLst/>
          </a:prstGeom>
          <a:solidFill>
            <a:srgbClr val="0F7C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 txBox="1"/>
          <p:nvPr/>
        </p:nvSpPr>
        <p:spPr>
          <a:xfrm>
            <a:off x="10068320" y="9914954"/>
            <a:ext cx="56688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conditioning c: observed IMPACT341 profile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 txBox="1"/>
          <p:nvPr/>
        </p:nvSpPr>
        <p:spPr>
          <a:xfrm>
            <a:off x="8966052" y="10481882"/>
            <a:ext cx="7873344" cy="442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Figure 2. </a:t>
            </a:r>
            <a:r>
              <a:rPr b="0" i="0" lang="en-US" sz="13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Sampling: the learned ODE, integrated numerically from t = 0 to 1, transports noise to a completed 164-gene profile conditioned on the observed panel.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8966052" y="11198923"/>
            <a:ext cx="7873344" cy="100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3.3 Probability read-out. </a:t>
            </a:r>
            <a:r>
              <a:rPr b="0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At t = 0, xₜ is independent of x₁, so v*(x₀, 0 | c) = 𝔼[x₁ | c] − x₀ and p̂ = ½(1 + x₀ + vθ(x₀, 0 | c)), averaged over K noise draws. This avoids the Monte Carlo ties that sample frequencies produce at ~1% prevalence.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8966052" y="12432602"/>
            <a:ext cx="7873344" cy="2457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3.4 Evaluation (EBAI). </a:t>
            </a:r>
            <a:r>
              <a:rPr b="0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Pre-specified primary endpoint: pooled AUROC. Secondary: per-gene AUROC (genes with ≥5 test events; prevalence-only = 0.50); AUPRC (chance = 0.012); calibration plot, slope, intercept, O:E and Brier skill; at the intended-use threshold for ≥1 altered target gene, sensitivity, specificity, PPV, NPV and LR±; NRI over the burden + locus model and decision-curve analysis; joint fidelity (energy score versus independent Bernoulli draws). Comparators (same splits): prevalence, burden + locus, L2 logistic regression; 95% CIs and paired differences by patient bootstrap. </a:t>
            </a:r>
            <a:endParaRPr b="0" i="0" sz="155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Sample size (post hoc; EBAI asks a priori): </a:t>
            </a:r>
            <a:r>
              <a:rPr b="0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≈334 test patients give a 95% CI half-width of ≈ ±0.05 for a patient-level AUROC of 0.79 (Hanley–McNeil, 43% prevalence assumed).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8966052" y="15119033"/>
            <a:ext cx="7873344" cy="762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3.5 External replicate. </a:t>
            </a:r>
            <a:r>
              <a:rPr b="0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MSK-IMPACT 2017 (cBioPortal): IMPACT341 → 69 IMPACT410-only genes, 1,215 NSCLC patients, 3 × 5-fold patient-level CV, AUROC within folds.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3"/>
          <p:cNvCxnSpPr/>
          <p:nvPr/>
        </p:nvCxnSpPr>
        <p:spPr>
          <a:xfrm>
            <a:off x="8966052" y="16110585"/>
            <a:ext cx="7873344" cy="0"/>
          </a:xfrm>
          <a:prstGeom prst="straightConnector1">
            <a:avLst/>
          </a:prstGeom>
          <a:noFill/>
          <a:ln cap="flat" cmpd="sng" w="28575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3"/>
          <p:cNvSpPr txBox="1"/>
          <p:nvPr/>
        </p:nvSpPr>
        <p:spPr>
          <a:xfrm>
            <a:off x="8966052" y="16202025"/>
            <a:ext cx="78733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7C8A"/>
                </a:solidFill>
                <a:latin typeface="Cambria"/>
                <a:ea typeface="Cambria"/>
                <a:cs typeface="Cambria"/>
                <a:sym typeface="Cambria"/>
              </a:rPr>
              <a:t>4  </a:t>
            </a:r>
            <a:r>
              <a:rPr b="1" i="0" lang="en-US" sz="32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Results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8966052" y="16979265"/>
            <a:ext cx="7873344" cy="100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4.1 Primary cohort. </a:t>
            </a:r>
            <a:r>
              <a:rPr b="0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Across architectures and training paradigms, the flow model reached a pooled test AUROC of 0.77–0.79, above the prevalence-only baseline in every variant. The abstract reports no other metric. </a:t>
            </a:r>
            <a:endParaRPr sz="155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Table 2 sets these gaps against what the replicate measures.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3"/>
          <p:cNvCxnSpPr/>
          <p:nvPr/>
        </p:nvCxnSpPr>
        <p:spPr>
          <a:xfrm>
            <a:off x="17360604" y="4343400"/>
            <a:ext cx="7873344" cy="0"/>
          </a:xfrm>
          <a:prstGeom prst="straightConnector1">
            <a:avLst/>
          </a:prstGeom>
          <a:noFill/>
          <a:ln cap="flat" cmpd="sng" w="28575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3"/>
          <p:cNvSpPr txBox="1"/>
          <p:nvPr/>
        </p:nvSpPr>
        <p:spPr>
          <a:xfrm>
            <a:off x="17360604" y="4480560"/>
            <a:ext cx="7873344" cy="442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Table 2. </a:t>
            </a:r>
            <a:r>
              <a:rPr b="0" i="0" lang="en-US" sz="13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Metrics reported for the MSK-CHORD flow model versus those measured in the replicate (L2 logistic regression, 3 × 5-fold CV; 95% CI). n.r., not reported.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" name="Google Shape;64;p3"/>
          <p:cNvGraphicFramePr/>
          <p:nvPr/>
        </p:nvGraphicFramePr>
        <p:xfrm>
          <a:off x="17360604" y="5033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{4B56D2D5-0C8D-4605-BC88-D8D7B6A8A795}</a:tableStyleId>
              </a:tblPr>
              <a:tblGrid>
                <a:gridCol w="3464275"/>
                <a:gridCol w="1574675"/>
                <a:gridCol w="283440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 (EBAI)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MSK-CHORD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Replicate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Pooled AUROC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0.77–0.79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0.778 (0.754–0.796)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Per-gene AUROC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A5A"/>
                        </a:buClr>
                        <a:buSzPts val="1400"/>
                        <a:buFont typeface="Calibri"/>
                        <a:buNone/>
                      </a:pPr>
                      <a:r>
                        <a:rPr i="1" lang="en-US" sz="1400" u="none" cap="none" strike="noStrike">
                          <a:solidFill>
                            <a:srgbClr val="3B4A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n.r.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0.728 (0.705–0.753)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AUPRC (chance ≈ 0.011)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A5A"/>
                        </a:buClr>
                        <a:buSzPts val="1400"/>
                        <a:buFont typeface="Calibri"/>
                        <a:buNone/>
                      </a:pPr>
                      <a:r>
                        <a:rPr i="1" lang="en-US" sz="1400" u="none" cap="none" strike="noStrike">
                          <a:solidFill>
                            <a:srgbClr val="3B4A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n.r.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0.114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Calibration slope · O:E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A5A"/>
                        </a:buClr>
                        <a:buSzPts val="1400"/>
                        <a:buFont typeface="Calibri"/>
                        <a:buNone/>
                      </a:pPr>
                      <a:r>
                        <a:rPr i="1" lang="en-US" sz="1400" u="none" cap="none" strike="noStrike">
                          <a:solidFill>
                            <a:srgbClr val="3B4A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n.r.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 · 1.08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Brier skill vs prevalence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A5A"/>
                        </a:buClr>
                        <a:buSzPts val="1400"/>
                        <a:buFont typeface="Calibri"/>
                        <a:buNone/>
                      </a:pPr>
                      <a:r>
                        <a:rPr i="1" lang="en-US" sz="1400" u="none" cap="none" strike="noStrike">
                          <a:solidFill>
                            <a:srgbClr val="3B4A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n.r.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NPV at 90% sensitivity*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A5A"/>
                        </a:buClr>
                        <a:buSzPts val="1400"/>
                        <a:buFont typeface="Calibri"/>
                        <a:buNone/>
                      </a:pPr>
                      <a:r>
                        <a:rPr i="1" lang="en-US" sz="1400" u="none" cap="none" strike="noStrike">
                          <a:solidFill>
                            <a:srgbClr val="3B4A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n.r.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 (LR− 0.22)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Joint fidelity (energy score)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A5A"/>
                        </a:buClr>
                        <a:buSzPts val="1400"/>
                        <a:buFont typeface="Calibri"/>
                        <a:buNone/>
                      </a:pPr>
                      <a:r>
                        <a:rPr i="1" lang="en-US" sz="1400" u="none" cap="none" strike="noStrike">
                          <a:solidFill>
                            <a:srgbClr val="3B4A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n.r.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applicable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0" marL="0">
                    <a:lnL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3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5" name="Google Shape;65;p3"/>
          <p:cNvCxnSpPr/>
          <p:nvPr/>
        </p:nvCxnSpPr>
        <p:spPr>
          <a:xfrm>
            <a:off x="17360604" y="5033010"/>
            <a:ext cx="7873344" cy="0"/>
          </a:xfrm>
          <a:prstGeom prst="straightConnector1">
            <a:avLst/>
          </a:prstGeom>
          <a:noFill/>
          <a:ln cap="flat" cmpd="sng" w="1905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3"/>
          <p:cNvCxnSpPr/>
          <p:nvPr/>
        </p:nvCxnSpPr>
        <p:spPr>
          <a:xfrm>
            <a:off x="17360604" y="5343906"/>
            <a:ext cx="7873344" cy="0"/>
          </a:xfrm>
          <a:prstGeom prst="straightConnector1">
            <a:avLst/>
          </a:prstGeom>
          <a:noFill/>
          <a:ln cap="flat" cmpd="sng" w="15875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3"/>
          <p:cNvCxnSpPr/>
          <p:nvPr/>
        </p:nvCxnSpPr>
        <p:spPr>
          <a:xfrm>
            <a:off x="17360604" y="7520178"/>
            <a:ext cx="7873344" cy="0"/>
          </a:xfrm>
          <a:prstGeom prst="straightConnector1">
            <a:avLst/>
          </a:prstGeom>
          <a:noFill/>
          <a:ln cap="flat" cmpd="sng" w="1905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3"/>
          <p:cNvSpPr txBox="1"/>
          <p:nvPr/>
        </p:nvSpPr>
        <p:spPr>
          <a:xfrm>
            <a:off x="17360604" y="7611618"/>
            <a:ext cx="7873344" cy="239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* </a:t>
            </a:r>
            <a:r>
              <a:rPr b="0" i="0" lang="en-US" sz="13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Patient level: ≥1 altered target gene (prevalence 43%).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17360604" y="8198739"/>
            <a:ext cx="7873344" cy="100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4.2 Benchmark on public data. </a:t>
            </a:r>
            <a:r>
              <a:rPr b="0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Pooled AUROC compares pairs across genes, so ranking genes by training frequency alone scores 0.715. Per gene, a 7-feature model matches 1,026-feature logistic regression (0.760 vs 0.728), and pan-cancer training adds +0.039 (95% CI 0.024–0.057; Figure 3).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7360604" y="9487281"/>
            <a:ext cx="146304" cy="146304"/>
          </a:xfrm>
          <a:prstGeom prst="ellipse">
            <a:avLst/>
          </a:prstGeom>
          <a:solidFill>
            <a:srgbClr val="0F7C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17580060" y="9432417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Pooled AUROC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9646604" y="9496425"/>
            <a:ext cx="128016" cy="128016"/>
          </a:xfrm>
          <a:prstGeom prst="rect">
            <a:avLst/>
          </a:prstGeom>
          <a:solidFill>
            <a:srgbClr val="5B5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19847772" y="9432417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Per-gene AUROC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22024044" y="9432417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Lines: 95% CI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17360604" y="9843897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Prevalence only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3"/>
          <p:cNvCxnSpPr/>
          <p:nvPr/>
        </p:nvCxnSpPr>
        <p:spPr>
          <a:xfrm>
            <a:off x="22544246" y="9981057"/>
            <a:ext cx="537377" cy="0"/>
          </a:xfrm>
          <a:prstGeom prst="straightConnector1">
            <a:avLst/>
          </a:prstGeom>
          <a:noFill/>
          <a:ln cap="flat" cmpd="sng" w="25400">
            <a:solidFill>
              <a:srgbClr val="0F7C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3"/>
          <p:cNvSpPr/>
          <p:nvPr/>
        </p:nvSpPr>
        <p:spPr>
          <a:xfrm>
            <a:off x="22759637" y="9903333"/>
            <a:ext cx="155448" cy="155448"/>
          </a:xfrm>
          <a:prstGeom prst="ellipse">
            <a:avLst/>
          </a:prstGeom>
          <a:solidFill>
            <a:srgbClr val="0F7C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23136487" y="9871329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0.715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0147532" y="10118217"/>
            <a:ext cx="128016" cy="128016"/>
          </a:xfrm>
          <a:prstGeom prst="rect">
            <a:avLst/>
          </a:prstGeom>
          <a:solidFill>
            <a:srgbClr val="5B5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20330412" y="10072497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0.500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17360604" y="10319385"/>
            <a:ext cx="7873344" cy="0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 txBox="1"/>
          <p:nvPr/>
        </p:nvSpPr>
        <p:spPr>
          <a:xfrm>
            <a:off x="17360604" y="10319385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Burden + locus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3"/>
          <p:cNvCxnSpPr/>
          <p:nvPr/>
        </p:nvCxnSpPr>
        <p:spPr>
          <a:xfrm>
            <a:off x="23081623" y="10456545"/>
            <a:ext cx="537377" cy="0"/>
          </a:xfrm>
          <a:prstGeom prst="straightConnector1">
            <a:avLst/>
          </a:prstGeom>
          <a:noFill/>
          <a:ln cap="flat" cmpd="sng" w="25400">
            <a:solidFill>
              <a:srgbClr val="0F7C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3"/>
          <p:cNvSpPr/>
          <p:nvPr/>
        </p:nvSpPr>
        <p:spPr>
          <a:xfrm>
            <a:off x="23309227" y="10378821"/>
            <a:ext cx="155448" cy="155448"/>
          </a:xfrm>
          <a:prstGeom prst="ellipse">
            <a:avLst/>
          </a:prstGeom>
          <a:solidFill>
            <a:srgbClr val="0F7C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23673864" y="10346817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0.760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3"/>
          <p:cNvCxnSpPr/>
          <p:nvPr/>
        </p:nvCxnSpPr>
        <p:spPr>
          <a:xfrm>
            <a:off x="23093836" y="10657713"/>
            <a:ext cx="598443" cy="0"/>
          </a:xfrm>
          <a:prstGeom prst="straightConnector1">
            <a:avLst/>
          </a:prstGeom>
          <a:noFill/>
          <a:ln cap="flat" cmpd="sng" w="25400">
            <a:solidFill>
              <a:srgbClr val="5B5FD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3"/>
          <p:cNvSpPr/>
          <p:nvPr/>
        </p:nvSpPr>
        <p:spPr>
          <a:xfrm>
            <a:off x="23322943" y="10593705"/>
            <a:ext cx="128016" cy="128016"/>
          </a:xfrm>
          <a:prstGeom prst="rect">
            <a:avLst/>
          </a:prstGeom>
          <a:solidFill>
            <a:srgbClr val="5B5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23747143" y="10547985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0.760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17360604" y="10794873"/>
            <a:ext cx="7873344" cy="0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 txBox="1"/>
          <p:nvPr/>
        </p:nvSpPr>
        <p:spPr>
          <a:xfrm>
            <a:off x="17360604" y="10794873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L2 logistic regression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3"/>
          <p:cNvCxnSpPr/>
          <p:nvPr/>
        </p:nvCxnSpPr>
        <p:spPr>
          <a:xfrm>
            <a:off x="23313672" y="10932033"/>
            <a:ext cx="512951" cy="0"/>
          </a:xfrm>
          <a:prstGeom prst="straightConnector1">
            <a:avLst/>
          </a:prstGeom>
          <a:noFill/>
          <a:ln cap="flat" cmpd="sng" w="25400">
            <a:solidFill>
              <a:srgbClr val="0F7C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3"/>
          <p:cNvSpPr/>
          <p:nvPr/>
        </p:nvSpPr>
        <p:spPr>
          <a:xfrm>
            <a:off x="23529063" y="10854309"/>
            <a:ext cx="155448" cy="155448"/>
          </a:xfrm>
          <a:prstGeom prst="ellipse">
            <a:avLst/>
          </a:prstGeom>
          <a:solidFill>
            <a:srgbClr val="0F7C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23881488" y="10822305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0.778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3"/>
          <p:cNvCxnSpPr/>
          <p:nvPr/>
        </p:nvCxnSpPr>
        <p:spPr>
          <a:xfrm>
            <a:off x="22715230" y="11133201"/>
            <a:ext cx="586230" cy="0"/>
          </a:xfrm>
          <a:prstGeom prst="straightConnector1">
            <a:avLst/>
          </a:prstGeom>
          <a:noFill/>
          <a:ln cap="flat" cmpd="sng" w="25400">
            <a:solidFill>
              <a:srgbClr val="5B5FD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3"/>
          <p:cNvSpPr/>
          <p:nvPr/>
        </p:nvSpPr>
        <p:spPr>
          <a:xfrm>
            <a:off x="22932123" y="11069193"/>
            <a:ext cx="128016" cy="128016"/>
          </a:xfrm>
          <a:prstGeom prst="rect">
            <a:avLst/>
          </a:prstGeom>
          <a:solidFill>
            <a:srgbClr val="5B5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23356323" y="11023473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0.728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3"/>
          <p:cNvCxnSpPr/>
          <p:nvPr/>
        </p:nvCxnSpPr>
        <p:spPr>
          <a:xfrm>
            <a:off x="17360604" y="11270361"/>
            <a:ext cx="7873344" cy="0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3"/>
          <p:cNvSpPr txBox="1"/>
          <p:nvPr/>
        </p:nvSpPr>
        <p:spPr>
          <a:xfrm>
            <a:off x="17360604" y="11270361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Pan-cancer logistic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3"/>
          <p:cNvCxnSpPr/>
          <p:nvPr/>
        </p:nvCxnSpPr>
        <p:spPr>
          <a:xfrm>
            <a:off x="23765558" y="11407521"/>
            <a:ext cx="464099" cy="0"/>
          </a:xfrm>
          <a:prstGeom prst="straightConnector1">
            <a:avLst/>
          </a:prstGeom>
          <a:noFill/>
          <a:ln cap="flat" cmpd="sng" w="25400">
            <a:solidFill>
              <a:srgbClr val="0F7C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3"/>
          <p:cNvSpPr/>
          <p:nvPr/>
        </p:nvSpPr>
        <p:spPr>
          <a:xfrm>
            <a:off x="23895457" y="11329797"/>
            <a:ext cx="155448" cy="155448"/>
          </a:xfrm>
          <a:prstGeom prst="ellipse">
            <a:avLst/>
          </a:prstGeom>
          <a:solidFill>
            <a:srgbClr val="0F7C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24284520" y="11297793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0.808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3"/>
          <p:cNvCxnSpPr/>
          <p:nvPr/>
        </p:nvCxnSpPr>
        <p:spPr>
          <a:xfrm>
            <a:off x="23154902" y="11608689"/>
            <a:ext cx="598443" cy="0"/>
          </a:xfrm>
          <a:prstGeom prst="straightConnector1">
            <a:avLst/>
          </a:prstGeom>
          <a:noFill/>
          <a:ln cap="flat" cmpd="sng" w="25400">
            <a:solidFill>
              <a:srgbClr val="5B5FD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3"/>
          <p:cNvSpPr/>
          <p:nvPr/>
        </p:nvSpPr>
        <p:spPr>
          <a:xfrm>
            <a:off x="23408435" y="11544681"/>
            <a:ext cx="128016" cy="128016"/>
          </a:xfrm>
          <a:prstGeom prst="rect">
            <a:avLst/>
          </a:prstGeom>
          <a:solidFill>
            <a:srgbClr val="5B5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23808209" y="11498961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0.767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3"/>
          <p:cNvCxnSpPr/>
          <p:nvPr/>
        </p:nvCxnSpPr>
        <p:spPr>
          <a:xfrm>
            <a:off x="17360604" y="11745849"/>
            <a:ext cx="7873344" cy="0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3"/>
          <p:cNvCxnSpPr/>
          <p:nvPr/>
        </p:nvCxnSpPr>
        <p:spPr>
          <a:xfrm>
            <a:off x="20211540" y="9843897"/>
            <a:ext cx="0" cy="1901952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7" name="Google Shape;107;p3"/>
          <p:cNvSpPr txBox="1"/>
          <p:nvPr/>
        </p:nvSpPr>
        <p:spPr>
          <a:xfrm>
            <a:off x="19937220" y="11791569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0.50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3"/>
          <p:cNvCxnSpPr/>
          <p:nvPr/>
        </p:nvCxnSpPr>
        <p:spPr>
          <a:xfrm>
            <a:off x="21432852" y="9843897"/>
            <a:ext cx="0" cy="1901952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9" name="Google Shape;109;p3"/>
          <p:cNvSpPr txBox="1"/>
          <p:nvPr/>
        </p:nvSpPr>
        <p:spPr>
          <a:xfrm>
            <a:off x="21158532" y="11791569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0.60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3"/>
          <p:cNvCxnSpPr/>
          <p:nvPr/>
        </p:nvCxnSpPr>
        <p:spPr>
          <a:xfrm>
            <a:off x="22654164" y="9843897"/>
            <a:ext cx="0" cy="1901952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1" name="Google Shape;111;p3"/>
          <p:cNvSpPr txBox="1"/>
          <p:nvPr/>
        </p:nvSpPr>
        <p:spPr>
          <a:xfrm>
            <a:off x="22379844" y="11791569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0.70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3"/>
          <p:cNvCxnSpPr/>
          <p:nvPr/>
        </p:nvCxnSpPr>
        <p:spPr>
          <a:xfrm>
            <a:off x="23875476" y="9843897"/>
            <a:ext cx="0" cy="1901952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3" name="Google Shape;113;p3"/>
          <p:cNvSpPr txBox="1"/>
          <p:nvPr/>
        </p:nvSpPr>
        <p:spPr>
          <a:xfrm>
            <a:off x="23601156" y="11791569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0.80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3"/>
          <p:cNvCxnSpPr/>
          <p:nvPr/>
        </p:nvCxnSpPr>
        <p:spPr>
          <a:xfrm>
            <a:off x="25096788" y="9843897"/>
            <a:ext cx="0" cy="1901952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5" name="Google Shape;115;p3"/>
          <p:cNvSpPr txBox="1"/>
          <p:nvPr/>
        </p:nvSpPr>
        <p:spPr>
          <a:xfrm>
            <a:off x="24822468" y="11791569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0.90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17360604" y="12111609"/>
            <a:ext cx="7873344" cy="442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Figure 3. </a:t>
            </a:r>
            <a:r>
              <a:rPr b="0" i="0" lang="en-US" sz="13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Replicate (n = 1,215): AUROC with patient-bootstrap 95% CI. Pan-cancer: trained on 7,773 patients with cancer type as covariate.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17360604" y="12828651"/>
            <a:ext cx="7873344" cy="1489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4.3 Simulated versus real input. </a:t>
            </a:r>
            <a:r>
              <a:rPr b="0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 167 patients sequenced on both panels, taking the input from the separate IMPACT341 assay instead of masking the IMPACT410 sample lowered pooled AUROC from 0.84 to 0.70 and per-gene AUROC from 0.80 to 0.61 (pan-cancer logistic regression). The paired samples also differ in specimen and time, so the gap combines assay shift and tumour heterogeneity.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17360604" y="14665452"/>
            <a:ext cx="7873344" cy="100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4.4 Sources of signal. </a:t>
            </a:r>
            <a:r>
              <a:rPr b="0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Amplifications were highly discriminable (AUROC 0.95), explained largely by co-amplification with neighbouring assayed genes (NFKBIA with NKX2-1 in 39/39 cases). Mutations reached 0.73, no better than three mutational-burden counts alone (Figure 4).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3"/>
          <p:cNvCxnSpPr/>
          <p:nvPr/>
        </p:nvCxnSpPr>
        <p:spPr>
          <a:xfrm>
            <a:off x="19520300" y="15930000"/>
            <a:ext cx="0" cy="1123199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3"/>
          <p:cNvSpPr txBox="1"/>
          <p:nvPr/>
        </p:nvSpPr>
        <p:spPr>
          <a:xfrm>
            <a:off x="19250360" y="17096400"/>
            <a:ext cx="54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cxnSp>
        <p:nvCxnSpPr>
          <p:cNvPr id="121" name="Google Shape;121;p3"/>
          <p:cNvCxnSpPr/>
          <p:nvPr/>
        </p:nvCxnSpPr>
        <p:spPr>
          <a:xfrm>
            <a:off x="20562760" y="15930000"/>
            <a:ext cx="0" cy="1123199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2" name="Google Shape;122;p3"/>
          <p:cNvSpPr txBox="1"/>
          <p:nvPr/>
        </p:nvSpPr>
        <p:spPr>
          <a:xfrm>
            <a:off x="20292820" y="17096400"/>
            <a:ext cx="54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/>
          </a:p>
        </p:txBody>
      </p:sp>
      <p:cxnSp>
        <p:nvCxnSpPr>
          <p:cNvPr id="123" name="Google Shape;123;p3"/>
          <p:cNvCxnSpPr/>
          <p:nvPr/>
        </p:nvCxnSpPr>
        <p:spPr>
          <a:xfrm>
            <a:off x="21605220" y="15930000"/>
            <a:ext cx="0" cy="1123199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4" name="Google Shape;124;p3"/>
          <p:cNvSpPr txBox="1"/>
          <p:nvPr/>
        </p:nvSpPr>
        <p:spPr>
          <a:xfrm>
            <a:off x="21335279" y="17096400"/>
            <a:ext cx="54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/>
          </a:p>
        </p:txBody>
      </p:sp>
      <p:cxnSp>
        <p:nvCxnSpPr>
          <p:cNvPr id="125" name="Google Shape;125;p3"/>
          <p:cNvCxnSpPr/>
          <p:nvPr/>
        </p:nvCxnSpPr>
        <p:spPr>
          <a:xfrm>
            <a:off x="22647679" y="15930000"/>
            <a:ext cx="0" cy="1123199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6" name="Google Shape;126;p3"/>
          <p:cNvSpPr txBox="1"/>
          <p:nvPr/>
        </p:nvSpPr>
        <p:spPr>
          <a:xfrm>
            <a:off x="22377739" y="17096400"/>
            <a:ext cx="54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0.8</a:t>
            </a:r>
            <a:endParaRPr/>
          </a:p>
        </p:txBody>
      </p:sp>
      <p:cxnSp>
        <p:nvCxnSpPr>
          <p:cNvPr id="127" name="Google Shape;127;p3"/>
          <p:cNvCxnSpPr/>
          <p:nvPr/>
        </p:nvCxnSpPr>
        <p:spPr>
          <a:xfrm>
            <a:off x="23690139" y="15930000"/>
            <a:ext cx="0" cy="1123199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8" name="Google Shape;128;p3"/>
          <p:cNvSpPr txBox="1"/>
          <p:nvPr/>
        </p:nvSpPr>
        <p:spPr>
          <a:xfrm>
            <a:off x="23420199" y="17096400"/>
            <a:ext cx="54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/>
          </a:p>
        </p:txBody>
      </p:sp>
      <p:cxnSp>
        <p:nvCxnSpPr>
          <p:cNvPr id="129" name="Google Shape;129;p3"/>
          <p:cNvCxnSpPr/>
          <p:nvPr/>
        </p:nvCxnSpPr>
        <p:spPr>
          <a:xfrm>
            <a:off x="24732599" y="15930000"/>
            <a:ext cx="0" cy="1123199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0" name="Google Shape;130;p3"/>
          <p:cNvSpPr txBox="1"/>
          <p:nvPr/>
        </p:nvSpPr>
        <p:spPr>
          <a:xfrm>
            <a:off x="24462659" y="17096400"/>
            <a:ext cx="54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17364456" y="15962400"/>
            <a:ext cx="2057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Deep deletions (n = 18)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19520300" y="15994800"/>
            <a:ext cx="2199589" cy="151200"/>
          </a:xfrm>
          <a:prstGeom prst="rect">
            <a:avLst/>
          </a:prstGeom>
          <a:solidFill>
            <a:srgbClr val="0F7C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21774756" y="15962400"/>
            <a:ext cx="648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0.711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17364456" y="16243200"/>
            <a:ext cx="2057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Mutations, burden only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19520300" y="16275600"/>
            <a:ext cx="2355958" cy="151200"/>
          </a:xfrm>
          <a:prstGeom prst="rect">
            <a:avLst/>
          </a:prstGeom>
          <a:solidFill>
            <a:srgbClr val="86C9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21931125" y="16243200"/>
            <a:ext cx="648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0.726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17364456" y="16524000"/>
            <a:ext cx="2057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Mutations (n = 646)</a:t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19520300" y="16556400"/>
            <a:ext cx="2376808" cy="151200"/>
          </a:xfrm>
          <a:prstGeom prst="rect">
            <a:avLst/>
          </a:prstGeom>
          <a:solidFill>
            <a:srgbClr val="0F7C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21951975" y="16524000"/>
            <a:ext cx="648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0.728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17364456" y="16804800"/>
            <a:ext cx="2057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Amplifications (n = 134)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19520300" y="16837200"/>
            <a:ext cx="4680644" cy="151200"/>
          </a:xfrm>
          <a:prstGeom prst="rect">
            <a:avLst/>
          </a:prstGeom>
          <a:solidFill>
            <a:srgbClr val="0F7C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24255811" y="16804800"/>
            <a:ext cx="648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0.949</a:t>
            </a:r>
            <a:endParaRPr/>
          </a:p>
        </p:txBody>
      </p:sp>
      <p:cxnSp>
        <p:nvCxnSpPr>
          <p:cNvPr id="143" name="Google Shape;143;p3"/>
          <p:cNvCxnSpPr/>
          <p:nvPr/>
        </p:nvCxnSpPr>
        <p:spPr>
          <a:xfrm>
            <a:off x="19520300" y="15930000"/>
            <a:ext cx="0" cy="1123199"/>
          </a:xfrm>
          <a:prstGeom prst="straightConnector1">
            <a:avLst/>
          </a:prstGeom>
          <a:noFill/>
          <a:ln cap="flat" cmpd="sng" w="12700">
            <a:solidFill>
              <a:srgbClr val="7B8A9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3"/>
          <p:cNvCxnSpPr/>
          <p:nvPr/>
        </p:nvCxnSpPr>
        <p:spPr>
          <a:xfrm>
            <a:off x="26863199" y="1602000"/>
            <a:ext cx="0" cy="935999"/>
          </a:xfrm>
          <a:prstGeom prst="straightConnector1">
            <a:avLst/>
          </a:prstGeom>
          <a:noFill/>
          <a:ln cap="flat" cmpd="sng" w="12700">
            <a:solidFill>
              <a:srgbClr val="C8D3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3"/>
          <p:cNvSpPr txBox="1"/>
          <p:nvPr/>
        </p:nvSpPr>
        <p:spPr>
          <a:xfrm>
            <a:off x="17360604" y="17435322"/>
            <a:ext cx="7873344" cy="442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Figure 4. </a:t>
            </a:r>
            <a:r>
              <a:rPr b="0" i="0" lang="en-US" sz="13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Replicate: per-gene AUROC by event type (positives-weighted mean; axis origin 0.50), pan-cancer logistic regression.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3"/>
          <p:cNvCxnSpPr/>
          <p:nvPr/>
        </p:nvCxnSpPr>
        <p:spPr>
          <a:xfrm>
            <a:off x="25755156" y="4343400"/>
            <a:ext cx="7873344" cy="0"/>
          </a:xfrm>
          <a:prstGeom prst="straightConnector1">
            <a:avLst/>
          </a:prstGeom>
          <a:noFill/>
          <a:ln cap="flat" cmpd="sng" w="28575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3"/>
          <p:cNvSpPr txBox="1"/>
          <p:nvPr/>
        </p:nvSpPr>
        <p:spPr>
          <a:xfrm>
            <a:off x="25755156" y="4434840"/>
            <a:ext cx="78733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7C8A"/>
                </a:solidFill>
                <a:latin typeface="Cambria"/>
                <a:ea typeface="Cambria"/>
                <a:cs typeface="Cambria"/>
                <a:sym typeface="Cambria"/>
              </a:rPr>
              <a:t>5  </a:t>
            </a:r>
            <a:r>
              <a:rPr b="1" i="0" lang="en-US" sz="32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EBAI assessment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25755156" y="5239512"/>
            <a:ext cx="7873344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 txBox="1"/>
          <p:nvPr/>
        </p:nvSpPr>
        <p:spPr>
          <a:xfrm>
            <a:off x="25864884" y="5239512"/>
            <a:ext cx="76538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EBAI class B · indirect measure of existing biomarkers · use: enrichment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25755156" y="5669280"/>
            <a:ext cx="132588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Essential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27081036" y="5669280"/>
            <a:ext cx="16916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Comparator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28772676" y="5710428"/>
            <a:ext cx="822960" cy="205740"/>
          </a:xfrm>
          <a:prstGeom prst="roundRect">
            <a:avLst>
              <a:gd fmla="val 17778" name="adj"/>
            </a:avLst>
          </a:prstGeom>
          <a:solidFill>
            <a:srgbClr val="0F7C8A"/>
          </a:solidFill>
          <a:ln cap="flat" cmpd="sng" w="12700">
            <a:solidFill>
              <a:srgbClr val="0F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28772676" y="5710428"/>
            <a:ext cx="8229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29687076" y="5669280"/>
            <a:ext cx="394142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IMPACT505 NGS on the same sample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3"/>
          <p:cNvCxnSpPr/>
          <p:nvPr/>
        </p:nvCxnSpPr>
        <p:spPr>
          <a:xfrm>
            <a:off x="27081036" y="5957316"/>
            <a:ext cx="6547464" cy="0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3"/>
          <p:cNvSpPr txBox="1"/>
          <p:nvPr/>
        </p:nvSpPr>
        <p:spPr>
          <a:xfrm>
            <a:off x="27081036" y="5957316"/>
            <a:ext cx="16916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Discrimination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28772676" y="5998464"/>
            <a:ext cx="822960" cy="205740"/>
          </a:xfrm>
          <a:prstGeom prst="roundRect">
            <a:avLst>
              <a:gd fmla="val 17778" name="adj"/>
            </a:avLst>
          </a:prstGeom>
          <a:solidFill>
            <a:srgbClr val="DDF0F2"/>
          </a:solidFill>
          <a:ln cap="flat" cmpd="sng" w="12700">
            <a:solidFill>
              <a:srgbClr val="86C9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28772676" y="5998464"/>
            <a:ext cx="8229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58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A5862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29687076" y="5957316"/>
            <a:ext cx="394142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Pooled AUROC 0.77–0.79; per gene n.r.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3"/>
          <p:cNvCxnSpPr/>
          <p:nvPr/>
        </p:nvCxnSpPr>
        <p:spPr>
          <a:xfrm>
            <a:off x="27081036" y="6245352"/>
            <a:ext cx="6547464" cy="0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3"/>
          <p:cNvSpPr txBox="1"/>
          <p:nvPr/>
        </p:nvSpPr>
        <p:spPr>
          <a:xfrm>
            <a:off x="27081036" y="6245352"/>
            <a:ext cx="16916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Operating point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28772676" y="6286500"/>
            <a:ext cx="822960" cy="205740"/>
          </a:xfrm>
          <a:prstGeom prst="roundRect">
            <a:avLst>
              <a:gd fmla="val 17778" name="adj"/>
            </a:avLst>
          </a:prstGeom>
          <a:solidFill>
            <a:srgbClr val="DDF0F2"/>
          </a:solidFill>
          <a:ln cap="flat" cmpd="sng" w="12700">
            <a:solidFill>
              <a:srgbClr val="86C9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28772676" y="6286500"/>
            <a:ext cx="8229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58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A5862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29687076" y="6245352"/>
            <a:ext cx="394142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Replicate: Se 0.90, NPV 0.86, LR− 0.22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3"/>
          <p:cNvCxnSpPr/>
          <p:nvPr/>
        </p:nvCxnSpPr>
        <p:spPr>
          <a:xfrm>
            <a:off x="27081036" y="6533388"/>
            <a:ext cx="6547464" cy="0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3"/>
          <p:cNvSpPr txBox="1"/>
          <p:nvPr/>
        </p:nvSpPr>
        <p:spPr>
          <a:xfrm>
            <a:off x="27081036" y="6533388"/>
            <a:ext cx="16916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Calibration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28772676" y="6574536"/>
            <a:ext cx="822960" cy="205740"/>
          </a:xfrm>
          <a:prstGeom prst="roundRect">
            <a:avLst>
              <a:gd fmla="val 17778" name="adj"/>
            </a:avLst>
          </a:prstGeom>
          <a:solidFill>
            <a:srgbClr val="DDF0F2"/>
          </a:solidFill>
          <a:ln cap="flat" cmpd="sng" w="12700">
            <a:solidFill>
              <a:srgbClr val="86C9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28772676" y="6574536"/>
            <a:ext cx="8229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58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A5862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29687076" y="6533388"/>
            <a:ext cx="394142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Replicate: slope 0.97, O:E 1.08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3"/>
          <p:cNvCxnSpPr/>
          <p:nvPr/>
        </p:nvCxnSpPr>
        <p:spPr>
          <a:xfrm>
            <a:off x="27081036" y="6821424"/>
            <a:ext cx="6547464" cy="0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3"/>
          <p:cNvSpPr txBox="1"/>
          <p:nvPr/>
        </p:nvSpPr>
        <p:spPr>
          <a:xfrm>
            <a:off x="27081036" y="6821424"/>
            <a:ext cx="16916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Indep. cohort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28772676" y="6862572"/>
            <a:ext cx="822960" cy="20574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12700">
            <a:solidFill>
              <a:srgbClr val="7B8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"/>
          <p:cNvSpPr txBox="1"/>
          <p:nvPr/>
        </p:nvSpPr>
        <p:spPr>
          <a:xfrm>
            <a:off x="28772676" y="6862572"/>
            <a:ext cx="8229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Not yet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 txBox="1"/>
          <p:nvPr/>
        </p:nvSpPr>
        <p:spPr>
          <a:xfrm>
            <a:off x="29687076" y="6821424"/>
            <a:ext cx="394142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Single institution; external cohort needed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3"/>
          <p:cNvCxnSpPr/>
          <p:nvPr/>
        </p:nvCxnSpPr>
        <p:spPr>
          <a:xfrm>
            <a:off x="27081036" y="7109460"/>
            <a:ext cx="6547464" cy="0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3"/>
          <p:cNvSpPr txBox="1"/>
          <p:nvPr/>
        </p:nvSpPr>
        <p:spPr>
          <a:xfrm>
            <a:off x="27081036" y="7109460"/>
            <a:ext cx="16916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Assay variation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28772676" y="7150608"/>
            <a:ext cx="822960" cy="205740"/>
          </a:xfrm>
          <a:prstGeom prst="roundRect">
            <a:avLst>
              <a:gd fmla="val 17778" name="adj"/>
            </a:avLst>
          </a:prstGeom>
          <a:solidFill>
            <a:srgbClr val="DDF0F2"/>
          </a:solidFill>
          <a:ln cap="flat" cmpd="sng" w="12700">
            <a:solidFill>
              <a:srgbClr val="86C9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28772676" y="7150608"/>
            <a:ext cx="8229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58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A5862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29687076" y="7109460"/>
            <a:ext cx="394142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Real IMPACT341 input: AUROC 0.84 → 0.70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3"/>
          <p:cNvCxnSpPr/>
          <p:nvPr/>
        </p:nvCxnSpPr>
        <p:spPr>
          <a:xfrm>
            <a:off x="27081036" y="7397496"/>
            <a:ext cx="6547464" cy="0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3"/>
          <p:cNvCxnSpPr/>
          <p:nvPr/>
        </p:nvCxnSpPr>
        <p:spPr>
          <a:xfrm>
            <a:off x="25755156" y="7397496"/>
            <a:ext cx="7873344" cy="0"/>
          </a:xfrm>
          <a:prstGeom prst="straightConnector1">
            <a:avLst/>
          </a:prstGeom>
          <a:noFill/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3"/>
          <p:cNvSpPr txBox="1"/>
          <p:nvPr/>
        </p:nvSpPr>
        <p:spPr>
          <a:xfrm>
            <a:off x="25755156" y="7397496"/>
            <a:ext cx="132588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Recommended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27081036" y="7397496"/>
            <a:ext cx="16916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Fairness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28772676" y="7438644"/>
            <a:ext cx="822960" cy="20574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12700">
            <a:solidFill>
              <a:srgbClr val="7B8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28772676" y="7438644"/>
            <a:ext cx="8229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Not yet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 txBox="1"/>
          <p:nvPr/>
        </p:nvSpPr>
        <p:spPr>
          <a:xfrm>
            <a:off x="29687076" y="7397496"/>
            <a:ext cx="394142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Sex, ancestry, smoking, histology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3"/>
          <p:cNvCxnSpPr/>
          <p:nvPr/>
        </p:nvCxnSpPr>
        <p:spPr>
          <a:xfrm>
            <a:off x="27081036" y="7685532"/>
            <a:ext cx="6547464" cy="0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3"/>
          <p:cNvSpPr txBox="1"/>
          <p:nvPr/>
        </p:nvSpPr>
        <p:spPr>
          <a:xfrm>
            <a:off x="27081036" y="7685532"/>
            <a:ext cx="16916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Explainability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28772676" y="7726680"/>
            <a:ext cx="822960" cy="205740"/>
          </a:xfrm>
          <a:prstGeom prst="roundRect">
            <a:avLst>
              <a:gd fmla="val 17778" name="adj"/>
            </a:avLst>
          </a:prstGeom>
          <a:solidFill>
            <a:srgbClr val="0F7C8A"/>
          </a:solidFill>
          <a:ln cap="flat" cmpd="sng" w="12700">
            <a:solidFill>
              <a:srgbClr val="0F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"/>
          <p:cNvSpPr txBox="1"/>
          <p:nvPr/>
        </p:nvSpPr>
        <p:spPr>
          <a:xfrm>
            <a:off x="28772676" y="7726680"/>
            <a:ext cx="8229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"/>
          <p:cNvSpPr txBox="1"/>
          <p:nvPr/>
        </p:nvSpPr>
        <p:spPr>
          <a:xfrm>
            <a:off x="29687076" y="7685532"/>
            <a:ext cx="394142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Ablation: CN locus + mutational burden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3"/>
          <p:cNvCxnSpPr/>
          <p:nvPr/>
        </p:nvCxnSpPr>
        <p:spPr>
          <a:xfrm>
            <a:off x="27081036" y="7973568"/>
            <a:ext cx="6547464" cy="0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3"/>
          <p:cNvCxnSpPr/>
          <p:nvPr/>
        </p:nvCxnSpPr>
        <p:spPr>
          <a:xfrm>
            <a:off x="25755156" y="7973568"/>
            <a:ext cx="7873344" cy="0"/>
          </a:xfrm>
          <a:prstGeom prst="straightConnector1">
            <a:avLst/>
          </a:prstGeom>
          <a:noFill/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3"/>
          <p:cNvSpPr txBox="1"/>
          <p:nvPr/>
        </p:nvSpPr>
        <p:spPr>
          <a:xfrm>
            <a:off x="25755156" y="7973568"/>
            <a:ext cx="132588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Additional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"/>
          <p:cNvSpPr txBox="1"/>
          <p:nvPr/>
        </p:nvSpPr>
        <p:spPr>
          <a:xfrm>
            <a:off x="27081036" y="7973568"/>
            <a:ext cx="16916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28772676" y="8014716"/>
            <a:ext cx="822960" cy="205740"/>
          </a:xfrm>
          <a:prstGeom prst="roundRect">
            <a:avLst>
              <a:gd fmla="val 17778" name="adj"/>
            </a:avLst>
          </a:prstGeom>
          <a:solidFill>
            <a:srgbClr val="DDF0F2"/>
          </a:solidFill>
          <a:ln cap="flat" cmpd="sng" w="12700">
            <a:solidFill>
              <a:srgbClr val="86C9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"/>
          <p:cNvSpPr txBox="1"/>
          <p:nvPr/>
        </p:nvSpPr>
        <p:spPr>
          <a:xfrm>
            <a:off x="28772676" y="8014716"/>
            <a:ext cx="8229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58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A5862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"/>
          <p:cNvSpPr txBox="1"/>
          <p:nvPr/>
        </p:nvSpPr>
        <p:spPr>
          <a:xfrm>
            <a:off x="29687076" y="7973568"/>
            <a:ext cx="394142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Reuses routine panel data; not costed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3"/>
          <p:cNvCxnSpPr/>
          <p:nvPr/>
        </p:nvCxnSpPr>
        <p:spPr>
          <a:xfrm>
            <a:off x="27081036" y="8261604"/>
            <a:ext cx="6547464" cy="0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3"/>
          <p:cNvSpPr txBox="1"/>
          <p:nvPr/>
        </p:nvSpPr>
        <p:spPr>
          <a:xfrm>
            <a:off x="27081036" y="8261604"/>
            <a:ext cx="16916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Turnaround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28772676" y="8302752"/>
            <a:ext cx="822960" cy="205740"/>
          </a:xfrm>
          <a:prstGeom prst="roundRect">
            <a:avLst>
              <a:gd fmla="val 17778" name="adj"/>
            </a:avLst>
          </a:prstGeom>
          <a:solidFill>
            <a:srgbClr val="DDF0F2"/>
          </a:solidFill>
          <a:ln cap="flat" cmpd="sng" w="12700">
            <a:solidFill>
              <a:srgbClr val="86C9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"/>
          <p:cNvSpPr txBox="1"/>
          <p:nvPr/>
        </p:nvSpPr>
        <p:spPr>
          <a:xfrm>
            <a:off x="28772676" y="8302752"/>
            <a:ext cx="8229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58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A5862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"/>
          <p:cNvSpPr txBox="1"/>
          <p:nvPr/>
        </p:nvSpPr>
        <p:spPr>
          <a:xfrm>
            <a:off x="29687076" y="8261604"/>
            <a:ext cx="394142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Inference in seconds; workflow not timed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3"/>
          <p:cNvCxnSpPr/>
          <p:nvPr/>
        </p:nvCxnSpPr>
        <p:spPr>
          <a:xfrm>
            <a:off x="27081036" y="8549640"/>
            <a:ext cx="6547464" cy="0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3"/>
          <p:cNvCxnSpPr/>
          <p:nvPr/>
        </p:nvCxnSpPr>
        <p:spPr>
          <a:xfrm>
            <a:off x="25755156" y="8549640"/>
            <a:ext cx="7873344" cy="0"/>
          </a:xfrm>
          <a:prstGeom prst="straightConnector1">
            <a:avLst/>
          </a:prstGeom>
          <a:noFill/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3"/>
          <p:cNvSpPr txBox="1"/>
          <p:nvPr/>
        </p:nvSpPr>
        <p:spPr>
          <a:xfrm>
            <a:off x="25755156" y="8549640"/>
            <a:ext cx="132588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"/>
          <p:cNvSpPr txBox="1"/>
          <p:nvPr/>
        </p:nvSpPr>
        <p:spPr>
          <a:xfrm>
            <a:off x="27081036" y="8549640"/>
            <a:ext cx="16916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Sample size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"/>
          <p:cNvSpPr/>
          <p:nvPr/>
        </p:nvSpPr>
        <p:spPr>
          <a:xfrm>
            <a:off x="28772676" y="8590788"/>
            <a:ext cx="822960" cy="205740"/>
          </a:xfrm>
          <a:prstGeom prst="roundRect">
            <a:avLst>
              <a:gd fmla="val 17778" name="adj"/>
            </a:avLst>
          </a:prstGeom>
          <a:solidFill>
            <a:srgbClr val="DDF0F2"/>
          </a:solidFill>
          <a:ln cap="flat" cmpd="sng" w="12700">
            <a:solidFill>
              <a:srgbClr val="86C9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"/>
          <p:cNvSpPr txBox="1"/>
          <p:nvPr/>
        </p:nvSpPr>
        <p:spPr>
          <a:xfrm>
            <a:off x="28772676" y="8590788"/>
            <a:ext cx="8229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58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A5862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"/>
          <p:cNvSpPr txBox="1"/>
          <p:nvPr/>
        </p:nvSpPr>
        <p:spPr>
          <a:xfrm>
            <a:off x="29687076" y="8549640"/>
            <a:ext cx="394142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Post hoc: ≈ ±0.05 AUROC with 334 test patients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3"/>
          <p:cNvCxnSpPr/>
          <p:nvPr/>
        </p:nvCxnSpPr>
        <p:spPr>
          <a:xfrm>
            <a:off x="27081036" y="8837676"/>
            <a:ext cx="6547464" cy="0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3"/>
          <p:cNvSpPr txBox="1"/>
          <p:nvPr/>
        </p:nvSpPr>
        <p:spPr>
          <a:xfrm>
            <a:off x="27081036" y="8837676"/>
            <a:ext cx="16916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NRI / DCA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"/>
          <p:cNvSpPr/>
          <p:nvPr/>
        </p:nvSpPr>
        <p:spPr>
          <a:xfrm>
            <a:off x="28772676" y="8878824"/>
            <a:ext cx="822960" cy="20574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12700">
            <a:solidFill>
              <a:srgbClr val="7B8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"/>
          <p:cNvSpPr txBox="1"/>
          <p:nvPr/>
        </p:nvSpPr>
        <p:spPr>
          <a:xfrm>
            <a:off x="28772676" y="8878824"/>
            <a:ext cx="8229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Not yet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"/>
          <p:cNvSpPr txBox="1"/>
          <p:nvPr/>
        </p:nvSpPr>
        <p:spPr>
          <a:xfrm>
            <a:off x="29687076" y="8837676"/>
            <a:ext cx="394142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Versus burden + locus model; triage threshold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3"/>
          <p:cNvCxnSpPr/>
          <p:nvPr/>
        </p:nvCxnSpPr>
        <p:spPr>
          <a:xfrm>
            <a:off x="27081036" y="9125712"/>
            <a:ext cx="6547464" cy="0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3"/>
          <p:cNvCxnSpPr/>
          <p:nvPr/>
        </p:nvCxnSpPr>
        <p:spPr>
          <a:xfrm>
            <a:off x="25755156" y="9125712"/>
            <a:ext cx="7873344" cy="0"/>
          </a:xfrm>
          <a:prstGeom prst="straightConnector1">
            <a:avLst/>
          </a:prstGeom>
          <a:noFill/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3"/>
          <p:cNvSpPr txBox="1"/>
          <p:nvPr/>
        </p:nvSpPr>
        <p:spPr>
          <a:xfrm>
            <a:off x="25755156" y="9125712"/>
            <a:ext cx="132588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Post-adoption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"/>
          <p:cNvSpPr txBox="1"/>
          <p:nvPr/>
        </p:nvSpPr>
        <p:spPr>
          <a:xfrm>
            <a:off x="27081036" y="9125712"/>
            <a:ext cx="16916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"/>
          <p:cNvSpPr/>
          <p:nvPr/>
        </p:nvSpPr>
        <p:spPr>
          <a:xfrm>
            <a:off x="28772676" y="9166860"/>
            <a:ext cx="822960" cy="20574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12700">
            <a:solidFill>
              <a:srgbClr val="7B8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"/>
          <p:cNvSpPr txBox="1"/>
          <p:nvPr/>
        </p:nvSpPr>
        <p:spPr>
          <a:xfrm>
            <a:off x="28772676" y="9166860"/>
            <a:ext cx="8229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Not yet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"/>
          <p:cNvSpPr txBox="1"/>
          <p:nvPr/>
        </p:nvSpPr>
        <p:spPr>
          <a:xfrm>
            <a:off x="29687076" y="9125712"/>
            <a:ext cx="394142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Drift with panel versions and populations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3"/>
          <p:cNvCxnSpPr/>
          <p:nvPr/>
        </p:nvCxnSpPr>
        <p:spPr>
          <a:xfrm>
            <a:off x="27081036" y="9413748"/>
            <a:ext cx="6547464" cy="0"/>
          </a:xfrm>
          <a:prstGeom prst="straightConnector1">
            <a:avLst/>
          </a:prstGeom>
          <a:noFill/>
          <a:ln cap="flat" cmpd="sng" w="9525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3"/>
          <p:cNvCxnSpPr/>
          <p:nvPr/>
        </p:nvCxnSpPr>
        <p:spPr>
          <a:xfrm>
            <a:off x="25755156" y="9413748"/>
            <a:ext cx="7873344" cy="0"/>
          </a:xfrm>
          <a:prstGeom prst="straightConnector1">
            <a:avLst/>
          </a:prstGeom>
          <a:noFill/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3"/>
          <p:cNvSpPr txBox="1"/>
          <p:nvPr/>
        </p:nvSpPr>
        <p:spPr>
          <a:xfrm>
            <a:off x="25755156" y="9505188"/>
            <a:ext cx="7873344" cy="645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Figure 5. </a:t>
            </a:r>
            <a:r>
              <a:rPr b="0" i="0" lang="en-US" sz="13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Assessment along the seven EBAI dimensions and validation requirements for class B. Replicate values from MSK-IMPACT 2017; n.r., not reported. CN, copy number; DCA, decision-curve analysis; NRI, net reclassification improvement.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3"/>
          <p:cNvCxnSpPr/>
          <p:nvPr/>
        </p:nvCxnSpPr>
        <p:spPr>
          <a:xfrm>
            <a:off x="25755156" y="10452735"/>
            <a:ext cx="7873344" cy="0"/>
          </a:xfrm>
          <a:prstGeom prst="straightConnector1">
            <a:avLst/>
          </a:prstGeom>
          <a:noFill/>
          <a:ln cap="flat" cmpd="sng" w="28575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3"/>
          <p:cNvSpPr txBox="1"/>
          <p:nvPr/>
        </p:nvSpPr>
        <p:spPr>
          <a:xfrm>
            <a:off x="25755156" y="10544175"/>
            <a:ext cx="78733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7C8A"/>
                </a:solidFill>
                <a:latin typeface="Cambria"/>
                <a:ea typeface="Cambria"/>
                <a:cs typeface="Cambria"/>
                <a:sym typeface="Cambria"/>
              </a:rPr>
              <a:t>6  </a:t>
            </a:r>
            <a:r>
              <a:rPr b="1" i="0" lang="en-US" sz="32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Limitations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"/>
          <p:cNvSpPr txBox="1"/>
          <p:nvPr/>
        </p:nvSpPr>
        <p:spPr>
          <a:xfrm>
            <a:off x="25755156" y="11337874"/>
            <a:ext cx="7873344" cy="255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A5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Study and clinical use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"/>
          <p:cNvSpPr txBox="1"/>
          <p:nvPr/>
        </p:nvSpPr>
        <p:spPr>
          <a:xfrm>
            <a:off x="25755156" y="11672201"/>
            <a:ext cx="787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None/>
            </a:pPr>
            <a:r>
              <a:rPr b="1" i="0" lang="en-US" sz="14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Evaluation. </a:t>
            </a:r>
            <a:r>
              <a:rPr i="0" lang="en-US" sz="14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Single 15% test split; pooled AUROC without CI; no per-gene AUROC, AUPRC, calibration or joint-fidelity metric; architecture variants unspecified; split stated as 75/15/15%.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None/>
            </a:pPr>
            <a:r>
              <a:rPr b="1" i="0" lang="en-US" sz="14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Validity. </a:t>
            </a:r>
            <a:r>
              <a:rPr i="0" lang="en-US" sz="14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Simulated masking of one IMPACT505 assay; single institution; no independent or real paired-assay cohort. Replicate values (Table 2, Figures 3–4) come from logistic regression on MSK data, not the flow model.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None/>
            </a:pPr>
            <a:r>
              <a:rPr b="1" i="0" lang="en-US" sz="14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Actionability. </a:t>
            </a:r>
            <a:r>
              <a:rPr i="0" lang="en-US" sz="14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Binary gene-level events carry no variant level (e.g. KRAS G12C) and no ESCAT tier; fusions (ALK, ROS1, RET, NTRK, MET ex14), the most actionable NSCLC class, are not modelled. No treatment decision can rest on a prediction.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None/>
            </a:pPr>
            <a:r>
              <a:rPr b="1" i="0" lang="en-US" sz="14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Confirmation burden. </a:t>
            </a:r>
            <a:r>
              <a:rPr i="0" lang="en-US" sz="14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At ~1% prevalence most predicted positives are false (replicate PPV 0.02–0.05) and NPV 0.86 still misses targets; every result needs confirmatory CGP, with its tissue, cost and delay.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None/>
            </a:pPr>
            <a:r>
              <a:rPr b="1" i="0" lang="en-US" sz="14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Clinical utility. </a:t>
            </a:r>
            <a:r>
              <a:rPr i="0" lang="en-US" sz="14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 evidence that triage changes time to treatment, therapy choice or survival; no decision-curve analysis or prospective silent trial.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None/>
            </a:pPr>
            <a:r>
              <a:rPr b="1" i="0" lang="en-US" sz="14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Population and assay. </a:t>
            </a:r>
            <a:r>
              <a:rPr i="0" lang="en-US" sz="14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Single tertiary centre; stage, treatment line, prior TKI exposure, histology, smoking, purity and primary vs metastatic site not stratified; matched-normal pipeline differs from tumour-only external panels.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None/>
            </a:pPr>
            <a:r>
              <a:rPr b="1" i="0" lang="en-US" sz="14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Regulatory. </a:t>
            </a:r>
            <a:r>
              <a:rPr i="0" lang="en-US" sz="14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Not CE-IVD or FDA cleared; an in-house IVDR device without a monitoring plan.</a:t>
            </a:r>
          </a:p>
        </p:txBody>
      </p:sp>
      <p:cxnSp>
        <p:nvCxnSpPr>
          <p:cNvPr id="230" name="Google Shape;230;p3"/>
          <p:cNvCxnSpPr/>
          <p:nvPr/>
        </p:nvCxnSpPr>
        <p:spPr>
          <a:xfrm>
            <a:off x="25755156" y="15915208"/>
            <a:ext cx="7873344" cy="0"/>
          </a:xfrm>
          <a:prstGeom prst="straightConnector1">
            <a:avLst/>
          </a:prstGeom>
          <a:noFill/>
          <a:ln cap="flat" cmpd="sng" w="28575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3"/>
          <p:cNvSpPr txBox="1"/>
          <p:nvPr/>
        </p:nvSpPr>
        <p:spPr>
          <a:xfrm>
            <a:off x="25755156" y="16006648"/>
            <a:ext cx="78733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7C8A"/>
                </a:solidFill>
                <a:latin typeface="Cambria"/>
                <a:ea typeface="Cambria"/>
                <a:cs typeface="Cambria"/>
                <a:sym typeface="Cambria"/>
              </a:rPr>
              <a:t>7  </a:t>
            </a:r>
            <a:r>
              <a:rPr b="1" i="0" lang="en-US" sz="32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Conclusions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"/>
          <p:cNvSpPr txBox="1"/>
          <p:nvPr/>
        </p:nvSpPr>
        <p:spPr>
          <a:xfrm>
            <a:off x="25755156" y="16800347"/>
            <a:ext cx="7873344" cy="16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 targeted panel predicts part of the unassayed genome, mainly through copy-number co-location and mutational burden.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As an EBAI class B biomarker its use is enrichment for confirmatory CGP, not rule-out (replicate NPV 0.86).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Next: per-gene and calibration metrics, an independent multi-centre cohort and a fairness audit.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3"/>
          <p:cNvCxnSpPr/>
          <p:nvPr/>
        </p:nvCxnSpPr>
        <p:spPr>
          <a:xfrm>
            <a:off x="571500" y="18336960"/>
            <a:ext cx="33057000" cy="0"/>
          </a:xfrm>
          <a:prstGeom prst="straightConnector1">
            <a:avLst/>
          </a:prstGeom>
          <a:noFill/>
          <a:ln cap="flat" cmpd="sng" w="1905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3"/>
          <p:cNvSpPr txBox="1"/>
          <p:nvPr/>
        </p:nvSpPr>
        <p:spPr>
          <a:xfrm>
            <a:off x="571500" y="18474120"/>
            <a:ext cx="1614445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44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44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1. Jee J, et al. Automated real-world data integration improves cancer outcome prediction. Nature 2024;636:728–36.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44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2. Zehir A, et al. Mutational landscape of metastatic cancer revealed from prospective clinical sequencing of 10,000 patients. Nat Med 2017;23:703–13.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44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3. Lipman Y, et al. Flow matching for generative modeling. ICLR 2023.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44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4. Collins GS, et al. TRIPOD+AI statement. BMJ 2024;385:e078378.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44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5. Aldea M, et al. ESMO basic requirements for AI-based biomarkers in oncology (EBAI). Ann Oncol 2026;37:414–25.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"/>
          <p:cNvSpPr txBox="1"/>
          <p:nvPr/>
        </p:nvSpPr>
        <p:spPr>
          <a:xfrm>
            <a:off x="17352000" y="18475200"/>
            <a:ext cx="78732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44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Data and code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44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MSK-CHORD and msk_impact_2017 via cBioPortal. Code and split IDs: github.com/chiaralouisa/brainmets-POP, available on request.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"/>
          <p:cNvSpPr txBox="1"/>
          <p:nvPr/>
        </p:nvSpPr>
        <p:spPr>
          <a:xfrm>
            <a:off x="25754400" y="18475200"/>
            <a:ext cx="78732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44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Disclosures · Contact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44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The authors declare no conflicts of interest.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44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L. Hempel · louisa.hempel@googlemail.com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"/>
          <p:cNvSpPr txBox="1"/>
          <p:nvPr/>
        </p:nvSpPr>
        <p:spPr>
          <a:xfrm>
            <a:off x="572400" y="3150000"/>
            <a:ext cx="2160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baseline="30000" i="0" lang="en-US" sz="16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6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 Medical Department, Sigmund Freud University Vienna, Vienna, Austria     </a:t>
            </a:r>
            <a:r>
              <a:rPr b="0" baseline="30000" i="0" lang="en-US" sz="16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600" u="none" cap="none" strike="noStrike">
                <a:solidFill>
                  <a:srgbClr val="3B4A5A"/>
                </a:solidFill>
                <a:latin typeface="Calibri"/>
                <a:ea typeface="Calibri"/>
                <a:cs typeface="Calibri"/>
                <a:sym typeface="Calibri"/>
              </a:rPr>
              <a:t> Oxford Robotics Institute, University of Oxford, Oxford, United Kingdom</a:t>
            </a:r>
            <a:endParaRPr/>
          </a:p>
        </p:txBody>
      </p:sp>
      <p:pic>
        <p:nvPicPr>
          <p:cNvPr descr="ESMO logo" id="238" name="Google Shape;23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45633" y="1655999"/>
            <a:ext cx="3077566" cy="82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03199" y="1458000"/>
            <a:ext cx="1224000" cy="12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167200" y="1458000"/>
            <a:ext cx="1224000" cy="12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"/>
          <p:cNvSpPr txBox="1"/>
          <p:nvPr/>
        </p:nvSpPr>
        <p:spPr>
          <a:xfrm>
            <a:off x="572400" y="9862408"/>
            <a:ext cx="7566000" cy="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Font typeface="Calibri"/>
              <a:buChar char="●"/>
            </a:pPr>
            <a:r>
              <a:rPr lang="en-US" sz="1550">
                <a:latin typeface="Calibri"/>
                <a:ea typeface="Calibri"/>
                <a:cs typeface="Calibri"/>
                <a:sym typeface="Calibri"/>
              </a:rPr>
              <a:t>NSCLC cases from the MSK-CHORD cohort with MSK-IMPACT sequencing were analysed.</a:t>
            </a: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Font typeface="Calibri"/>
              <a:buChar char="●"/>
            </a:pPr>
            <a:r>
              <a:rPr lang="en-US" sz="1550">
                <a:latin typeface="Calibri"/>
                <a:ea typeface="Calibri"/>
                <a:cs typeface="Calibri"/>
                <a:sym typeface="Calibri"/>
              </a:rPr>
              <a:t>The completion task: predict the larger IMPACT505 panel (505 genes) from the smaller IMPACT341 panel (341 genes), evaluated on the 164 genes present in IMPACT505 but not in IMPACT341.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