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34200000" cy="19800000"/>
  <p:notesSz cx="19800000" cy="3420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AUROC</c:v>
                </c:pt>
              </c:strCache>
            </c:strRef>
          </c:tx>
          <c:spPr>
            <a:solidFill>
              <a:srgbClr val="2A6FD6"/>
            </a:solidFill>
            <a:effectLst/>
          </c:spPr>
          <c:invertIfNegative val="0"/>
          <c:dLbls>
            <c:numFmt formatCode="0.00" sourceLinked="0"/>
            <c:txPr>
              <a:bodyPr/>
              <a:lstStyle/>
              <a:p>
                <a:pPr>
                  <a:defRPr b="0" i="0" strike="noStrike" sz="1500" u="none">
                    <a:solidFill>
                      <a:srgbClr val="12202E"/>
                    </a:solidFill>
                    <a:latin typeface="Arial"/>
                  </a:defRPr>
                </a:pPr>
              </a:p>
            </c:txPr>
            <c:showLegendKey val="0"/>
            <c:showVal val="1"/>
            <c:showCatName val="0"/>
            <c:showSerName val="0"/>
            <c:showPercent val="0"/>
            <c:showBubbleSize val="0"/>
            <c:showLeaderLines val="0"/>
          </c:dLbls>
          <c:dPt>
            <c:idx val="0"/>
            <c:invertIfNegative val="0"/>
            <c:bubble3D val="0"/>
            <c:spPr>
              <a:solidFill>
                <a:srgbClr val="2A6FD6"/>
              </a:solidFill>
              <a:effectLst/>
            </c:spPr>
          </c:dPt>
          <c:dPt>
            <c:idx val="1"/>
            <c:invertIfNegative val="0"/>
            <c:bubble3D val="0"/>
            <c:spPr>
              <a:solidFill>
                <a:srgbClr val="2A6FD6"/>
              </a:solidFill>
              <a:effectLst/>
            </c:spPr>
          </c:dPt>
          <c:dPt>
            <c:idx val="2"/>
            <c:invertIfNegative val="0"/>
            <c:bubble3D val="0"/>
            <c:spPr>
              <a:solidFill>
                <a:srgbClr val="8FB3EA"/>
              </a:solidFill>
              <a:effectLst/>
            </c:spPr>
          </c:dPt>
          <c:dPt>
            <c:idx val="3"/>
            <c:invertIfNegative val="0"/>
            <c:bubble3D val="0"/>
            <c:spPr>
              <a:solidFill>
                <a:srgbClr val="2A6FD6"/>
              </a:solidFill>
              <a:effectLst/>
            </c:spPr>
          </c:dPt>
          <c:cat>
            <c:multiLvlStrRef>
              <c:f>Sheet1!$A$2:$A$5</c:f>
              <c:multiLvlStrCache>
                <c:ptCount val="4"/>
                <c:lvl>
                  <c:pt idx="0">
                    <c:v>Amplifications (134 events)</c:v>
                  </c:pt>
                  <c:pt idx="1">
                    <c:v>Mutations (646 events)</c:v>
                  </c:pt>
                  <c:pt idx="2">
                    <c:v>Mutations, burden only</c:v>
                  </c:pt>
                  <c:pt idx="3">
                    <c:v>Deep deletions (18 events)</c:v>
                  </c:pt>
                </c:lvl>
              </c:multiLvlStrCache>
            </c:multiLvlStrRef>
          </c:cat>
          <c:val>
            <c:numRef>
              <c:f>Sheet1!$B$2:$B$5</c:f>
              <c:numCache>
                <c:formatCode>General</c:formatCode>
                <c:ptCount val="4"/>
                <c:pt idx="0">
                  <c:v>0.949</c:v>
                </c:pt>
                <c:pt idx="1">
                  <c:v>0.728</c:v>
                </c:pt>
                <c:pt idx="2">
                  <c:v>0.726</c:v>
                </c:pt>
                <c:pt idx="3">
                  <c:v>0.711</c:v>
                </c:pt>
              </c:numCache>
            </c:numRef>
          </c:val>
        </c:ser>
        <c:dLbls>
          <c:numFmt formatCode="0.00" sourceLinked="0"/>
          <c:txPr>
            <a:bodyPr/>
            <a:lstStyle/>
            <a:p>
              <a:pPr>
                <a:defRPr b="0" i="0" strike="noStrike" sz="1500" u="none">
                  <a:solidFill>
                    <a:srgbClr val="12202E"/>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1"/>
          <c:min val="0.5"/>
        </c:scaling>
        <c:delete val="0"/>
        <c:axPos val="b"/>
        <c:majorGridlines>
          <c:spPr>
            <a:ln w="9525" cap="flat">
              <a:solidFill>
                <a:srgbClr val="E0E4E8"/>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3F4B57"/>
                </a:solidFill>
                <a:latin typeface="Calibri"/>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AUROC</c:v>
                </c:pt>
              </c:strCache>
            </c:strRef>
          </c:tx>
          <c:spPr>
            <a:solidFill>
              <a:srgbClr val="2A6FD6"/>
            </a:solidFill>
            <a:effectLst/>
          </c:spPr>
          <c:invertIfNegative val="0"/>
          <c:dLbls>
            <c:numFmt formatCode="0.00" sourceLinked="0"/>
            <c:txPr>
              <a:bodyPr/>
              <a:lstStyle/>
              <a:p>
                <a:pPr>
                  <a:defRPr b="0" i="0" strike="noStrike" sz="1500" u="none">
                    <a:solidFill>
                      <a:srgbClr val="12202E"/>
                    </a:solidFill>
                    <a:latin typeface="Arial"/>
                  </a:defRPr>
                </a:pPr>
              </a:p>
            </c:txPr>
            <c:showLegendKey val="0"/>
            <c:showVal val="1"/>
            <c:showCatName val="0"/>
            <c:showSerName val="0"/>
            <c:showPercent val="0"/>
            <c:showBubbleSize val="0"/>
            <c:showLeaderLines val="0"/>
          </c:dLbls>
          <c:dPt>
            <c:idx val="0"/>
            <c:invertIfNegative val="0"/>
            <c:bubble3D val="0"/>
            <c:spPr>
              <a:solidFill>
                <a:srgbClr val="2A6FD6"/>
              </a:solidFill>
              <a:effectLst/>
            </c:spPr>
          </c:dPt>
          <c:dPt>
            <c:idx val="1"/>
            <c:invertIfNegative val="0"/>
            <c:bubble3D val="0"/>
            <c:spPr>
              <a:solidFill>
                <a:srgbClr val="C4501B"/>
              </a:solidFill>
              <a:effectLst/>
            </c:spPr>
          </c:dPt>
          <c:dPt>
            <c:idx val="2"/>
            <c:invertIfNegative val="0"/>
            <c:bubble3D val="0"/>
            <c:spPr>
              <a:solidFill>
                <a:srgbClr val="2A6FD6"/>
              </a:solidFill>
              <a:effectLst/>
            </c:spPr>
          </c:dPt>
          <c:dPt>
            <c:idx val="3"/>
            <c:invertIfNegative val="0"/>
            <c:bubble3D val="0"/>
            <c:spPr>
              <a:solidFill>
                <a:srgbClr val="C4501B"/>
              </a:solidFill>
              <a:effectLst/>
            </c:spPr>
          </c:dPt>
          <c:cat>
            <c:multiLvlStrRef>
              <c:f>Sheet1!$A$2:$A$5</c:f>
              <c:multiLvlStrCache>
                <c:ptCount val="4"/>
                <c:lvl>
                  <c:pt idx="0">
                    <c:v>Masked panel, pooled</c:v>
                  </c:pt>
                  <c:pt idx="1">
                    <c:v>Real assay, pooled</c:v>
                  </c:pt>
                  <c:pt idx="2">
                    <c:v>Masked panel, per gene</c:v>
                  </c:pt>
                  <c:pt idx="3">
                    <c:v>Real assay, per gene</c:v>
                  </c:pt>
                </c:lvl>
              </c:multiLvlStrCache>
            </c:multiLvlStrRef>
          </c:cat>
          <c:val>
            <c:numRef>
              <c:f>Sheet1!$B$2:$B$5</c:f>
              <c:numCache>
                <c:formatCode>General</c:formatCode>
                <c:ptCount val="4"/>
                <c:pt idx="0">
                  <c:v>0.84</c:v>
                </c:pt>
                <c:pt idx="1">
                  <c:v>0.7</c:v>
                </c:pt>
                <c:pt idx="2">
                  <c:v>0.8</c:v>
                </c:pt>
                <c:pt idx="3">
                  <c:v>0.61</c:v>
                </c:pt>
              </c:numCache>
            </c:numRef>
          </c:val>
        </c:ser>
        <c:dLbls>
          <c:numFmt formatCode="0.00" sourceLinked="0"/>
          <c:txPr>
            <a:bodyPr/>
            <a:lstStyle/>
            <a:p>
              <a:pPr>
                <a:defRPr b="0" i="0" strike="noStrike" sz="1500" u="none">
                  <a:solidFill>
                    <a:srgbClr val="12202E"/>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1"/>
          <c:min val="0.5"/>
        </c:scaling>
        <c:delete val="0"/>
        <c:axPos val="b"/>
        <c:majorGridlines>
          <c:spPr>
            <a:ln w="9525" cap="flat">
              <a:solidFill>
                <a:srgbClr val="E0E4E8"/>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3F4B57"/>
                </a:solidFill>
                <a:latin typeface="Calibri"/>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71500" y="457200"/>
            <a:ext cx="29216520" cy="1965960"/>
          </a:xfrm>
          <a:prstGeom prst="rect">
            <a:avLst/>
          </a:prstGeom>
          <a:noFill/>
          <a:ln/>
        </p:spPr>
        <p:txBody>
          <a:bodyPr wrap="square" lIns="0" tIns="0" rIns="0" bIns="0" rtlCol="0" anchor="t"/>
          <a:lstStyle/>
          <a:p>
            <a:pPr indent="0" marL="0">
              <a:buNone/>
            </a:pPr>
            <a:r>
              <a:rPr lang="en-US" sz="4700" b="1" dirty="0">
                <a:solidFill>
                  <a:srgbClr val="12202E"/>
                </a:solidFill>
                <a:latin typeface="Cambria" pitchFamily="34" charset="0"/>
                <a:ea typeface="Cambria" pitchFamily="34" charset="-122"/>
                <a:cs typeface="Cambria" pitchFamily="34" charset="-120"/>
              </a:rPr>
              <a:t>Conditional flow matching for genomic panel completion: inferring IMPACT505 alterations from the IMPACT341 targeted panel in non-small cell lung cancer</a:t>
            </a:r>
            <a:endParaRPr lang="en-US" sz="4700" dirty="0"/>
          </a:p>
        </p:txBody>
      </p:sp>
      <p:sp>
        <p:nvSpPr>
          <p:cNvPr id="3" name="Text 1"/>
          <p:cNvSpPr txBox="1"/>
          <p:nvPr/>
        </p:nvSpPr>
        <p:spPr>
          <a:xfrm>
            <a:off x="571500" y="2560320"/>
            <a:ext cx="29216520" cy="411480"/>
          </a:xfrm>
          <a:prstGeom prst="rect">
            <a:avLst/>
          </a:prstGeom>
          <a:noFill/>
          <a:ln/>
        </p:spPr>
        <p:txBody>
          <a:bodyPr wrap="square" lIns="0" tIns="0" rIns="0" bIns="0" rtlCol="0" anchor="t"/>
          <a:lstStyle/>
          <a:p>
            <a:pPr indent="0" marL="0">
              <a:buNone/>
            </a:pPr>
            <a:r>
              <a:rPr lang="en-US" sz="2000" b="1" dirty="0">
                <a:solidFill>
                  <a:srgbClr val="12202E"/>
                </a:solidFill>
                <a:latin typeface="Calibri" pitchFamily="34" charset="0"/>
                <a:ea typeface="Calibri" pitchFamily="34" charset="-122"/>
                <a:cs typeface="Calibri" pitchFamily="34" charset="-120"/>
              </a:rPr>
              <a:t>Louisa Hempel</a:t>
            </a:r>
            <a:pPr indent="0" marL="0">
              <a:buNone/>
            </a:pPr>
            <a:r>
              <a:rPr lang="en-US" sz="2000" b="1" baseline="30000" dirty="0">
                <a:solidFill>
                  <a:srgbClr val="12202E"/>
                </a:solidFill>
                <a:latin typeface="Calibri" pitchFamily="34" charset="0"/>
                <a:ea typeface="Calibri" pitchFamily="34" charset="-122"/>
                <a:cs typeface="Calibri" pitchFamily="34" charset="-120"/>
              </a:rPr>
              <a:t>1</a:t>
            </a:r>
            <a:pPr indent="0" marL="0">
              <a:buNone/>
            </a:pPr>
            <a:r>
              <a:rPr lang="en-US" sz="2000" b="1" dirty="0">
                <a:solidFill>
                  <a:srgbClr val="12202E"/>
                </a:solidFill>
                <a:latin typeface="Calibri" pitchFamily="34" charset="0"/>
                <a:ea typeface="Calibri" pitchFamily="34" charset="-122"/>
                <a:cs typeface="Calibri" pitchFamily="34" charset="-120"/>
              </a:rPr>
              <a:t>, F. Capuano</a:t>
            </a:r>
            <a:pPr indent="0" marL="0">
              <a:buNone/>
            </a:pPr>
            <a:r>
              <a:rPr lang="en-US" sz="2000" b="1" baseline="30000" dirty="0">
                <a:solidFill>
                  <a:srgbClr val="12202E"/>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571500" y="3063240"/>
            <a:ext cx="29216520" cy="365760"/>
          </a:xfrm>
          <a:prstGeom prst="rect">
            <a:avLst/>
          </a:prstGeom>
          <a:noFill/>
          <a:ln/>
        </p:spPr>
        <p:txBody>
          <a:bodyPr wrap="square" lIns="0" tIns="0" rIns="0" bIns="0" rtlCol="0" anchor="t"/>
          <a:lstStyle/>
          <a:p>
            <a:pPr indent="0" marL="0">
              <a:buNone/>
            </a:pPr>
            <a:r>
              <a:rPr lang="en-US" sz="1500" baseline="30000" dirty="0">
                <a:solidFill>
                  <a:srgbClr val="3F4B57"/>
                </a:solidFill>
                <a:latin typeface="Calibri" pitchFamily="34" charset="0"/>
                <a:ea typeface="Calibri" pitchFamily="34" charset="-122"/>
                <a:cs typeface="Calibri" pitchFamily="34" charset="-120"/>
              </a:rPr>
              <a:t>1</a:t>
            </a:r>
            <a:pPr indent="0" marL="0">
              <a:buNone/>
            </a:pPr>
            <a:r>
              <a:rPr lang="en-US" sz="1500" dirty="0">
                <a:solidFill>
                  <a:srgbClr val="3F4B57"/>
                </a:solidFill>
                <a:latin typeface="Calibri" pitchFamily="34" charset="0"/>
                <a:ea typeface="Calibri" pitchFamily="34" charset="-122"/>
                <a:cs typeface="Calibri" pitchFamily="34" charset="-120"/>
              </a:rPr>
              <a:t>Medical Department, Sigmund Freud University Vienna, Vienna, Austria   ·   </a:t>
            </a:r>
            <a:pPr indent="0" marL="0">
              <a:buNone/>
            </a:pPr>
            <a:r>
              <a:rPr lang="en-US" sz="1500" baseline="30000" dirty="0">
                <a:solidFill>
                  <a:srgbClr val="3F4B57"/>
                </a:solidFill>
                <a:latin typeface="Calibri" pitchFamily="34" charset="0"/>
                <a:ea typeface="Calibri" pitchFamily="34" charset="-122"/>
                <a:cs typeface="Calibri" pitchFamily="34" charset="-120"/>
              </a:rPr>
              <a:t>2</a:t>
            </a:r>
            <a:pPr indent="0" marL="0">
              <a:buNone/>
            </a:pPr>
            <a:r>
              <a:rPr lang="en-US" sz="1500" dirty="0">
                <a:solidFill>
                  <a:srgbClr val="3F4B57"/>
                </a:solidFill>
                <a:latin typeface="Calibri" pitchFamily="34" charset="0"/>
                <a:ea typeface="Calibri" pitchFamily="34" charset="-122"/>
                <a:cs typeface="Calibri" pitchFamily="34" charset="-120"/>
              </a:rPr>
              <a:t>Oxford Robotics Institute, University of Oxford, Oxford, United Kingdom</a:t>
            </a:r>
            <a:endParaRPr lang="en-US" sz="1500" dirty="0"/>
          </a:p>
        </p:txBody>
      </p:sp>
      <p:sp>
        <p:nvSpPr>
          <p:cNvPr id="5" name="Shape 3"/>
          <p:cNvSpPr/>
          <p:nvPr/>
        </p:nvSpPr>
        <p:spPr>
          <a:xfrm>
            <a:off x="30336660" y="457200"/>
            <a:ext cx="3291840" cy="3200400"/>
          </a:xfrm>
          <a:prstGeom prst="rect">
            <a:avLst/>
          </a:prstGeom>
          <a:solidFill>
            <a:srgbClr val="12202E"/>
          </a:solidFill>
          <a:ln/>
        </p:spPr>
      </p:sp>
      <p:sp>
        <p:nvSpPr>
          <p:cNvPr id="6" name="Text 4"/>
          <p:cNvSpPr txBox="1"/>
          <p:nvPr/>
        </p:nvSpPr>
        <p:spPr>
          <a:xfrm>
            <a:off x="30336660" y="868680"/>
            <a:ext cx="3291840" cy="457200"/>
          </a:xfrm>
          <a:prstGeom prst="rect">
            <a:avLst/>
          </a:prstGeom>
          <a:noFill/>
          <a:ln/>
        </p:spPr>
        <p:txBody>
          <a:bodyPr wrap="square" lIns="0" tIns="0" rIns="0" bIns="0" rtlCol="0" anchor="t"/>
          <a:lstStyle/>
          <a:p>
            <a:pPr algn="ctr" indent="0" marL="0">
              <a:buNone/>
            </a:pPr>
            <a:r>
              <a:rPr lang="en-US" sz="2400" b="1" spc="600" kern="0" dirty="0">
                <a:solidFill>
                  <a:srgbClr val="FFFFFF"/>
                </a:solidFill>
                <a:latin typeface="Calibri" pitchFamily="34" charset="0"/>
                <a:ea typeface="Calibri" pitchFamily="34" charset="-122"/>
                <a:cs typeface="Calibri" pitchFamily="34" charset="-120"/>
              </a:rPr>
              <a:t>FPN</a:t>
            </a:r>
            <a:endParaRPr lang="en-US" sz="2400" dirty="0"/>
          </a:p>
        </p:txBody>
      </p:sp>
      <p:sp>
        <p:nvSpPr>
          <p:cNvPr id="7" name="Text 5"/>
          <p:cNvSpPr txBox="1"/>
          <p:nvPr/>
        </p:nvSpPr>
        <p:spPr>
          <a:xfrm>
            <a:off x="30336660" y="1417320"/>
            <a:ext cx="3291840" cy="1737360"/>
          </a:xfrm>
          <a:prstGeom prst="rect">
            <a:avLst/>
          </a:prstGeom>
          <a:noFill/>
          <a:ln/>
        </p:spPr>
        <p:txBody>
          <a:bodyPr wrap="none" lIns="0" tIns="0" rIns="0" bIns="0" rtlCol="0" anchor="ctr"/>
          <a:lstStyle/>
          <a:p>
            <a:pPr algn="ctr" indent="0" marL="0">
              <a:buNone/>
            </a:pPr>
            <a:r>
              <a:rPr lang="en-US" sz="8000" b="1" dirty="0">
                <a:solidFill>
                  <a:srgbClr val="FFFFFF"/>
                </a:solidFill>
                <a:latin typeface="Calibri" pitchFamily="34" charset="0"/>
                <a:ea typeface="Calibri" pitchFamily="34" charset="-122"/>
                <a:cs typeface="Calibri" pitchFamily="34" charset="-120"/>
              </a:rPr>
              <a:t>P305</a:t>
            </a:r>
            <a:endParaRPr lang="en-US" sz="8000" dirty="0"/>
          </a:p>
        </p:txBody>
      </p:sp>
      <p:sp>
        <p:nvSpPr>
          <p:cNvPr id="8" name="Shape 6"/>
          <p:cNvSpPr/>
          <p:nvPr/>
        </p:nvSpPr>
        <p:spPr>
          <a:xfrm>
            <a:off x="571500" y="3977640"/>
            <a:ext cx="33057000" cy="0"/>
          </a:xfrm>
          <a:prstGeom prst="line">
            <a:avLst/>
          </a:prstGeom>
          <a:noFill/>
          <a:ln w="38100">
            <a:solidFill>
              <a:srgbClr val="12202E"/>
            </a:solidFill>
            <a:prstDash val="solid"/>
          </a:ln>
        </p:spPr>
      </p:sp>
      <p:sp>
        <p:nvSpPr>
          <p:cNvPr id="9" name="Shape 7"/>
          <p:cNvSpPr/>
          <p:nvPr/>
        </p:nvSpPr>
        <p:spPr>
          <a:xfrm>
            <a:off x="571500" y="4343400"/>
            <a:ext cx="7873344" cy="0"/>
          </a:xfrm>
          <a:prstGeom prst="line">
            <a:avLst/>
          </a:prstGeom>
          <a:noFill/>
          <a:ln w="28575">
            <a:solidFill>
              <a:srgbClr val="12202E"/>
            </a:solidFill>
            <a:prstDash val="solid"/>
          </a:ln>
        </p:spPr>
      </p:sp>
      <p:sp>
        <p:nvSpPr>
          <p:cNvPr id="10" name="Text 8"/>
          <p:cNvSpPr txBox="1"/>
          <p:nvPr/>
        </p:nvSpPr>
        <p:spPr>
          <a:xfrm>
            <a:off x="571500" y="4434840"/>
            <a:ext cx="7873344" cy="566928"/>
          </a:xfrm>
          <a:prstGeom prst="rect">
            <a:avLst/>
          </a:prstGeom>
          <a:noFill/>
          <a:ln/>
        </p:spPr>
        <p:txBody>
          <a:bodyPr wrap="square" lIns="0" tIns="0" rIns="0" bIns="0" rtlCol="0" anchor="t"/>
          <a:lstStyle/>
          <a:p>
            <a:pPr indent="0" marL="0">
              <a:buNone/>
            </a:pPr>
            <a:r>
              <a:rPr lang="en-US" sz="3200" b="1" dirty="0">
                <a:solidFill>
                  <a:srgbClr val="12202E"/>
                </a:solidFill>
                <a:latin typeface="Cambria" pitchFamily="34" charset="0"/>
                <a:ea typeface="Cambria" pitchFamily="34" charset="-122"/>
                <a:cs typeface="Cambria" pitchFamily="34" charset="-120"/>
              </a:rPr>
              <a:t>1  Introduction</a:t>
            </a:r>
            <a:endParaRPr lang="en-US" sz="3200" dirty="0"/>
          </a:p>
        </p:txBody>
      </p:sp>
      <p:sp>
        <p:nvSpPr>
          <p:cNvPr id="11" name="Text 9"/>
          <p:cNvSpPr txBox="1"/>
          <p:nvPr/>
        </p:nvSpPr>
        <p:spPr>
          <a:xfrm>
            <a:off x="571500" y="5212080"/>
            <a:ext cx="7873344" cy="1147826"/>
          </a:xfrm>
          <a:prstGeom prst="rect">
            <a:avLst/>
          </a:prstGeom>
          <a:noFill/>
          <a:ln/>
        </p:spPr>
        <p:txBody>
          <a:bodyPr wrap="square" lIns="0" tIns="0" rIns="0" bIns="0" rtlCol="0" anchor="t"/>
          <a:lstStyle/>
          <a:p>
            <a:pPr indent="0" marL="0">
              <a:buNone/>
            </a:pPr>
            <a:r>
              <a:rPr lang="en-US" sz="1750" dirty="0">
                <a:solidFill>
                  <a:srgbClr val="12202E"/>
                </a:solidFill>
                <a:latin typeface="Calibri" pitchFamily="34" charset="0"/>
                <a:ea typeface="Calibri" pitchFamily="34" charset="-122"/>
                <a:cs typeface="Calibri" pitchFamily="34" charset="-120"/>
              </a:rPr>
              <a:t>Comprehensive genomic profiling (CGP) underpins treatment selection in NSCLC, yet panel content varies widely across institutions and health-care systems. Smaller targeted panels reduce cost and turnaround time but leave part of the tumour genome unmeasured.</a:t>
            </a:r>
            <a:endParaRPr lang="en-US" sz="1750" dirty="0"/>
          </a:p>
        </p:txBody>
      </p:sp>
      <p:sp>
        <p:nvSpPr>
          <p:cNvPr id="12" name="Text 10"/>
          <p:cNvSpPr txBox="1"/>
          <p:nvPr/>
        </p:nvSpPr>
        <p:spPr>
          <a:xfrm>
            <a:off x="571500" y="6588506"/>
            <a:ext cx="7873344" cy="1147826"/>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Objective. </a:t>
            </a:r>
            <a:pPr indent="0" marL="0">
              <a:buNone/>
            </a:pPr>
            <a:r>
              <a:rPr lang="en-US" sz="1750" dirty="0">
                <a:solidFill>
                  <a:srgbClr val="12202E"/>
                </a:solidFill>
                <a:latin typeface="Calibri" pitchFamily="34" charset="0"/>
                <a:ea typeface="Calibri" pitchFamily="34" charset="-122"/>
                <a:cs typeface="Calibri" pitchFamily="34" charset="-120"/>
              </a:rPr>
              <a:t>To learn the conditional distribution of alterations in genes absent from a targeted panel given the genes it measures, to benchmark it against simple statistical baselines, and to identify which signals make the missing genes predictable.</a:t>
            </a:r>
            <a:endParaRPr lang="en-US" sz="1750" dirty="0"/>
          </a:p>
        </p:txBody>
      </p:sp>
      <p:sp>
        <p:nvSpPr>
          <p:cNvPr id="13" name="Shape 11"/>
          <p:cNvSpPr/>
          <p:nvPr/>
        </p:nvSpPr>
        <p:spPr>
          <a:xfrm>
            <a:off x="571500" y="8056372"/>
            <a:ext cx="7873344" cy="0"/>
          </a:xfrm>
          <a:prstGeom prst="line">
            <a:avLst/>
          </a:prstGeom>
          <a:noFill/>
          <a:ln w="28575">
            <a:solidFill>
              <a:srgbClr val="12202E"/>
            </a:solidFill>
            <a:prstDash val="solid"/>
          </a:ln>
        </p:spPr>
      </p:sp>
      <p:sp>
        <p:nvSpPr>
          <p:cNvPr id="14" name="Text 12"/>
          <p:cNvSpPr txBox="1"/>
          <p:nvPr/>
        </p:nvSpPr>
        <p:spPr>
          <a:xfrm>
            <a:off x="571500" y="8147812"/>
            <a:ext cx="7873344" cy="566928"/>
          </a:xfrm>
          <a:prstGeom prst="rect">
            <a:avLst/>
          </a:prstGeom>
          <a:noFill/>
          <a:ln/>
        </p:spPr>
        <p:txBody>
          <a:bodyPr wrap="square" lIns="0" tIns="0" rIns="0" bIns="0" rtlCol="0" anchor="t"/>
          <a:lstStyle/>
          <a:p>
            <a:pPr indent="0" marL="0">
              <a:buNone/>
            </a:pPr>
            <a:r>
              <a:rPr lang="en-US" sz="3200" b="1" dirty="0">
                <a:solidFill>
                  <a:srgbClr val="12202E"/>
                </a:solidFill>
                <a:latin typeface="Cambria" pitchFamily="34" charset="0"/>
                <a:ea typeface="Cambria" pitchFamily="34" charset="-122"/>
                <a:cs typeface="Cambria" pitchFamily="34" charset="-120"/>
              </a:rPr>
              <a:t>2  Study design</a:t>
            </a:r>
            <a:endParaRPr lang="en-US" sz="3200" dirty="0"/>
          </a:p>
        </p:txBody>
      </p:sp>
      <p:sp>
        <p:nvSpPr>
          <p:cNvPr id="15" name="Shape 13"/>
          <p:cNvSpPr/>
          <p:nvPr/>
        </p:nvSpPr>
        <p:spPr>
          <a:xfrm>
            <a:off x="571500" y="8925052"/>
            <a:ext cx="5314507" cy="566928"/>
          </a:xfrm>
          <a:prstGeom prst="rect">
            <a:avLst/>
          </a:prstGeom>
          <a:solidFill>
            <a:srgbClr val="2A6FD6"/>
          </a:solidFill>
          <a:ln/>
        </p:spPr>
      </p:sp>
      <p:sp>
        <p:nvSpPr>
          <p:cNvPr id="16" name="Text 14"/>
          <p:cNvSpPr txBox="1"/>
          <p:nvPr/>
        </p:nvSpPr>
        <p:spPr>
          <a:xfrm>
            <a:off x="571500" y="8925052"/>
            <a:ext cx="5314507"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IMPACT341 · 341 genes (input)</a:t>
            </a:r>
            <a:endParaRPr lang="en-US" sz="1500" dirty="0"/>
          </a:p>
        </p:txBody>
      </p:sp>
      <p:sp>
        <p:nvSpPr>
          <p:cNvPr id="17" name="Shape 15"/>
          <p:cNvSpPr/>
          <p:nvPr/>
        </p:nvSpPr>
        <p:spPr>
          <a:xfrm>
            <a:off x="5886007" y="8925052"/>
            <a:ext cx="2558837" cy="566928"/>
          </a:xfrm>
          <a:prstGeom prst="rect">
            <a:avLst/>
          </a:prstGeom>
          <a:solidFill>
            <a:srgbClr val="FBE3D5"/>
          </a:solidFill>
          <a:ln w="19050">
            <a:solidFill>
              <a:srgbClr val="C4501B"/>
            </a:solidFill>
            <a:prstDash val="solid"/>
          </a:ln>
        </p:spPr>
      </p:sp>
      <p:sp>
        <p:nvSpPr>
          <p:cNvPr id="18" name="Text 16"/>
          <p:cNvSpPr txBox="1"/>
          <p:nvPr/>
        </p:nvSpPr>
        <p:spPr>
          <a:xfrm>
            <a:off x="5886007" y="8925052"/>
            <a:ext cx="2558837" cy="566928"/>
          </a:xfrm>
          <a:prstGeom prst="rect">
            <a:avLst/>
          </a:prstGeom>
          <a:noFill/>
          <a:ln/>
        </p:spPr>
        <p:txBody>
          <a:bodyPr wrap="square" lIns="0" tIns="0" rIns="0" bIns="0" rtlCol="0" anchor="ctr"/>
          <a:lstStyle/>
          <a:p>
            <a:pPr algn="ctr" indent="0" marL="0">
              <a:buNone/>
            </a:pPr>
            <a:r>
              <a:rPr lang="en-US" sz="1500" b="1" dirty="0">
                <a:solidFill>
                  <a:srgbClr val="7A2E0B"/>
                </a:solidFill>
                <a:latin typeface="Calibri" pitchFamily="34" charset="0"/>
                <a:ea typeface="Calibri" pitchFamily="34" charset="-122"/>
                <a:cs typeface="Calibri" pitchFamily="34" charset="-120"/>
              </a:rPr>
              <a:t>164 genes (target)</a:t>
            </a:r>
            <a:endParaRPr lang="en-US" sz="1500" dirty="0"/>
          </a:p>
        </p:txBody>
      </p:sp>
      <p:sp>
        <p:nvSpPr>
          <p:cNvPr id="19" name="Text 17"/>
          <p:cNvSpPr txBox="1"/>
          <p:nvPr/>
        </p:nvSpPr>
        <p:spPr>
          <a:xfrm>
            <a:off x="571500" y="9601708"/>
            <a:ext cx="7873344" cy="481076"/>
          </a:xfrm>
          <a:prstGeom prst="rect">
            <a:avLst/>
          </a:prstGeom>
          <a:noFill/>
          <a:ln/>
        </p:spPr>
        <p:txBody>
          <a:bodyPr wrap="square" lIns="0" tIns="0" rIns="0" bIns="0" rtlCol="0" anchor="t"/>
          <a:lstStyle/>
          <a:p>
            <a:pPr indent="0" marL="0">
              <a:buNone/>
            </a:pPr>
            <a:r>
              <a:rPr lang="en-US" sz="1400" b="1" dirty="0">
                <a:solidFill>
                  <a:srgbClr val="3F4B57"/>
                </a:solidFill>
                <a:latin typeface="Calibri" pitchFamily="34" charset="0"/>
                <a:ea typeface="Calibri" pitchFamily="34" charset="-122"/>
                <a:cs typeface="Calibri" pitchFamily="34" charset="-120"/>
              </a:rPr>
              <a:t>Figure 1. </a:t>
            </a:r>
            <a:pPr indent="0" marL="0">
              <a:buNone/>
            </a:pPr>
            <a:r>
              <a:rPr lang="en-US" sz="1400" dirty="0">
                <a:solidFill>
                  <a:srgbClr val="3F4B57"/>
                </a:solidFill>
                <a:latin typeface="Calibri" pitchFamily="34" charset="0"/>
                <a:ea typeface="Calibri" pitchFamily="34" charset="-122"/>
                <a:cs typeface="Calibri" pitchFamily="34" charset="-120"/>
              </a:rPr>
              <a:t>Task definition. IMPACT341 ⊂ IMPACT505; the 164 genes present only in IMPACT505 are masked from the input and predicted.</a:t>
            </a:r>
            <a:endParaRPr lang="en-US" sz="1400" dirty="0"/>
          </a:p>
        </p:txBody>
      </p:sp>
      <p:sp>
        <p:nvSpPr>
          <p:cNvPr id="20" name="Text 18"/>
          <p:cNvSpPr txBox="1"/>
          <p:nvPr/>
        </p:nvSpPr>
        <p:spPr>
          <a:xfrm>
            <a:off x="571500" y="10357104"/>
            <a:ext cx="7873344" cy="258826"/>
          </a:xfrm>
          <a:prstGeom prst="rect">
            <a:avLst/>
          </a:prstGeom>
          <a:noFill/>
          <a:ln/>
        </p:spPr>
        <p:txBody>
          <a:bodyPr wrap="square" lIns="0" tIns="0" rIns="0" bIns="0" rtlCol="0" anchor="t"/>
          <a:lstStyle/>
          <a:p>
            <a:pPr indent="0" marL="0">
              <a:buNone/>
            </a:pPr>
            <a:r>
              <a:rPr lang="en-US" sz="1400" b="1" dirty="0">
                <a:solidFill>
                  <a:srgbClr val="3F4B57"/>
                </a:solidFill>
                <a:latin typeface="Calibri" pitchFamily="34" charset="0"/>
                <a:ea typeface="Calibri" pitchFamily="34" charset="-122"/>
                <a:cs typeface="Calibri" pitchFamily="34" charset="-120"/>
              </a:rPr>
              <a:t>Table 1. </a:t>
            </a:r>
            <a:pPr indent="0" marL="0">
              <a:buNone/>
            </a:pPr>
            <a:r>
              <a:rPr lang="en-US" sz="1400" dirty="0">
                <a:solidFill>
                  <a:srgbClr val="3F4B57"/>
                </a:solidFill>
                <a:latin typeface="Calibri" pitchFamily="34" charset="0"/>
                <a:ea typeface="Calibri" pitchFamily="34" charset="-122"/>
                <a:cs typeface="Calibri" pitchFamily="34" charset="-120"/>
              </a:rPr>
              <a:t>Cohort and target characteristics (MSK-CHORD).</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71500" y="10725658"/>
          <a:ext cx="7873344" cy="914400"/>
        </p:xfrm>
        <a:graphic>
          <a:graphicData uri="http://schemas.openxmlformats.org/drawingml/2006/table">
            <a:tbl>
              <a:tblPr/>
              <a:tblGrid>
                <a:gridCol w="4881473"/>
                <a:gridCol w="2991871"/>
              </a:tblGrid>
              <a:tr h="384048">
                <a:tc>
                  <a:txBody>
                    <a:bodyPr/>
                    <a:lstStyle/>
                    <a:p>
                      <a:pPr indent="0" marL="0">
                        <a:buNone/>
                      </a:pPr>
                      <a:r>
                        <a:rPr lang="en-US" sz="1600" dirty="0">
                          <a:solidFill>
                            <a:srgbClr val="12202E"/>
                          </a:solidFill>
                          <a:latin typeface="Calibri" pitchFamily="34" charset="0"/>
                          <a:ea typeface="Calibri" pitchFamily="34" charset="-122"/>
                          <a:cs typeface="Calibri" pitchFamily="34" charset="-120"/>
                        </a:rPr>
                        <a:t>Patients, NSCLC, sequenced on IMPACT505</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600" dirty="0">
                          <a:solidFill>
                            <a:srgbClr val="12202E"/>
                          </a:solidFill>
                          <a:latin typeface="Calibri" pitchFamily="34" charset="0"/>
                          <a:ea typeface="Calibri" pitchFamily="34" charset="-122"/>
                          <a:cs typeface="Calibri" pitchFamily="34" charset="-120"/>
                        </a:rPr>
                        <a:t>2,226</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600" dirty="0">
                          <a:solidFill>
                            <a:srgbClr val="12202E"/>
                          </a:solidFill>
                          <a:latin typeface="Calibri" pitchFamily="34" charset="0"/>
                          <a:ea typeface="Calibri" pitchFamily="34" charset="-122"/>
                          <a:cs typeface="Calibri" pitchFamily="34" charset="-120"/>
                        </a:rPr>
                        <a:t>Input genes (IMPACT341)</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600" dirty="0">
                          <a:solidFill>
                            <a:srgbClr val="12202E"/>
                          </a:solidFill>
                          <a:latin typeface="Calibri" pitchFamily="34" charset="0"/>
                          <a:ea typeface="Calibri" pitchFamily="34" charset="-122"/>
                          <a:cs typeface="Calibri" pitchFamily="34" charset="-120"/>
                        </a:rPr>
                        <a:t>341</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600" dirty="0">
                          <a:solidFill>
                            <a:srgbClr val="12202E"/>
                          </a:solidFill>
                          <a:latin typeface="Calibri" pitchFamily="34" charset="0"/>
                          <a:ea typeface="Calibri" pitchFamily="34" charset="-122"/>
                          <a:cs typeface="Calibri" pitchFamily="34" charset="-120"/>
                        </a:rPr>
                        <a:t>Target genes (IMPACT505 \ IMPACT341)</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600" dirty="0">
                          <a:solidFill>
                            <a:srgbClr val="12202E"/>
                          </a:solidFill>
                          <a:latin typeface="Calibri" pitchFamily="34" charset="0"/>
                          <a:ea typeface="Calibri" pitchFamily="34" charset="-122"/>
                          <a:cs typeface="Calibri" pitchFamily="34" charset="-120"/>
                        </a:rPr>
                        <a:t>164</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600" dirty="0">
                          <a:solidFill>
                            <a:srgbClr val="12202E"/>
                          </a:solidFill>
                          <a:latin typeface="Calibri" pitchFamily="34" charset="0"/>
                          <a:ea typeface="Calibri" pitchFamily="34" charset="-122"/>
                          <a:cs typeface="Calibri" pitchFamily="34" charset="-120"/>
                        </a:rPr>
                        <a:t>Altered target gene–patient pairs</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600" dirty="0">
                          <a:solidFill>
                            <a:srgbClr val="12202E"/>
                          </a:solidFill>
                          <a:latin typeface="Calibri" pitchFamily="34" charset="0"/>
                          <a:ea typeface="Calibri" pitchFamily="34" charset="-122"/>
                          <a:cs typeface="Calibri" pitchFamily="34" charset="-120"/>
                        </a:rPr>
                        <a:t>1.21%</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600" dirty="0">
                          <a:solidFill>
                            <a:srgbClr val="12202E"/>
                          </a:solidFill>
                          <a:latin typeface="Calibri" pitchFamily="34" charset="0"/>
                          <a:ea typeface="Calibri" pitchFamily="34" charset="-122"/>
                          <a:cs typeface="Calibri" pitchFamily="34" charset="-120"/>
                        </a:rPr>
                        <a:t>Patients with ≥1 altered target gene</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600" dirty="0">
                          <a:solidFill>
                            <a:srgbClr val="A3410F"/>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600" dirty="0">
                          <a:solidFill>
                            <a:srgbClr val="12202E"/>
                          </a:solidFill>
                          <a:latin typeface="Calibri" pitchFamily="34" charset="0"/>
                          <a:ea typeface="Calibri" pitchFamily="34" charset="-122"/>
                          <a:cs typeface="Calibri" pitchFamily="34" charset="-120"/>
                        </a:rPr>
                        <a:t>Split (patient level): train / val / test</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600" dirty="0">
                          <a:solidFill>
                            <a:srgbClr val="A3410F"/>
                          </a:solidFill>
                          <a:latin typeface="Calibri" pitchFamily="34" charset="0"/>
                          <a:ea typeface="Calibri" pitchFamily="34" charset="-122"/>
                          <a:cs typeface="Calibri" pitchFamily="34" charset="-120"/>
                        </a:rPr>
                        <a:t>70 / 15 / 15% [confirm]</a:t>
                      </a:r>
                      <a:endParaRPr lang="en-US" sz="1600" dirty="0">
                        <a:latin typeface="Calibri" charset="0"/>
                        <a:ea typeface="Calibri" charset="0"/>
                        <a:cs typeface="Calibri" charset="0"/>
                      </a:endParaRPr>
                    </a:p>
                  </a:txBody>
                  <a:tcPr marL="0" marR="0" marT="36576" marB="36576">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bl>
          </a:graphicData>
        </a:graphic>
      </p:graphicFrame>
      <p:sp>
        <p:nvSpPr>
          <p:cNvPr id="22" name="Shape 19"/>
          <p:cNvSpPr/>
          <p:nvPr/>
        </p:nvSpPr>
        <p:spPr>
          <a:xfrm>
            <a:off x="571500" y="10725658"/>
            <a:ext cx="7873344" cy="0"/>
          </a:xfrm>
          <a:prstGeom prst="line">
            <a:avLst/>
          </a:prstGeom>
          <a:noFill/>
          <a:ln w="19050">
            <a:solidFill>
              <a:srgbClr val="12202E"/>
            </a:solidFill>
            <a:prstDash val="solid"/>
          </a:ln>
        </p:spPr>
      </p:sp>
      <p:sp>
        <p:nvSpPr>
          <p:cNvPr id="23" name="Shape 20"/>
          <p:cNvSpPr/>
          <p:nvPr/>
        </p:nvSpPr>
        <p:spPr>
          <a:xfrm>
            <a:off x="571500" y="13029946"/>
            <a:ext cx="7873344" cy="0"/>
          </a:xfrm>
          <a:prstGeom prst="line">
            <a:avLst/>
          </a:prstGeom>
          <a:noFill/>
          <a:ln w="19050">
            <a:solidFill>
              <a:srgbClr val="12202E"/>
            </a:solidFill>
            <a:prstDash val="solid"/>
          </a:ln>
        </p:spPr>
      </p:sp>
      <p:sp>
        <p:nvSpPr>
          <p:cNvPr id="24" name="Text 21"/>
          <p:cNvSpPr txBox="1"/>
          <p:nvPr/>
        </p:nvSpPr>
        <p:spPr>
          <a:xfrm>
            <a:off x="571500" y="13304266"/>
            <a:ext cx="7873344" cy="1703451"/>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Alteration encoding. </a:t>
            </a:r>
            <a:pPr indent="0" marL="0">
              <a:buNone/>
            </a:pPr>
            <a:r>
              <a:rPr lang="en-US" sz="1750" dirty="0">
                <a:solidFill>
                  <a:srgbClr val="12202E"/>
                </a:solidFill>
                <a:latin typeface="Calibri" pitchFamily="34" charset="0"/>
                <a:ea typeface="Calibri" pitchFamily="34" charset="-122"/>
                <a:cs typeface="Calibri" pitchFamily="34" charset="-120"/>
              </a:rPr>
              <a:t>Target: one binary event per gene and patient (non-synonymous mutation, amplification or deep deletion; [state VUS and structural-variant handling]). Input: separate mutation, amplification and deletion indicators for the 341 assayed genes. One sample per patient. Genes not covered by a sample's panel are treated as missing, never as wild type.</a:t>
            </a:r>
            <a:endParaRPr lang="en-US" sz="1750" dirty="0"/>
          </a:p>
        </p:txBody>
      </p:sp>
      <p:sp>
        <p:nvSpPr>
          <p:cNvPr id="25" name="Shape 22"/>
          <p:cNvSpPr/>
          <p:nvPr/>
        </p:nvSpPr>
        <p:spPr>
          <a:xfrm>
            <a:off x="8966052" y="4343400"/>
            <a:ext cx="7873344" cy="0"/>
          </a:xfrm>
          <a:prstGeom prst="line">
            <a:avLst/>
          </a:prstGeom>
          <a:noFill/>
          <a:ln w="28575">
            <a:solidFill>
              <a:srgbClr val="12202E"/>
            </a:solidFill>
            <a:prstDash val="solid"/>
          </a:ln>
        </p:spPr>
      </p:sp>
      <p:sp>
        <p:nvSpPr>
          <p:cNvPr id="26" name="Text 23"/>
          <p:cNvSpPr txBox="1"/>
          <p:nvPr/>
        </p:nvSpPr>
        <p:spPr>
          <a:xfrm>
            <a:off x="8966052" y="4434840"/>
            <a:ext cx="7873344" cy="566928"/>
          </a:xfrm>
          <a:prstGeom prst="rect">
            <a:avLst/>
          </a:prstGeom>
          <a:noFill/>
          <a:ln/>
        </p:spPr>
        <p:txBody>
          <a:bodyPr wrap="square" lIns="0" tIns="0" rIns="0" bIns="0" rtlCol="0" anchor="t"/>
          <a:lstStyle/>
          <a:p>
            <a:pPr indent="0" marL="0">
              <a:buNone/>
            </a:pPr>
            <a:r>
              <a:rPr lang="en-US" sz="3200" b="1" dirty="0">
                <a:solidFill>
                  <a:srgbClr val="12202E"/>
                </a:solidFill>
                <a:latin typeface="Cambria" pitchFamily="34" charset="0"/>
                <a:ea typeface="Cambria" pitchFamily="34" charset="-122"/>
                <a:cs typeface="Cambria" pitchFamily="34" charset="-120"/>
              </a:rPr>
              <a:t>3  Methods</a:t>
            </a:r>
            <a:endParaRPr lang="en-US" sz="3200" dirty="0"/>
          </a:p>
        </p:txBody>
      </p:sp>
      <p:sp>
        <p:nvSpPr>
          <p:cNvPr id="27" name="Text 24"/>
          <p:cNvSpPr txBox="1"/>
          <p:nvPr/>
        </p:nvSpPr>
        <p:spPr>
          <a:xfrm>
            <a:off x="8966052" y="5212080"/>
            <a:ext cx="7873344" cy="1703451"/>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3.1 Problem formulation. </a:t>
            </a:r>
            <a:pPr indent="0" marL="0">
              <a:buNone/>
            </a:pPr>
            <a:r>
              <a:rPr lang="en-US" sz="1750" dirty="0">
                <a:solidFill>
                  <a:srgbClr val="12202E"/>
                </a:solidFill>
                <a:latin typeface="Calibri" pitchFamily="34" charset="0"/>
                <a:ea typeface="Calibri" pitchFamily="34" charset="-122"/>
                <a:cs typeface="Calibri" pitchFamily="34" charset="-120"/>
              </a:rPr>
              <a:t>Given the observed IMPACT341 profile c, we learn the conditional distribution p(x</a:t>
            </a:r>
            <a:pPr indent="0" marL="0">
              <a:buNone/>
            </a:pPr>
            <a:r>
              <a:rPr lang="en-US" sz="1750" baseline="-40000" dirty="0">
                <a:solidFill>
                  <a:srgbClr val="12202E"/>
                </a:solidFill>
                <a:latin typeface="Calibri" pitchFamily="34" charset="0"/>
                <a:ea typeface="Calibri" pitchFamily="34" charset="-122"/>
                <a:cs typeface="Calibri" pitchFamily="34" charset="-120"/>
              </a:rPr>
              <a:t>1</a:t>
            </a:r>
            <a:pPr indent="0" marL="0">
              <a:buNone/>
            </a:pPr>
            <a:r>
              <a:rPr lang="en-US" sz="1750" dirty="0">
                <a:solidFill>
                  <a:srgbClr val="12202E"/>
                </a:solidFill>
                <a:latin typeface="Calibri" pitchFamily="34" charset="0"/>
                <a:ea typeface="Calibri" pitchFamily="34" charset="-122"/>
                <a:cs typeface="Calibri" pitchFamily="34" charset="-120"/>
              </a:rPr>
              <a:t> | c) over the 164 target genes. Binary targets are embedded as x</a:t>
            </a:r>
            <a:pPr indent="0" marL="0">
              <a:buNone/>
            </a:pPr>
            <a:r>
              <a:rPr lang="en-US" sz="1750" baseline="-40000" dirty="0">
                <a:solidFill>
                  <a:srgbClr val="12202E"/>
                </a:solidFill>
                <a:latin typeface="Calibri" pitchFamily="34" charset="0"/>
                <a:ea typeface="Calibri" pitchFamily="34" charset="-122"/>
                <a:cs typeface="Calibri" pitchFamily="34" charset="-120"/>
              </a:rPr>
              <a:t>1</a:t>
            </a:r>
            <a:pPr indent="0" marL="0">
              <a:buNone/>
            </a:pPr>
            <a:r>
              <a:rPr lang="en-US" sz="1750" dirty="0">
                <a:solidFill>
                  <a:srgbClr val="12202E"/>
                </a:solidFill>
                <a:latin typeface="Calibri" pitchFamily="34" charset="0"/>
                <a:ea typeface="Calibri" pitchFamily="34" charset="-122"/>
                <a:cs typeface="Calibri" pitchFamily="34" charset="-120"/>
              </a:rPr>
              <a:t> ∈ {−1,+1}</a:t>
            </a:r>
            <a:pPr indent="0" marL="0">
              <a:buNone/>
            </a:pPr>
            <a:r>
              <a:rPr lang="en-US" sz="1750" baseline="30000" dirty="0">
                <a:solidFill>
                  <a:srgbClr val="12202E"/>
                </a:solidFill>
                <a:latin typeface="Calibri" pitchFamily="34" charset="0"/>
                <a:ea typeface="Calibri" pitchFamily="34" charset="-122"/>
                <a:cs typeface="Calibri" pitchFamily="34" charset="-120"/>
              </a:rPr>
              <a:t>164</a:t>
            </a:r>
            <a:pPr indent="0" marL="0">
              <a:buNone/>
            </a:pPr>
            <a:r>
              <a:rPr lang="en-US" sz="1750" dirty="0">
                <a:solidFill>
                  <a:srgbClr val="12202E"/>
                </a:solidFill>
                <a:latin typeface="Calibri" pitchFamily="34" charset="0"/>
                <a:ea typeface="Calibri" pitchFamily="34" charset="-122"/>
                <a:cs typeface="Calibri" pitchFamily="34" charset="-120"/>
              </a:rPr>
              <a:t> (continuous relaxation); generated profiles are binarised by sign. Data were split by patient into 70% training, 15% validation (all model and hyper-parameter selection) and 15% test, evaluated once.</a:t>
            </a:r>
            <a:endParaRPr lang="en-US" sz="1750" dirty="0"/>
          </a:p>
        </p:txBody>
      </p:sp>
      <p:sp>
        <p:nvSpPr>
          <p:cNvPr id="28" name="Text 25"/>
          <p:cNvSpPr txBox="1"/>
          <p:nvPr/>
        </p:nvSpPr>
        <p:spPr>
          <a:xfrm>
            <a:off x="8966052" y="7144131"/>
            <a:ext cx="7873344" cy="870014"/>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3.2 Conditional flow matching. </a:t>
            </a:r>
            <a:pPr indent="0" marL="0">
              <a:buNone/>
            </a:pPr>
            <a:r>
              <a:rPr lang="en-US" sz="1750" dirty="0">
                <a:solidFill>
                  <a:srgbClr val="12202E"/>
                </a:solidFill>
                <a:latin typeface="Calibri" pitchFamily="34" charset="0"/>
                <a:ea typeface="Calibri" pitchFamily="34" charset="-122"/>
                <a:cs typeface="Calibri" pitchFamily="34" charset="-120"/>
              </a:rPr>
              <a:t>A velocity field v</a:t>
            </a:r>
            <a:pPr indent="0" marL="0">
              <a:buNone/>
            </a:pPr>
            <a:r>
              <a:rPr lang="en-US" sz="1750" baseline="-40000" dirty="0">
                <a:solidFill>
                  <a:srgbClr val="12202E"/>
                </a:solidFill>
                <a:latin typeface="Calibri" pitchFamily="34" charset="0"/>
                <a:ea typeface="Calibri" pitchFamily="34" charset="-122"/>
                <a:cs typeface="Calibri" pitchFamily="34" charset="-120"/>
              </a:rPr>
              <a:t>θ</a:t>
            </a:r>
            <a:pPr indent="0" marL="0">
              <a:buNone/>
            </a:pPr>
            <a:r>
              <a:rPr lang="en-US" sz="1750" dirty="0">
                <a:solidFill>
                  <a:srgbClr val="12202E"/>
                </a:solidFill>
                <a:latin typeface="Calibri" pitchFamily="34" charset="0"/>
                <a:ea typeface="Calibri" pitchFamily="34" charset="-122"/>
                <a:cs typeface="Calibri" pitchFamily="34" charset="-120"/>
              </a:rPr>
              <a:t> ([architecture]) is regressed onto the straight-line path between Gaussian noise and data:</a:t>
            </a:r>
            <a:endParaRPr lang="en-US" sz="1750" dirty="0"/>
          </a:p>
        </p:txBody>
      </p:sp>
      <p:sp>
        <p:nvSpPr>
          <p:cNvPr id="29" name="Shape 26"/>
          <p:cNvSpPr/>
          <p:nvPr/>
        </p:nvSpPr>
        <p:spPr>
          <a:xfrm>
            <a:off x="8966052" y="8178737"/>
            <a:ext cx="7873344" cy="960120"/>
          </a:xfrm>
          <a:prstGeom prst="rect">
            <a:avLst/>
          </a:prstGeom>
          <a:solidFill>
            <a:srgbClr val="F2F4F7"/>
          </a:solidFill>
          <a:ln/>
        </p:spPr>
      </p:sp>
      <p:sp>
        <p:nvSpPr>
          <p:cNvPr id="30" name="Text 27"/>
          <p:cNvSpPr txBox="1"/>
          <p:nvPr/>
        </p:nvSpPr>
        <p:spPr>
          <a:xfrm>
            <a:off x="8966052" y="8288465"/>
            <a:ext cx="7873344" cy="740664"/>
          </a:xfrm>
          <a:prstGeom prst="rect">
            <a:avLst/>
          </a:prstGeom>
          <a:noFill/>
          <a:ln/>
        </p:spPr>
        <p:txBody>
          <a:bodyPr wrap="square" lIns="0" tIns="0" rIns="0" bIns="0" rtlCol="0" anchor="ctr"/>
          <a:lstStyle/>
          <a:p>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x</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t</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 = (1 − t) x</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0</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 + t x</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1</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    x</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0</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 ~ 𝒩(0, I),    t ~ 𝒰(0, 1)</a:t>
            </a:r>
            <a:endParaRPr lang="en-US" sz="1700" dirty="0"/>
          </a:p>
          <a:p>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ℒ(θ) = 𝔼 ‖ v</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θ</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(x</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t</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 t | c) − (x</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1</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 − x</a:t>
            </a:r>
            <a:pPr algn="ctr" indent="0" marL="0">
              <a:lnSpc>
                <a:spcPct val="130000"/>
              </a:lnSpc>
              <a:buNone/>
            </a:pPr>
            <a:r>
              <a:rPr lang="en-US" sz="1700" baseline="-40000" dirty="0">
                <a:solidFill>
                  <a:srgbClr val="12202E"/>
                </a:solidFill>
                <a:latin typeface="Cambria" pitchFamily="34" charset="0"/>
                <a:ea typeface="Cambria" pitchFamily="34" charset="-122"/>
                <a:cs typeface="Cambria" pitchFamily="34" charset="-120"/>
              </a:rPr>
              <a:t>0</a:t>
            </a:r>
            <a:pPr algn="ctr" indent="0" marL="0">
              <a:lnSpc>
                <a:spcPct val="130000"/>
              </a:lnSpc>
              <a:buNone/>
            </a:pPr>
            <a:r>
              <a:rPr lang="en-US" sz="1700" dirty="0">
                <a:solidFill>
                  <a:srgbClr val="12202E"/>
                </a:solidFill>
                <a:latin typeface="Cambria" pitchFamily="34" charset="0"/>
                <a:ea typeface="Cambria" pitchFamily="34" charset="-122"/>
                <a:cs typeface="Cambria" pitchFamily="34" charset="-120"/>
              </a:rPr>
              <a:t>) ‖²</a:t>
            </a:r>
            <a:endParaRPr lang="en-US" sz="1700" dirty="0"/>
          </a:p>
        </p:txBody>
      </p:sp>
      <p:sp>
        <p:nvSpPr>
          <p:cNvPr id="31" name="Shape 28"/>
          <p:cNvSpPr/>
          <p:nvPr/>
        </p:nvSpPr>
        <p:spPr>
          <a:xfrm>
            <a:off x="8966052" y="9413177"/>
            <a:ext cx="2153105" cy="685800"/>
          </a:xfrm>
          <a:prstGeom prst="rect">
            <a:avLst/>
          </a:prstGeom>
          <a:solidFill>
            <a:srgbClr val="FFFFFF"/>
          </a:solidFill>
          <a:ln w="19050">
            <a:solidFill>
              <a:srgbClr val="12202E"/>
            </a:solidFill>
            <a:prstDash val="solid"/>
          </a:ln>
        </p:spPr>
      </p:sp>
      <p:sp>
        <p:nvSpPr>
          <p:cNvPr id="32" name="Text 29"/>
          <p:cNvSpPr txBox="1"/>
          <p:nvPr/>
        </p:nvSpPr>
        <p:spPr>
          <a:xfrm>
            <a:off x="8966052" y="9413177"/>
            <a:ext cx="2153105" cy="685800"/>
          </a:xfrm>
          <a:prstGeom prst="rect">
            <a:avLst/>
          </a:prstGeom>
          <a:noFill/>
          <a:ln/>
        </p:spPr>
        <p:txBody>
          <a:bodyPr wrap="square" lIns="0" tIns="0" rIns="0" bIns="0" rtlCol="0" anchor="ctr"/>
          <a:lstStyle/>
          <a:p>
            <a:pPr algn="ctr" indent="0" marL="0">
              <a:buNone/>
            </a:pPr>
            <a:r>
              <a:rPr lang="en-US" sz="1400" dirty="0">
                <a:solidFill>
                  <a:srgbClr val="12202E"/>
                </a:solidFill>
                <a:latin typeface="Calibri" pitchFamily="34" charset="0"/>
                <a:ea typeface="Calibri" pitchFamily="34" charset="-122"/>
                <a:cs typeface="Calibri" pitchFamily="34" charset="-120"/>
              </a:rPr>
              <a:t>x</a:t>
            </a:r>
            <a:pPr algn="ctr" indent="0" marL="0">
              <a:buNone/>
            </a:pPr>
            <a:r>
              <a:rPr lang="en-US" sz="1400" baseline="-40000" dirty="0">
                <a:solidFill>
                  <a:srgbClr val="12202E"/>
                </a:solidFill>
                <a:latin typeface="Calibri" pitchFamily="34" charset="0"/>
                <a:ea typeface="Calibri" pitchFamily="34" charset="-122"/>
                <a:cs typeface="Calibri" pitchFamily="34" charset="-120"/>
              </a:rPr>
              <a:t>0</a:t>
            </a:r>
            <a:pPr algn="ctr" indent="0" marL="0">
              <a:buNone/>
            </a:pPr>
            <a:r>
              <a:rPr lang="en-US" sz="1400" dirty="0">
                <a:solidFill>
                  <a:srgbClr val="12202E"/>
                </a:solidFill>
                <a:latin typeface="Calibri" pitchFamily="34" charset="0"/>
                <a:ea typeface="Calibri" pitchFamily="34" charset="-122"/>
                <a:cs typeface="Calibri" pitchFamily="34" charset="-120"/>
              </a:rPr>
              <a:t> ~ 𝒩(0, I)</a:t>
            </a:r>
            <a:endParaRPr lang="en-US" sz="1400" dirty="0"/>
          </a:p>
        </p:txBody>
      </p:sp>
      <p:sp>
        <p:nvSpPr>
          <p:cNvPr id="33" name="Text 30"/>
          <p:cNvSpPr txBox="1"/>
          <p:nvPr/>
        </p:nvSpPr>
        <p:spPr>
          <a:xfrm>
            <a:off x="11119157" y="9413177"/>
            <a:ext cx="384048" cy="685800"/>
          </a:xfrm>
          <a:prstGeom prst="rect">
            <a:avLst/>
          </a:prstGeom>
          <a:noFill/>
          <a:ln/>
        </p:spPr>
        <p:txBody>
          <a:bodyPr wrap="square" lIns="0" tIns="0" rIns="0" bIns="0" rtlCol="0" anchor="ctr"/>
          <a:lstStyle/>
          <a:p>
            <a:pPr algn="ctr" indent="0" marL="0">
              <a:buNone/>
            </a:pPr>
            <a:r>
              <a:rPr lang="en-US" sz="2400" dirty="0">
                <a:solidFill>
                  <a:srgbClr val="12202E"/>
                </a:solidFill>
                <a:latin typeface="Calibri" pitchFamily="34" charset="0"/>
                <a:ea typeface="Calibri" pitchFamily="34" charset="-122"/>
                <a:cs typeface="Calibri" pitchFamily="34" charset="-120"/>
              </a:rPr>
              <a:t>→</a:t>
            </a:r>
            <a:endParaRPr lang="en-US" sz="2400" dirty="0"/>
          </a:p>
        </p:txBody>
      </p:sp>
      <p:sp>
        <p:nvSpPr>
          <p:cNvPr id="34" name="Shape 31"/>
          <p:cNvSpPr/>
          <p:nvPr/>
        </p:nvSpPr>
        <p:spPr>
          <a:xfrm>
            <a:off x="11503205" y="9413177"/>
            <a:ext cx="2799037" cy="685800"/>
          </a:xfrm>
          <a:prstGeom prst="rect">
            <a:avLst/>
          </a:prstGeom>
          <a:solidFill>
            <a:srgbClr val="12202E"/>
          </a:solidFill>
          <a:ln/>
        </p:spPr>
      </p:sp>
      <p:sp>
        <p:nvSpPr>
          <p:cNvPr id="35" name="Text 32"/>
          <p:cNvSpPr txBox="1"/>
          <p:nvPr/>
        </p:nvSpPr>
        <p:spPr>
          <a:xfrm>
            <a:off x="11503205" y="9413177"/>
            <a:ext cx="2799037" cy="685800"/>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dx/dt = v</a:t>
            </a:r>
            <a:pPr algn="ctr" indent="0" marL="0">
              <a:buNone/>
            </a:pPr>
            <a:r>
              <a:rPr lang="en-US" sz="1400" baseline="-40000" dirty="0">
                <a:solidFill>
                  <a:srgbClr val="FFFFFF"/>
                </a:solidFill>
                <a:latin typeface="Calibri" pitchFamily="34" charset="0"/>
                <a:ea typeface="Calibri" pitchFamily="34" charset="-122"/>
                <a:cs typeface="Calibri" pitchFamily="34" charset="-120"/>
              </a:rPr>
              <a:t>θ</a:t>
            </a:r>
            <a:pPr algn="ctr" indent="0" marL="0">
              <a:buNone/>
            </a:pPr>
            <a:r>
              <a:rPr lang="en-US" sz="1400" dirty="0">
                <a:solidFill>
                  <a:srgbClr val="FFFFFF"/>
                </a:solidFill>
                <a:latin typeface="Calibri" pitchFamily="34" charset="0"/>
                <a:ea typeface="Calibri" pitchFamily="34" charset="-122"/>
                <a:cs typeface="Calibri" pitchFamily="34" charset="-120"/>
              </a:rPr>
              <a:t>(x</a:t>
            </a:r>
            <a:pPr algn="ctr" indent="0" marL="0">
              <a:buNone/>
            </a:pPr>
            <a:r>
              <a:rPr lang="en-US" sz="1400" baseline="-40000" dirty="0">
                <a:solidFill>
                  <a:srgbClr val="FFFFFF"/>
                </a:solidFill>
                <a:latin typeface="Calibri" pitchFamily="34" charset="0"/>
                <a:ea typeface="Calibri" pitchFamily="34" charset="-122"/>
                <a:cs typeface="Calibri" pitchFamily="34" charset="-120"/>
              </a:rPr>
              <a:t>t</a:t>
            </a:r>
            <a:pPr algn="ctr" indent="0" marL="0">
              <a:buNone/>
            </a:pPr>
            <a:r>
              <a:rPr lang="en-US" sz="1400" dirty="0">
                <a:solidFill>
                  <a:srgbClr val="FFFFFF"/>
                </a:solidFill>
                <a:latin typeface="Calibri" pitchFamily="34" charset="0"/>
                <a:ea typeface="Calibri" pitchFamily="34" charset="-122"/>
                <a:cs typeface="Calibri" pitchFamily="34" charset="-120"/>
              </a:rPr>
              <a:t>, t | c)</a:t>
            </a:r>
            <a:endParaRPr lang="en-US" sz="1400" dirty="0"/>
          </a:p>
        </p:txBody>
      </p:sp>
      <p:sp>
        <p:nvSpPr>
          <p:cNvPr id="36" name="Text 33"/>
          <p:cNvSpPr txBox="1"/>
          <p:nvPr/>
        </p:nvSpPr>
        <p:spPr>
          <a:xfrm>
            <a:off x="14302243" y="9413177"/>
            <a:ext cx="384048" cy="685800"/>
          </a:xfrm>
          <a:prstGeom prst="rect">
            <a:avLst/>
          </a:prstGeom>
          <a:noFill/>
          <a:ln/>
        </p:spPr>
        <p:txBody>
          <a:bodyPr wrap="square" lIns="0" tIns="0" rIns="0" bIns="0" rtlCol="0" anchor="ctr"/>
          <a:lstStyle/>
          <a:p>
            <a:pPr algn="ctr" indent="0" marL="0">
              <a:buNone/>
            </a:pPr>
            <a:r>
              <a:rPr lang="en-US" sz="2400" dirty="0">
                <a:solidFill>
                  <a:srgbClr val="12202E"/>
                </a:solidFill>
                <a:latin typeface="Calibri" pitchFamily="34" charset="0"/>
                <a:ea typeface="Calibri" pitchFamily="34" charset="-122"/>
                <a:cs typeface="Calibri" pitchFamily="34" charset="-120"/>
              </a:rPr>
              <a:t>→</a:t>
            </a:r>
            <a:endParaRPr lang="en-US" sz="2400" dirty="0"/>
          </a:p>
        </p:txBody>
      </p:sp>
      <p:sp>
        <p:nvSpPr>
          <p:cNvPr id="37" name="Shape 34"/>
          <p:cNvSpPr/>
          <p:nvPr/>
        </p:nvSpPr>
        <p:spPr>
          <a:xfrm>
            <a:off x="14686291" y="9413177"/>
            <a:ext cx="2153105" cy="685800"/>
          </a:xfrm>
          <a:prstGeom prst="rect">
            <a:avLst/>
          </a:prstGeom>
          <a:solidFill>
            <a:srgbClr val="FBE3D5"/>
          </a:solidFill>
          <a:ln w="19050">
            <a:solidFill>
              <a:srgbClr val="C4501B"/>
            </a:solidFill>
            <a:prstDash val="solid"/>
          </a:ln>
        </p:spPr>
      </p:sp>
      <p:sp>
        <p:nvSpPr>
          <p:cNvPr id="38" name="Text 35"/>
          <p:cNvSpPr txBox="1"/>
          <p:nvPr/>
        </p:nvSpPr>
        <p:spPr>
          <a:xfrm>
            <a:off x="14686291" y="9413177"/>
            <a:ext cx="2153105" cy="685800"/>
          </a:xfrm>
          <a:prstGeom prst="rect">
            <a:avLst/>
          </a:prstGeom>
          <a:noFill/>
          <a:ln/>
        </p:spPr>
        <p:txBody>
          <a:bodyPr wrap="square" lIns="0" tIns="0" rIns="0" bIns="0" rtlCol="0" anchor="ctr"/>
          <a:lstStyle/>
          <a:p>
            <a:pPr algn="ctr" indent="0" marL="0">
              <a:buNone/>
            </a:pPr>
            <a:r>
              <a:rPr lang="en-US" sz="1400" dirty="0">
                <a:solidFill>
                  <a:srgbClr val="12202E"/>
                </a:solidFill>
                <a:latin typeface="Calibri" pitchFamily="34" charset="0"/>
                <a:ea typeface="Calibri" pitchFamily="34" charset="-122"/>
                <a:cs typeface="Calibri" pitchFamily="34" charset="-120"/>
              </a:rPr>
              <a:t>x̂</a:t>
            </a:r>
            <a:pPr algn="ctr" indent="0" marL="0">
              <a:buNone/>
            </a:pPr>
            <a:r>
              <a:rPr lang="en-US" sz="1400" baseline="-40000" dirty="0">
                <a:solidFill>
                  <a:srgbClr val="12202E"/>
                </a:solidFill>
                <a:latin typeface="Calibri" pitchFamily="34" charset="0"/>
                <a:ea typeface="Calibri" pitchFamily="34" charset="-122"/>
                <a:cs typeface="Calibri" pitchFamily="34" charset="-120"/>
              </a:rPr>
              <a:t>1</a:t>
            </a:r>
            <a:pPr algn="ctr" indent="0" marL="0">
              <a:buNone/>
            </a:pPr>
            <a:r>
              <a:rPr lang="en-US" sz="1400" dirty="0">
                <a:solidFill>
                  <a:srgbClr val="12202E"/>
                </a:solidFill>
                <a:latin typeface="Calibri" pitchFamily="34" charset="0"/>
                <a:ea typeface="Calibri" pitchFamily="34" charset="-122"/>
                <a:cs typeface="Calibri" pitchFamily="34" charset="-120"/>
              </a:rPr>
              <a:t> ∈ ℝ</a:t>
            </a:r>
            <a:pPr algn="ctr" indent="0" marL="0">
              <a:buNone/>
            </a:pPr>
            <a:r>
              <a:rPr lang="en-US" sz="1400" baseline="30000" dirty="0">
                <a:solidFill>
                  <a:srgbClr val="12202E"/>
                </a:solidFill>
                <a:latin typeface="Calibri" pitchFamily="34" charset="0"/>
                <a:ea typeface="Calibri" pitchFamily="34" charset="-122"/>
                <a:cs typeface="Calibri" pitchFamily="34" charset="-120"/>
              </a:rPr>
              <a:t>164</a:t>
            </a:r>
            <a:endParaRPr lang="en-US" sz="1400" dirty="0"/>
          </a:p>
        </p:txBody>
      </p:sp>
      <p:sp>
        <p:nvSpPr>
          <p:cNvPr id="39" name="Shape 36"/>
          <p:cNvSpPr/>
          <p:nvPr/>
        </p:nvSpPr>
        <p:spPr>
          <a:xfrm>
            <a:off x="10068320" y="10236137"/>
            <a:ext cx="5668808" cy="457200"/>
          </a:xfrm>
          <a:prstGeom prst="rect">
            <a:avLst/>
          </a:prstGeom>
          <a:solidFill>
            <a:srgbClr val="2A6FD6"/>
          </a:solidFill>
          <a:ln/>
        </p:spPr>
      </p:sp>
      <p:sp>
        <p:nvSpPr>
          <p:cNvPr id="40" name="Text 37"/>
          <p:cNvSpPr txBox="1"/>
          <p:nvPr/>
        </p:nvSpPr>
        <p:spPr>
          <a:xfrm>
            <a:off x="10068320" y="10236137"/>
            <a:ext cx="5668808" cy="457200"/>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conditioning c: observed IMPACT341 profile</a:t>
            </a:r>
            <a:endParaRPr lang="en-US" sz="1400" dirty="0"/>
          </a:p>
        </p:txBody>
      </p:sp>
      <p:sp>
        <p:nvSpPr>
          <p:cNvPr id="41" name="Text 38"/>
          <p:cNvSpPr txBox="1"/>
          <p:nvPr/>
        </p:nvSpPr>
        <p:spPr>
          <a:xfrm>
            <a:off x="8966052" y="10803065"/>
            <a:ext cx="7873344" cy="703326"/>
          </a:xfrm>
          <a:prstGeom prst="rect">
            <a:avLst/>
          </a:prstGeom>
          <a:noFill/>
          <a:ln/>
        </p:spPr>
        <p:txBody>
          <a:bodyPr wrap="square" lIns="0" tIns="0" rIns="0" bIns="0" rtlCol="0" anchor="t"/>
          <a:lstStyle/>
          <a:p>
            <a:pPr indent="0" marL="0">
              <a:buNone/>
            </a:pPr>
            <a:r>
              <a:rPr lang="en-US" sz="1400" b="1" dirty="0">
                <a:solidFill>
                  <a:srgbClr val="3F4B57"/>
                </a:solidFill>
                <a:latin typeface="Calibri" pitchFamily="34" charset="0"/>
                <a:ea typeface="Calibri" pitchFamily="34" charset="-122"/>
                <a:cs typeface="Calibri" pitchFamily="34" charset="-120"/>
              </a:rPr>
              <a:t>Figure 2. </a:t>
            </a:r>
            <a:pPr indent="0" marL="0">
              <a:buNone/>
            </a:pPr>
            <a:r>
              <a:rPr lang="en-US" sz="1400" dirty="0">
                <a:solidFill>
                  <a:srgbClr val="3F4B57"/>
                </a:solidFill>
                <a:latin typeface="Calibri" pitchFamily="34" charset="0"/>
                <a:ea typeface="Calibri" pitchFamily="34" charset="-122"/>
                <a:cs typeface="Calibri" pitchFamily="34" charset="-120"/>
              </a:rPr>
              <a:t>Sampling: the learned ODE, integrated from t = 0 to 1 ([solver, N steps]), transports noise to a completed 164-gene profile conditioned on the observed panel.</a:t>
            </a:r>
            <a:endParaRPr lang="en-US" sz="1400" dirty="0"/>
          </a:p>
        </p:txBody>
      </p:sp>
      <p:sp>
        <p:nvSpPr>
          <p:cNvPr id="42" name="Text 39"/>
          <p:cNvSpPr txBox="1"/>
          <p:nvPr/>
        </p:nvSpPr>
        <p:spPr>
          <a:xfrm>
            <a:off x="8966052" y="11780711"/>
            <a:ext cx="7873344" cy="1703451"/>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3.3 Probability read-out. </a:t>
            </a:r>
            <a:pPr indent="0" marL="0">
              <a:buNone/>
            </a:pPr>
            <a:r>
              <a:rPr lang="en-US" sz="1750" dirty="0">
                <a:solidFill>
                  <a:srgbClr val="12202E"/>
                </a:solidFill>
                <a:latin typeface="Calibri" pitchFamily="34" charset="0"/>
                <a:ea typeface="Calibri" pitchFamily="34" charset="-122"/>
                <a:cs typeface="Calibri" pitchFamily="34" charset="-120"/>
              </a:rPr>
              <a:t>At t = 0 the path is independent of x₁, so the optimal field satisfies v*(x₀, 0 | c) = 𝔼[x₁ | c] − x₀. Per-gene probabilities p̂ = ½(1 + x₀ + vθ(x₀, 0 | c)), averaged over K noise draws, equal the infinite-sample Monte Carlo estimate without its 1/S resolution limit, which at ~1% prevalence ties most pairs at 0. [state read-out used]</a:t>
            </a:r>
            <a:endParaRPr lang="en-US" sz="1750" dirty="0"/>
          </a:p>
        </p:txBody>
      </p:sp>
      <p:sp>
        <p:nvSpPr>
          <p:cNvPr id="43" name="Text 40"/>
          <p:cNvSpPr txBox="1"/>
          <p:nvPr/>
        </p:nvSpPr>
        <p:spPr>
          <a:xfrm>
            <a:off x="8966052" y="13712762"/>
            <a:ext cx="7873344" cy="2814701"/>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3.4 Evaluation. </a:t>
            </a:r>
            <a:pPr indent="0" marL="0">
              <a:buNone/>
            </a:pPr>
            <a:r>
              <a:rPr lang="en-US" sz="1750" dirty="0">
                <a:solidFill>
                  <a:srgbClr val="12202E"/>
                </a:solidFill>
                <a:latin typeface="Calibri" pitchFamily="34" charset="0"/>
                <a:ea typeface="Calibri" pitchFamily="34" charset="-122"/>
                <a:cs typeface="Calibri" pitchFamily="34" charset="-120"/>
              </a:rPr>
              <a:t>Discrimination: AUROC pooled over gene–patient pairs (primary) and per gene (genes with ≥5 test events), where a prevalence-only predictor scores exactly 0.50. Class imbalance: AUPRC against the prevalence of 0.012. Calibration: Brier skill score and observed:expected ratio. Joint fidelity, the property that justifies a generative model: energy score of sampled profiles versus independent Bernoulli draws from the same marginals. Comparators on identical splits: prevalence; burden + locus (3 burden counts and copy-number state of the nearest assayed gene); L2 logistic regression. 95% CIs and paired differences by patient-level bootstrap.</a:t>
            </a:r>
            <a:endParaRPr lang="en-US" sz="1750" dirty="0"/>
          </a:p>
        </p:txBody>
      </p:sp>
      <p:sp>
        <p:nvSpPr>
          <p:cNvPr id="44" name="Text 41"/>
          <p:cNvSpPr txBox="1"/>
          <p:nvPr/>
        </p:nvSpPr>
        <p:spPr>
          <a:xfrm>
            <a:off x="8966052" y="16756063"/>
            <a:ext cx="7873344" cy="870014"/>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3.5 External replicate. </a:t>
            </a:r>
            <a:pPr indent="0" marL="0">
              <a:buNone/>
            </a:pPr>
            <a:r>
              <a:rPr lang="en-US" sz="1750" dirty="0">
                <a:solidFill>
                  <a:srgbClr val="12202E"/>
                </a:solidFill>
                <a:latin typeface="Calibri" pitchFamily="34" charset="0"/>
                <a:ea typeface="Calibri" pitchFamily="34" charset="-122"/>
                <a:cs typeface="Calibri" pitchFamily="34" charset="-120"/>
              </a:rPr>
              <a:t>MSK-IMPACT 2017 (cBioPortal, ODbL): IMPACT341 → 69 IMPACT410-only genes in 1,215 NSCLC patients; 3 × 5-fold patient-level cross-validation, AUROC computed within folds.</a:t>
            </a:r>
            <a:endParaRPr lang="en-US" sz="1750" dirty="0"/>
          </a:p>
        </p:txBody>
      </p:sp>
      <p:sp>
        <p:nvSpPr>
          <p:cNvPr id="45" name="Shape 42"/>
          <p:cNvSpPr/>
          <p:nvPr/>
        </p:nvSpPr>
        <p:spPr>
          <a:xfrm>
            <a:off x="17360604" y="4343400"/>
            <a:ext cx="7873344" cy="0"/>
          </a:xfrm>
          <a:prstGeom prst="line">
            <a:avLst/>
          </a:prstGeom>
          <a:noFill/>
          <a:ln w="28575">
            <a:solidFill>
              <a:srgbClr val="12202E"/>
            </a:solidFill>
            <a:prstDash val="solid"/>
          </a:ln>
        </p:spPr>
      </p:sp>
      <p:sp>
        <p:nvSpPr>
          <p:cNvPr id="46" name="Text 43"/>
          <p:cNvSpPr txBox="1"/>
          <p:nvPr/>
        </p:nvSpPr>
        <p:spPr>
          <a:xfrm>
            <a:off x="17360604" y="4434840"/>
            <a:ext cx="7873344" cy="566928"/>
          </a:xfrm>
          <a:prstGeom prst="rect">
            <a:avLst/>
          </a:prstGeom>
          <a:noFill/>
          <a:ln/>
        </p:spPr>
        <p:txBody>
          <a:bodyPr wrap="square" lIns="0" tIns="0" rIns="0" bIns="0" rtlCol="0" anchor="t"/>
          <a:lstStyle/>
          <a:p>
            <a:pPr indent="0" marL="0">
              <a:buNone/>
            </a:pPr>
            <a:r>
              <a:rPr lang="en-US" sz="3200" b="1" dirty="0">
                <a:solidFill>
                  <a:srgbClr val="12202E"/>
                </a:solidFill>
                <a:latin typeface="Cambria" pitchFamily="34" charset="0"/>
                <a:ea typeface="Cambria" pitchFamily="34" charset="-122"/>
                <a:cs typeface="Cambria" pitchFamily="34" charset="-120"/>
              </a:rPr>
              <a:t>4  Results</a:t>
            </a:r>
            <a:endParaRPr lang="en-US" sz="3200" dirty="0"/>
          </a:p>
        </p:txBody>
      </p:sp>
      <p:sp>
        <p:nvSpPr>
          <p:cNvPr id="47" name="Text 44"/>
          <p:cNvSpPr txBox="1"/>
          <p:nvPr/>
        </p:nvSpPr>
        <p:spPr>
          <a:xfrm>
            <a:off x="17360604" y="5212080"/>
            <a:ext cx="7873344" cy="870014"/>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4.1 Primary cohort. </a:t>
            </a:r>
            <a:pPr indent="0" marL="0">
              <a:buNone/>
            </a:pPr>
            <a:r>
              <a:rPr lang="en-US" sz="1750" dirty="0">
                <a:solidFill>
                  <a:srgbClr val="12202E"/>
                </a:solidFill>
                <a:latin typeface="Calibri" pitchFamily="34" charset="0"/>
                <a:ea typeface="Calibri" pitchFamily="34" charset="-122"/>
                <a:cs typeface="Calibri" pitchFamily="34" charset="-120"/>
              </a:rPr>
              <a:t>Across architectures and training paradigms, the flow model reached a pooled test AUROC of 0.77–0.79, above the prevalence-only baseline in every variant (Table 2).</a:t>
            </a:r>
            <a:endParaRPr lang="en-US" sz="1750" dirty="0"/>
          </a:p>
        </p:txBody>
      </p:sp>
      <p:sp>
        <p:nvSpPr>
          <p:cNvPr id="48" name="Text 45"/>
          <p:cNvSpPr txBox="1"/>
          <p:nvPr/>
        </p:nvSpPr>
        <p:spPr>
          <a:xfrm>
            <a:off x="17360604" y="6310694"/>
            <a:ext cx="7873344" cy="481076"/>
          </a:xfrm>
          <a:prstGeom prst="rect">
            <a:avLst/>
          </a:prstGeom>
          <a:noFill/>
          <a:ln/>
        </p:spPr>
        <p:txBody>
          <a:bodyPr wrap="square" lIns="0" tIns="0" rIns="0" bIns="0" rtlCol="0" anchor="t"/>
          <a:lstStyle/>
          <a:p>
            <a:pPr indent="0" marL="0">
              <a:buNone/>
            </a:pPr>
            <a:r>
              <a:rPr lang="en-US" sz="1400" b="1" dirty="0">
                <a:solidFill>
                  <a:srgbClr val="3F4B57"/>
                </a:solidFill>
                <a:latin typeface="Calibri" pitchFamily="34" charset="0"/>
                <a:ea typeface="Calibri" pitchFamily="34" charset="-122"/>
                <a:cs typeface="Calibri" pitchFamily="34" charset="-120"/>
              </a:rPr>
              <a:t>Table 2. </a:t>
            </a:r>
            <a:pPr indent="0" marL="0">
              <a:buNone/>
            </a:pPr>
            <a:r>
              <a:rPr lang="en-US" sz="1400" dirty="0">
                <a:solidFill>
                  <a:srgbClr val="3F4B57"/>
                </a:solidFill>
                <a:latin typeface="Calibri" pitchFamily="34" charset="0"/>
                <a:ea typeface="Calibri" pitchFamily="34" charset="-122"/>
                <a:cs typeface="Calibri" pitchFamily="34" charset="-120"/>
              </a:rPr>
              <a:t>MSK-CHORD test set: AUROC pooled and per gene, and AUPRC (chance level = prevalence, 0.012); point estimate (95% CI).</a:t>
            </a:r>
            <a:endParaRPr lang="en-US" sz="14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17360604" y="6901498"/>
          <a:ext cx="7873344" cy="914400"/>
        </p:xfrm>
        <a:graphic>
          <a:graphicData uri="http://schemas.openxmlformats.org/drawingml/2006/table">
            <a:tbl>
              <a:tblPr/>
              <a:tblGrid>
                <a:gridCol w="3149338"/>
                <a:gridCol w="1574669"/>
                <a:gridCol w="1732136"/>
                <a:gridCol w="1417202"/>
              </a:tblGrid>
              <a:tr h="420624">
                <a:tc>
                  <a:txBody>
                    <a:bodyPr/>
                    <a:lstStyle/>
                    <a:p>
                      <a:pPr algn="l" indent="0" marL="0">
                        <a:buNone/>
                      </a:pPr>
                      <a:r>
                        <a:rPr lang="en-US" sz="1500" b="1" dirty="0">
                          <a:solidFill>
                            <a:srgbClr val="12202E"/>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b="1" dirty="0">
                          <a:solidFill>
                            <a:srgbClr val="12202E"/>
                          </a:solidFill>
                          <a:latin typeface="Calibri" pitchFamily="34" charset="0"/>
                          <a:ea typeface="Calibri" pitchFamily="34" charset="-122"/>
                          <a:cs typeface="Calibri" pitchFamily="34" charset="-120"/>
                        </a:rPr>
                        <a:t>Pooled</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b="1" dirty="0">
                          <a:solidFill>
                            <a:srgbClr val="12202E"/>
                          </a:solidFill>
                          <a:latin typeface="Calibri" pitchFamily="34" charset="0"/>
                          <a:ea typeface="Calibri" pitchFamily="34" charset="-122"/>
                          <a:cs typeface="Calibri" pitchFamily="34" charset="-120"/>
                        </a:rPr>
                        <a:t>Per gene</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b="1" dirty="0">
                          <a:solidFill>
                            <a:srgbClr val="12202E"/>
                          </a:solidFill>
                          <a:latin typeface="Calibri" pitchFamily="34" charset="0"/>
                          <a:ea typeface="Calibri" pitchFamily="34" charset="-122"/>
                          <a:cs typeface="Calibri" pitchFamily="34" charset="-120"/>
                        </a:rPr>
                        <a:t>AUPRC</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420624">
                <a:tc>
                  <a:txBody>
                    <a:bodyPr/>
                    <a:lstStyle/>
                    <a:p>
                      <a:pPr indent="0" marL="0">
                        <a:buNone/>
                      </a:pPr>
                      <a:r>
                        <a:rPr lang="en-US" sz="1500" dirty="0">
                          <a:solidFill>
                            <a:srgbClr val="12202E"/>
                          </a:solidFill>
                          <a:latin typeface="Calibri" pitchFamily="34" charset="0"/>
                          <a:ea typeface="Calibri" pitchFamily="34" charset="-122"/>
                          <a:cs typeface="Calibri" pitchFamily="34" charset="-120"/>
                        </a:rPr>
                        <a:t>Prevalence only</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420624">
                <a:tc>
                  <a:txBody>
                    <a:bodyPr/>
                    <a:lstStyle/>
                    <a:p>
                      <a:pPr indent="0" marL="0">
                        <a:buNone/>
                      </a:pPr>
                      <a:r>
                        <a:rPr lang="en-US" sz="1500" dirty="0">
                          <a:solidFill>
                            <a:srgbClr val="12202E"/>
                          </a:solidFill>
                          <a:latin typeface="Calibri" pitchFamily="34" charset="0"/>
                          <a:ea typeface="Calibri" pitchFamily="34" charset="-122"/>
                          <a:cs typeface="Calibri" pitchFamily="34" charset="-120"/>
                        </a:rPr>
                        <a:t>Burden + locus</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420624">
                <a:tc>
                  <a:txBody>
                    <a:bodyPr/>
                    <a:lstStyle/>
                    <a:p>
                      <a:pPr indent="0" marL="0">
                        <a:buNone/>
                      </a:pPr>
                      <a:r>
                        <a:rPr lang="en-US" sz="1500" dirty="0">
                          <a:solidFill>
                            <a:srgbClr val="12202E"/>
                          </a:solidFill>
                          <a:latin typeface="Calibri" pitchFamily="34" charset="0"/>
                          <a:ea typeface="Calibri" pitchFamily="34" charset="-122"/>
                          <a:cs typeface="Calibri" pitchFamily="34" charset="-120"/>
                        </a:rPr>
                        <a:t>L2 logistic regression</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420624">
                <a:tc>
                  <a:txBody>
                    <a:bodyPr/>
                    <a:lstStyle/>
                    <a:p>
                      <a:pPr indent="0" marL="0">
                        <a:buNone/>
                      </a:pPr>
                      <a:r>
                        <a:rPr lang="en-US" sz="1500" b="1" dirty="0">
                          <a:solidFill>
                            <a:srgbClr val="12202E"/>
                          </a:solidFill>
                          <a:latin typeface="Calibri" pitchFamily="34" charset="0"/>
                          <a:ea typeface="Calibri" pitchFamily="34" charset="-122"/>
                          <a:cs typeface="Calibri" pitchFamily="34" charset="-120"/>
                        </a:rPr>
                        <a:t>Flow matching</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b="1" dirty="0">
                          <a:solidFill>
                            <a:srgbClr val="12202E"/>
                          </a:solidFill>
                          <a:latin typeface="Calibri" pitchFamily="34" charset="0"/>
                          <a:ea typeface="Calibri" pitchFamily="34" charset="-122"/>
                          <a:cs typeface="Calibri" pitchFamily="34" charset="-120"/>
                        </a:rPr>
                        <a:t>0.77–0.79</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b="1"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algn="r" indent="0" marL="0">
                        <a:buNone/>
                      </a:pPr>
                      <a:r>
                        <a:rPr lang="en-US" sz="1500" b="1" dirty="0">
                          <a:solidFill>
                            <a:srgbClr val="A3410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0" marR="0" marT="45720" marB="45720">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bl>
          </a:graphicData>
        </a:graphic>
      </p:graphicFrame>
      <p:sp>
        <p:nvSpPr>
          <p:cNvPr id="50" name="Shape 46"/>
          <p:cNvSpPr/>
          <p:nvPr/>
        </p:nvSpPr>
        <p:spPr>
          <a:xfrm>
            <a:off x="17360604" y="6901498"/>
            <a:ext cx="7873344" cy="0"/>
          </a:xfrm>
          <a:prstGeom prst="line">
            <a:avLst/>
          </a:prstGeom>
          <a:noFill/>
          <a:ln w="19050">
            <a:solidFill>
              <a:srgbClr val="12202E"/>
            </a:solidFill>
            <a:prstDash val="solid"/>
          </a:ln>
        </p:spPr>
      </p:sp>
      <p:sp>
        <p:nvSpPr>
          <p:cNvPr id="51" name="Shape 47"/>
          <p:cNvSpPr/>
          <p:nvPr/>
        </p:nvSpPr>
        <p:spPr>
          <a:xfrm>
            <a:off x="17360604" y="7322122"/>
            <a:ext cx="7873344" cy="0"/>
          </a:xfrm>
          <a:prstGeom prst="line">
            <a:avLst/>
          </a:prstGeom>
          <a:noFill/>
          <a:ln w="15875">
            <a:solidFill>
              <a:srgbClr val="12202E"/>
            </a:solidFill>
            <a:prstDash val="solid"/>
          </a:ln>
        </p:spPr>
      </p:sp>
      <p:sp>
        <p:nvSpPr>
          <p:cNvPr id="52" name="Shape 48"/>
          <p:cNvSpPr/>
          <p:nvPr/>
        </p:nvSpPr>
        <p:spPr>
          <a:xfrm>
            <a:off x="17360604" y="9004618"/>
            <a:ext cx="7873344" cy="0"/>
          </a:xfrm>
          <a:prstGeom prst="line">
            <a:avLst/>
          </a:prstGeom>
          <a:noFill/>
          <a:ln w="19050">
            <a:solidFill>
              <a:srgbClr val="12202E"/>
            </a:solidFill>
            <a:prstDash val="solid"/>
          </a:ln>
        </p:spPr>
      </p:sp>
      <p:sp>
        <p:nvSpPr>
          <p:cNvPr id="53" name="Text 49"/>
          <p:cNvSpPr txBox="1"/>
          <p:nvPr/>
        </p:nvSpPr>
        <p:spPr>
          <a:xfrm>
            <a:off x="17360604" y="9233218"/>
            <a:ext cx="7873344" cy="592201"/>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Calibration and joint fidelity: </a:t>
            </a:r>
            <a:pPr indent="0" marL="0">
              <a:buNone/>
            </a:pPr>
            <a:r>
              <a:rPr lang="en-US" sz="1750" dirty="0">
                <a:solidFill>
                  <a:srgbClr val="12202E"/>
                </a:solidFill>
                <a:latin typeface="Calibri" pitchFamily="34" charset="0"/>
                <a:ea typeface="Calibri" pitchFamily="34" charset="-122"/>
                <a:cs typeface="Calibri" pitchFamily="34" charset="-120"/>
              </a:rPr>
              <a:t>Brier skill </a:t>
            </a:r>
            <a:pPr indent="0" marL="0">
              <a:buNone/>
            </a:pPr>
            <a:r>
              <a:rPr lang="en-US" sz="1750" dirty="0">
                <a:solidFill>
                  <a:srgbClr val="A3410F"/>
                </a:solidFill>
                <a:latin typeface="Calibri" pitchFamily="34" charset="0"/>
                <a:ea typeface="Calibri" pitchFamily="34" charset="-122"/>
                <a:cs typeface="Calibri" pitchFamily="34" charset="-120"/>
              </a:rPr>
              <a:t>[ ]</a:t>
            </a:r>
            <a:pPr indent="0" marL="0">
              <a:buNone/>
            </a:pPr>
            <a:r>
              <a:rPr lang="en-US" sz="1750" dirty="0">
                <a:solidFill>
                  <a:srgbClr val="12202E"/>
                </a:solidFill>
                <a:latin typeface="Calibri" pitchFamily="34" charset="0"/>
                <a:ea typeface="Calibri" pitchFamily="34" charset="-122"/>
                <a:cs typeface="Calibri" pitchFamily="34" charset="-120"/>
              </a:rPr>
              <a:t>; energy score, flow samples vs independent draws </a:t>
            </a:r>
            <a:pPr indent="0" marL="0">
              <a:buNone/>
            </a:pPr>
            <a:r>
              <a:rPr lang="en-US" sz="1750" dirty="0">
                <a:solidFill>
                  <a:srgbClr val="A3410F"/>
                </a:solidFill>
                <a:latin typeface="Calibri" pitchFamily="34" charset="0"/>
                <a:ea typeface="Calibri" pitchFamily="34" charset="-122"/>
                <a:cs typeface="Calibri" pitchFamily="34" charset="-120"/>
              </a:rPr>
              <a:t>[ ] vs [ ]</a:t>
            </a:r>
            <a:pPr indent="0" marL="0">
              <a:buNone/>
            </a:pPr>
            <a:r>
              <a:rPr lang="en-US" sz="1750" dirty="0">
                <a:solidFill>
                  <a:srgbClr val="12202E"/>
                </a:solidFill>
                <a:latin typeface="Calibri" pitchFamily="34" charset="0"/>
                <a:ea typeface="Calibri" pitchFamily="34" charset="-122"/>
                <a:cs typeface="Calibri" pitchFamily="34" charset="-120"/>
              </a:rPr>
              <a:t>.</a:t>
            </a:r>
            <a:endParaRPr lang="en-US" sz="1750" dirty="0"/>
          </a:p>
        </p:txBody>
      </p:sp>
      <p:sp>
        <p:nvSpPr>
          <p:cNvPr id="54" name="Text 50"/>
          <p:cNvSpPr txBox="1"/>
          <p:nvPr/>
        </p:nvSpPr>
        <p:spPr>
          <a:xfrm>
            <a:off x="17360604" y="10099739"/>
            <a:ext cx="7873344" cy="1425639"/>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4.2 Benchmark on public data. </a:t>
            </a:r>
            <a:pPr indent="0" marL="0">
              <a:buNone/>
            </a:pPr>
            <a:r>
              <a:rPr lang="en-US" sz="1750" dirty="0">
                <a:solidFill>
                  <a:srgbClr val="12202E"/>
                </a:solidFill>
                <a:latin typeface="Calibri" pitchFamily="34" charset="0"/>
                <a:ea typeface="Calibri" pitchFamily="34" charset="-122"/>
                <a:cs typeface="Calibri" pitchFamily="34" charset="-120"/>
              </a:rPr>
              <a:t>Pooled AUROC compares pairs across genes, so ranking genes by training frequency alone scores 0.715. Per gene, a 7-feature model matches 1,026-feature logistic regression (0.760 vs 0.728), and pan-cancer training adds +0.039 (95% CI 0.024–0.057; Figure 3).</a:t>
            </a:r>
            <a:endParaRPr lang="en-US" sz="1750" dirty="0"/>
          </a:p>
        </p:txBody>
      </p:sp>
      <p:sp>
        <p:nvSpPr>
          <p:cNvPr id="55" name="Shape 51"/>
          <p:cNvSpPr/>
          <p:nvPr/>
        </p:nvSpPr>
        <p:spPr>
          <a:xfrm>
            <a:off x="17360604" y="11808841"/>
            <a:ext cx="146304" cy="146304"/>
          </a:xfrm>
          <a:prstGeom prst="ellipse">
            <a:avLst/>
          </a:prstGeom>
          <a:solidFill>
            <a:srgbClr val="2A6FD6"/>
          </a:solidFill>
          <a:ln/>
        </p:spPr>
      </p:sp>
      <p:sp>
        <p:nvSpPr>
          <p:cNvPr id="56" name="Text 52"/>
          <p:cNvSpPr txBox="1"/>
          <p:nvPr/>
        </p:nvSpPr>
        <p:spPr>
          <a:xfrm>
            <a:off x="17580060" y="11753977"/>
            <a:ext cx="2011680" cy="27432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Pooled AUROC</a:t>
            </a:r>
            <a:endParaRPr lang="en-US" sz="1300" dirty="0"/>
          </a:p>
        </p:txBody>
      </p:sp>
      <p:sp>
        <p:nvSpPr>
          <p:cNvPr id="57" name="Shape 53"/>
          <p:cNvSpPr/>
          <p:nvPr/>
        </p:nvSpPr>
        <p:spPr>
          <a:xfrm>
            <a:off x="19646604" y="11817985"/>
            <a:ext cx="128016" cy="128016"/>
          </a:xfrm>
          <a:prstGeom prst="rect">
            <a:avLst/>
          </a:prstGeom>
          <a:solidFill>
            <a:srgbClr val="C4501B"/>
          </a:solidFill>
          <a:ln/>
        </p:spPr>
      </p:sp>
      <p:sp>
        <p:nvSpPr>
          <p:cNvPr id="58" name="Text 54"/>
          <p:cNvSpPr txBox="1"/>
          <p:nvPr/>
        </p:nvSpPr>
        <p:spPr>
          <a:xfrm>
            <a:off x="19847772" y="11753977"/>
            <a:ext cx="2103120" cy="27432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Per-gene AUROC</a:t>
            </a:r>
            <a:endParaRPr lang="en-US" sz="1300" dirty="0"/>
          </a:p>
        </p:txBody>
      </p:sp>
      <p:sp>
        <p:nvSpPr>
          <p:cNvPr id="59" name="Text 55"/>
          <p:cNvSpPr txBox="1"/>
          <p:nvPr/>
        </p:nvSpPr>
        <p:spPr>
          <a:xfrm>
            <a:off x="22024044" y="11753977"/>
            <a:ext cx="2103120" cy="274320"/>
          </a:xfrm>
          <a:prstGeom prst="rect">
            <a:avLst/>
          </a:prstGeom>
          <a:noFill/>
          <a:ln/>
        </p:spPr>
        <p:txBody>
          <a:bodyPr wrap="square" lIns="0" tIns="0" rIns="0" bIns="0" rtlCol="0" anchor="t"/>
          <a:lstStyle/>
          <a:p>
            <a:pPr indent="0" marL="0">
              <a:buNone/>
            </a:pPr>
            <a:r>
              <a:rPr lang="en-US" sz="1300" dirty="0">
                <a:solidFill>
                  <a:srgbClr val="3F4B57"/>
                </a:solidFill>
                <a:latin typeface="Calibri" pitchFamily="34" charset="0"/>
                <a:ea typeface="Calibri" pitchFamily="34" charset="-122"/>
                <a:cs typeface="Calibri" pitchFamily="34" charset="-120"/>
              </a:rPr>
              <a:t>lines: 95% CI</a:t>
            </a:r>
            <a:endParaRPr lang="en-US" sz="1300" dirty="0"/>
          </a:p>
        </p:txBody>
      </p:sp>
      <p:sp>
        <p:nvSpPr>
          <p:cNvPr id="60" name="Text 56"/>
          <p:cNvSpPr txBox="1"/>
          <p:nvPr/>
        </p:nvSpPr>
        <p:spPr>
          <a:xfrm>
            <a:off x="17360604" y="12165457"/>
            <a:ext cx="2240280" cy="676656"/>
          </a:xfrm>
          <a:prstGeom prst="rect">
            <a:avLst/>
          </a:prstGeom>
          <a:noFill/>
          <a:ln/>
        </p:spPr>
        <p:txBody>
          <a:bodyPr wrap="square" lIns="0" tIns="0" rIns="0" bIns="0" rtlCol="0" anchor="ctr"/>
          <a:lstStyle/>
          <a:p>
            <a:pPr indent="0" marL="0">
              <a:buNone/>
            </a:pPr>
            <a:r>
              <a:rPr lang="en-US" sz="1600" dirty="0">
                <a:solidFill>
                  <a:srgbClr val="12202E"/>
                </a:solidFill>
                <a:latin typeface="Calibri" pitchFamily="34" charset="0"/>
                <a:ea typeface="Calibri" pitchFamily="34" charset="-122"/>
                <a:cs typeface="Calibri" pitchFamily="34" charset="-120"/>
              </a:rPr>
              <a:t>Prevalence only</a:t>
            </a:r>
            <a:endParaRPr lang="en-US" sz="1600" dirty="0"/>
          </a:p>
        </p:txBody>
      </p:sp>
      <p:sp>
        <p:nvSpPr>
          <p:cNvPr id="61" name="Shape 57"/>
          <p:cNvSpPr/>
          <p:nvPr/>
        </p:nvSpPr>
        <p:spPr>
          <a:xfrm>
            <a:off x="22544246" y="12366625"/>
            <a:ext cx="537377" cy="0"/>
          </a:xfrm>
          <a:prstGeom prst="line">
            <a:avLst/>
          </a:prstGeom>
          <a:noFill/>
          <a:ln w="25400">
            <a:solidFill>
              <a:srgbClr val="2A6FD6"/>
            </a:solidFill>
            <a:prstDash val="solid"/>
          </a:ln>
        </p:spPr>
      </p:sp>
      <p:sp>
        <p:nvSpPr>
          <p:cNvPr id="62" name="Shape 58"/>
          <p:cNvSpPr/>
          <p:nvPr/>
        </p:nvSpPr>
        <p:spPr>
          <a:xfrm>
            <a:off x="22759637" y="12288901"/>
            <a:ext cx="155448" cy="155448"/>
          </a:xfrm>
          <a:prstGeom prst="ellipse">
            <a:avLst/>
          </a:prstGeom>
          <a:solidFill>
            <a:srgbClr val="2A6FD6"/>
          </a:solidFill>
          <a:ln/>
        </p:spPr>
      </p:sp>
      <p:sp>
        <p:nvSpPr>
          <p:cNvPr id="63" name="Text 59"/>
          <p:cNvSpPr txBox="1"/>
          <p:nvPr/>
        </p:nvSpPr>
        <p:spPr>
          <a:xfrm>
            <a:off x="23136487" y="12256897"/>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0.715</a:t>
            </a:r>
            <a:endParaRPr lang="en-US" sz="1150" dirty="0"/>
          </a:p>
        </p:txBody>
      </p:sp>
      <p:sp>
        <p:nvSpPr>
          <p:cNvPr id="64" name="Shape 60"/>
          <p:cNvSpPr/>
          <p:nvPr/>
        </p:nvSpPr>
        <p:spPr>
          <a:xfrm>
            <a:off x="20147532" y="12576937"/>
            <a:ext cx="128016" cy="128016"/>
          </a:xfrm>
          <a:prstGeom prst="rect">
            <a:avLst/>
          </a:prstGeom>
          <a:solidFill>
            <a:srgbClr val="C4501B"/>
          </a:solidFill>
          <a:ln/>
        </p:spPr>
      </p:sp>
      <p:sp>
        <p:nvSpPr>
          <p:cNvPr id="65" name="Text 61"/>
          <p:cNvSpPr txBox="1"/>
          <p:nvPr/>
        </p:nvSpPr>
        <p:spPr>
          <a:xfrm>
            <a:off x="20330412" y="12531217"/>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0.500</a:t>
            </a:r>
            <a:endParaRPr lang="en-US" sz="1150" dirty="0"/>
          </a:p>
        </p:txBody>
      </p:sp>
      <p:sp>
        <p:nvSpPr>
          <p:cNvPr id="66" name="Shape 62"/>
          <p:cNvSpPr/>
          <p:nvPr/>
        </p:nvSpPr>
        <p:spPr>
          <a:xfrm>
            <a:off x="17360604" y="12842113"/>
            <a:ext cx="7873344" cy="0"/>
          </a:xfrm>
          <a:prstGeom prst="line">
            <a:avLst/>
          </a:prstGeom>
          <a:noFill/>
          <a:ln w="9525">
            <a:solidFill>
              <a:srgbClr val="E0E4E8"/>
            </a:solidFill>
            <a:prstDash val="solid"/>
          </a:ln>
        </p:spPr>
      </p:sp>
      <p:sp>
        <p:nvSpPr>
          <p:cNvPr id="67" name="Text 63"/>
          <p:cNvSpPr txBox="1"/>
          <p:nvPr/>
        </p:nvSpPr>
        <p:spPr>
          <a:xfrm>
            <a:off x="17360604" y="12842113"/>
            <a:ext cx="2240280" cy="676656"/>
          </a:xfrm>
          <a:prstGeom prst="rect">
            <a:avLst/>
          </a:prstGeom>
          <a:noFill/>
          <a:ln/>
        </p:spPr>
        <p:txBody>
          <a:bodyPr wrap="square" lIns="0" tIns="0" rIns="0" bIns="0" rtlCol="0" anchor="ctr"/>
          <a:lstStyle/>
          <a:p>
            <a:pPr indent="0" marL="0">
              <a:buNone/>
            </a:pPr>
            <a:r>
              <a:rPr lang="en-US" sz="1600" dirty="0">
                <a:solidFill>
                  <a:srgbClr val="12202E"/>
                </a:solidFill>
                <a:latin typeface="Calibri" pitchFamily="34" charset="0"/>
                <a:ea typeface="Calibri" pitchFamily="34" charset="-122"/>
                <a:cs typeface="Calibri" pitchFamily="34" charset="-120"/>
              </a:rPr>
              <a:t>Burden + locus</a:t>
            </a:r>
            <a:endParaRPr lang="en-US" sz="1600" dirty="0"/>
          </a:p>
        </p:txBody>
      </p:sp>
      <p:sp>
        <p:nvSpPr>
          <p:cNvPr id="68" name="Shape 64"/>
          <p:cNvSpPr/>
          <p:nvPr/>
        </p:nvSpPr>
        <p:spPr>
          <a:xfrm>
            <a:off x="23081623" y="13043281"/>
            <a:ext cx="537377" cy="0"/>
          </a:xfrm>
          <a:prstGeom prst="line">
            <a:avLst/>
          </a:prstGeom>
          <a:noFill/>
          <a:ln w="25400">
            <a:solidFill>
              <a:srgbClr val="2A6FD6"/>
            </a:solidFill>
            <a:prstDash val="solid"/>
          </a:ln>
        </p:spPr>
      </p:sp>
      <p:sp>
        <p:nvSpPr>
          <p:cNvPr id="69" name="Shape 65"/>
          <p:cNvSpPr/>
          <p:nvPr/>
        </p:nvSpPr>
        <p:spPr>
          <a:xfrm>
            <a:off x="23309227" y="12965557"/>
            <a:ext cx="155448" cy="155448"/>
          </a:xfrm>
          <a:prstGeom prst="ellipse">
            <a:avLst/>
          </a:prstGeom>
          <a:solidFill>
            <a:srgbClr val="2A6FD6"/>
          </a:solidFill>
          <a:ln/>
        </p:spPr>
      </p:sp>
      <p:sp>
        <p:nvSpPr>
          <p:cNvPr id="70" name="Text 66"/>
          <p:cNvSpPr txBox="1"/>
          <p:nvPr/>
        </p:nvSpPr>
        <p:spPr>
          <a:xfrm>
            <a:off x="23673864" y="12933553"/>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0.760</a:t>
            </a:r>
            <a:endParaRPr lang="en-US" sz="1150" dirty="0"/>
          </a:p>
        </p:txBody>
      </p:sp>
      <p:sp>
        <p:nvSpPr>
          <p:cNvPr id="71" name="Shape 67"/>
          <p:cNvSpPr/>
          <p:nvPr/>
        </p:nvSpPr>
        <p:spPr>
          <a:xfrm>
            <a:off x="23093836" y="13317601"/>
            <a:ext cx="598443" cy="0"/>
          </a:xfrm>
          <a:prstGeom prst="line">
            <a:avLst/>
          </a:prstGeom>
          <a:noFill/>
          <a:ln w="25400">
            <a:solidFill>
              <a:srgbClr val="C4501B"/>
            </a:solidFill>
            <a:prstDash val="solid"/>
          </a:ln>
        </p:spPr>
      </p:sp>
      <p:sp>
        <p:nvSpPr>
          <p:cNvPr id="72" name="Shape 68"/>
          <p:cNvSpPr/>
          <p:nvPr/>
        </p:nvSpPr>
        <p:spPr>
          <a:xfrm>
            <a:off x="23322943" y="13253593"/>
            <a:ext cx="128016" cy="128016"/>
          </a:xfrm>
          <a:prstGeom prst="rect">
            <a:avLst/>
          </a:prstGeom>
          <a:solidFill>
            <a:srgbClr val="C4501B"/>
          </a:solidFill>
          <a:ln/>
        </p:spPr>
      </p:sp>
      <p:sp>
        <p:nvSpPr>
          <p:cNvPr id="73" name="Text 69"/>
          <p:cNvSpPr txBox="1"/>
          <p:nvPr/>
        </p:nvSpPr>
        <p:spPr>
          <a:xfrm>
            <a:off x="23747143" y="13207873"/>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0.760</a:t>
            </a:r>
            <a:endParaRPr lang="en-US" sz="1150" dirty="0"/>
          </a:p>
        </p:txBody>
      </p:sp>
      <p:sp>
        <p:nvSpPr>
          <p:cNvPr id="74" name="Shape 70"/>
          <p:cNvSpPr/>
          <p:nvPr/>
        </p:nvSpPr>
        <p:spPr>
          <a:xfrm>
            <a:off x="17360604" y="13518769"/>
            <a:ext cx="7873344" cy="0"/>
          </a:xfrm>
          <a:prstGeom prst="line">
            <a:avLst/>
          </a:prstGeom>
          <a:noFill/>
          <a:ln w="9525">
            <a:solidFill>
              <a:srgbClr val="E0E4E8"/>
            </a:solidFill>
            <a:prstDash val="solid"/>
          </a:ln>
        </p:spPr>
      </p:sp>
      <p:sp>
        <p:nvSpPr>
          <p:cNvPr id="75" name="Text 71"/>
          <p:cNvSpPr txBox="1"/>
          <p:nvPr/>
        </p:nvSpPr>
        <p:spPr>
          <a:xfrm>
            <a:off x="17360604" y="13518769"/>
            <a:ext cx="2240280" cy="676656"/>
          </a:xfrm>
          <a:prstGeom prst="rect">
            <a:avLst/>
          </a:prstGeom>
          <a:noFill/>
          <a:ln/>
        </p:spPr>
        <p:txBody>
          <a:bodyPr wrap="square" lIns="0" tIns="0" rIns="0" bIns="0" rtlCol="0" anchor="ctr"/>
          <a:lstStyle/>
          <a:p>
            <a:pPr indent="0" marL="0">
              <a:buNone/>
            </a:pPr>
            <a:r>
              <a:rPr lang="en-US" sz="1600" dirty="0">
                <a:solidFill>
                  <a:srgbClr val="12202E"/>
                </a:solidFill>
                <a:latin typeface="Calibri" pitchFamily="34" charset="0"/>
                <a:ea typeface="Calibri" pitchFamily="34" charset="-122"/>
                <a:cs typeface="Calibri" pitchFamily="34" charset="-120"/>
              </a:rPr>
              <a:t>L2 logistic regression</a:t>
            </a:r>
            <a:endParaRPr lang="en-US" sz="1600" dirty="0"/>
          </a:p>
        </p:txBody>
      </p:sp>
      <p:sp>
        <p:nvSpPr>
          <p:cNvPr id="76" name="Shape 72"/>
          <p:cNvSpPr/>
          <p:nvPr/>
        </p:nvSpPr>
        <p:spPr>
          <a:xfrm>
            <a:off x="23313672" y="13719937"/>
            <a:ext cx="512951" cy="0"/>
          </a:xfrm>
          <a:prstGeom prst="line">
            <a:avLst/>
          </a:prstGeom>
          <a:noFill/>
          <a:ln w="25400">
            <a:solidFill>
              <a:srgbClr val="2A6FD6"/>
            </a:solidFill>
            <a:prstDash val="solid"/>
          </a:ln>
        </p:spPr>
      </p:sp>
      <p:sp>
        <p:nvSpPr>
          <p:cNvPr id="77" name="Shape 73"/>
          <p:cNvSpPr/>
          <p:nvPr/>
        </p:nvSpPr>
        <p:spPr>
          <a:xfrm>
            <a:off x="23529063" y="13642213"/>
            <a:ext cx="155448" cy="155448"/>
          </a:xfrm>
          <a:prstGeom prst="ellipse">
            <a:avLst/>
          </a:prstGeom>
          <a:solidFill>
            <a:srgbClr val="2A6FD6"/>
          </a:solidFill>
          <a:ln/>
        </p:spPr>
      </p:sp>
      <p:sp>
        <p:nvSpPr>
          <p:cNvPr id="78" name="Text 74"/>
          <p:cNvSpPr txBox="1"/>
          <p:nvPr/>
        </p:nvSpPr>
        <p:spPr>
          <a:xfrm>
            <a:off x="23881488" y="13610209"/>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0.778</a:t>
            </a:r>
            <a:endParaRPr lang="en-US" sz="1150" dirty="0"/>
          </a:p>
        </p:txBody>
      </p:sp>
      <p:sp>
        <p:nvSpPr>
          <p:cNvPr id="79" name="Shape 75"/>
          <p:cNvSpPr/>
          <p:nvPr/>
        </p:nvSpPr>
        <p:spPr>
          <a:xfrm>
            <a:off x="22715230" y="13994257"/>
            <a:ext cx="586230" cy="0"/>
          </a:xfrm>
          <a:prstGeom prst="line">
            <a:avLst/>
          </a:prstGeom>
          <a:noFill/>
          <a:ln w="25400">
            <a:solidFill>
              <a:srgbClr val="C4501B"/>
            </a:solidFill>
            <a:prstDash val="solid"/>
          </a:ln>
        </p:spPr>
      </p:sp>
      <p:sp>
        <p:nvSpPr>
          <p:cNvPr id="80" name="Shape 76"/>
          <p:cNvSpPr/>
          <p:nvPr/>
        </p:nvSpPr>
        <p:spPr>
          <a:xfrm>
            <a:off x="22932123" y="13930249"/>
            <a:ext cx="128016" cy="128016"/>
          </a:xfrm>
          <a:prstGeom prst="rect">
            <a:avLst/>
          </a:prstGeom>
          <a:solidFill>
            <a:srgbClr val="C4501B"/>
          </a:solidFill>
          <a:ln/>
        </p:spPr>
      </p:sp>
      <p:sp>
        <p:nvSpPr>
          <p:cNvPr id="81" name="Text 77"/>
          <p:cNvSpPr txBox="1"/>
          <p:nvPr/>
        </p:nvSpPr>
        <p:spPr>
          <a:xfrm>
            <a:off x="23356323" y="13884529"/>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0.728</a:t>
            </a:r>
            <a:endParaRPr lang="en-US" sz="1150" dirty="0"/>
          </a:p>
        </p:txBody>
      </p:sp>
      <p:sp>
        <p:nvSpPr>
          <p:cNvPr id="82" name="Shape 78"/>
          <p:cNvSpPr/>
          <p:nvPr/>
        </p:nvSpPr>
        <p:spPr>
          <a:xfrm>
            <a:off x="17360604" y="14195425"/>
            <a:ext cx="7873344" cy="0"/>
          </a:xfrm>
          <a:prstGeom prst="line">
            <a:avLst/>
          </a:prstGeom>
          <a:noFill/>
          <a:ln w="9525">
            <a:solidFill>
              <a:srgbClr val="E0E4E8"/>
            </a:solidFill>
            <a:prstDash val="solid"/>
          </a:ln>
        </p:spPr>
      </p:sp>
      <p:sp>
        <p:nvSpPr>
          <p:cNvPr id="83" name="Text 79"/>
          <p:cNvSpPr txBox="1"/>
          <p:nvPr/>
        </p:nvSpPr>
        <p:spPr>
          <a:xfrm>
            <a:off x="17360604" y="14195425"/>
            <a:ext cx="2240280" cy="676656"/>
          </a:xfrm>
          <a:prstGeom prst="rect">
            <a:avLst/>
          </a:prstGeom>
          <a:noFill/>
          <a:ln/>
        </p:spPr>
        <p:txBody>
          <a:bodyPr wrap="square" lIns="0" tIns="0" rIns="0" bIns="0" rtlCol="0" anchor="ctr"/>
          <a:lstStyle/>
          <a:p>
            <a:pPr indent="0" marL="0">
              <a:buNone/>
            </a:pPr>
            <a:r>
              <a:rPr lang="en-US" sz="1600" dirty="0">
                <a:solidFill>
                  <a:srgbClr val="12202E"/>
                </a:solidFill>
                <a:latin typeface="Calibri" pitchFamily="34" charset="0"/>
                <a:ea typeface="Calibri" pitchFamily="34" charset="-122"/>
                <a:cs typeface="Calibri" pitchFamily="34" charset="-120"/>
              </a:rPr>
              <a:t>Pan-cancer logistic</a:t>
            </a:r>
            <a:endParaRPr lang="en-US" sz="1600" dirty="0"/>
          </a:p>
        </p:txBody>
      </p:sp>
      <p:sp>
        <p:nvSpPr>
          <p:cNvPr id="84" name="Shape 80"/>
          <p:cNvSpPr/>
          <p:nvPr/>
        </p:nvSpPr>
        <p:spPr>
          <a:xfrm>
            <a:off x="23765558" y="14396593"/>
            <a:ext cx="464099" cy="0"/>
          </a:xfrm>
          <a:prstGeom prst="line">
            <a:avLst/>
          </a:prstGeom>
          <a:noFill/>
          <a:ln w="25400">
            <a:solidFill>
              <a:srgbClr val="2A6FD6"/>
            </a:solidFill>
            <a:prstDash val="solid"/>
          </a:ln>
        </p:spPr>
      </p:sp>
      <p:sp>
        <p:nvSpPr>
          <p:cNvPr id="85" name="Shape 81"/>
          <p:cNvSpPr/>
          <p:nvPr/>
        </p:nvSpPr>
        <p:spPr>
          <a:xfrm>
            <a:off x="23895457" y="14318869"/>
            <a:ext cx="155448" cy="155448"/>
          </a:xfrm>
          <a:prstGeom prst="ellipse">
            <a:avLst/>
          </a:prstGeom>
          <a:solidFill>
            <a:srgbClr val="2A6FD6"/>
          </a:solidFill>
          <a:ln/>
        </p:spPr>
      </p:sp>
      <p:sp>
        <p:nvSpPr>
          <p:cNvPr id="86" name="Text 82"/>
          <p:cNvSpPr txBox="1"/>
          <p:nvPr/>
        </p:nvSpPr>
        <p:spPr>
          <a:xfrm>
            <a:off x="24284520" y="14286865"/>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0.808</a:t>
            </a:r>
            <a:endParaRPr lang="en-US" sz="1150" dirty="0"/>
          </a:p>
        </p:txBody>
      </p:sp>
      <p:sp>
        <p:nvSpPr>
          <p:cNvPr id="87" name="Shape 83"/>
          <p:cNvSpPr/>
          <p:nvPr/>
        </p:nvSpPr>
        <p:spPr>
          <a:xfrm>
            <a:off x="23154902" y="14670913"/>
            <a:ext cx="598443" cy="0"/>
          </a:xfrm>
          <a:prstGeom prst="line">
            <a:avLst/>
          </a:prstGeom>
          <a:noFill/>
          <a:ln w="25400">
            <a:solidFill>
              <a:srgbClr val="C4501B"/>
            </a:solidFill>
            <a:prstDash val="solid"/>
          </a:ln>
        </p:spPr>
      </p:sp>
      <p:sp>
        <p:nvSpPr>
          <p:cNvPr id="88" name="Shape 84"/>
          <p:cNvSpPr/>
          <p:nvPr/>
        </p:nvSpPr>
        <p:spPr>
          <a:xfrm>
            <a:off x="23408435" y="14606905"/>
            <a:ext cx="128016" cy="128016"/>
          </a:xfrm>
          <a:prstGeom prst="rect">
            <a:avLst/>
          </a:prstGeom>
          <a:solidFill>
            <a:srgbClr val="C4501B"/>
          </a:solidFill>
          <a:ln/>
        </p:spPr>
      </p:sp>
      <p:sp>
        <p:nvSpPr>
          <p:cNvPr id="89" name="Text 85"/>
          <p:cNvSpPr txBox="1"/>
          <p:nvPr/>
        </p:nvSpPr>
        <p:spPr>
          <a:xfrm>
            <a:off x="23808209" y="14561185"/>
            <a:ext cx="640080" cy="219456"/>
          </a:xfrm>
          <a:prstGeom prst="rect">
            <a:avLst/>
          </a:prstGeom>
          <a:noFill/>
          <a:ln/>
        </p:spPr>
        <p:txBody>
          <a:bodyPr wrap="square" lIns="0" tIns="0" rIns="0" bIns="0" rtlCol="0" anchor="t"/>
          <a:lstStyle/>
          <a:p>
            <a:pPr indent="0" marL="0">
              <a:buNone/>
            </a:pPr>
            <a:r>
              <a:rPr lang="en-US" sz="1150" dirty="0">
                <a:solidFill>
                  <a:srgbClr val="12202E"/>
                </a:solidFill>
                <a:latin typeface="Calibri" pitchFamily="34" charset="0"/>
                <a:ea typeface="Calibri" pitchFamily="34" charset="-122"/>
                <a:cs typeface="Calibri" pitchFamily="34" charset="-120"/>
              </a:rPr>
              <a:t>0.767</a:t>
            </a:r>
            <a:endParaRPr lang="en-US" sz="1150" dirty="0"/>
          </a:p>
        </p:txBody>
      </p:sp>
      <p:sp>
        <p:nvSpPr>
          <p:cNvPr id="90" name="Shape 86"/>
          <p:cNvSpPr/>
          <p:nvPr/>
        </p:nvSpPr>
        <p:spPr>
          <a:xfrm>
            <a:off x="17360604" y="14872081"/>
            <a:ext cx="7873344" cy="0"/>
          </a:xfrm>
          <a:prstGeom prst="line">
            <a:avLst/>
          </a:prstGeom>
          <a:noFill/>
          <a:ln w="9525">
            <a:solidFill>
              <a:srgbClr val="E0E4E8"/>
            </a:solidFill>
            <a:prstDash val="solid"/>
          </a:ln>
        </p:spPr>
      </p:sp>
      <p:sp>
        <p:nvSpPr>
          <p:cNvPr id="91" name="Shape 87"/>
          <p:cNvSpPr/>
          <p:nvPr/>
        </p:nvSpPr>
        <p:spPr>
          <a:xfrm>
            <a:off x="20211540" y="12165457"/>
            <a:ext cx="0" cy="2706624"/>
          </a:xfrm>
          <a:prstGeom prst="line">
            <a:avLst/>
          </a:prstGeom>
          <a:noFill/>
          <a:ln w="9525">
            <a:solidFill>
              <a:srgbClr val="E0E4E8"/>
            </a:solidFill>
            <a:prstDash val="dash"/>
          </a:ln>
        </p:spPr>
      </p:sp>
      <p:sp>
        <p:nvSpPr>
          <p:cNvPr id="92" name="Text 88"/>
          <p:cNvSpPr txBox="1"/>
          <p:nvPr/>
        </p:nvSpPr>
        <p:spPr>
          <a:xfrm>
            <a:off x="19937220" y="14917801"/>
            <a:ext cx="548640" cy="228600"/>
          </a:xfrm>
          <a:prstGeom prst="rect">
            <a:avLst/>
          </a:prstGeom>
          <a:noFill/>
          <a:ln/>
        </p:spPr>
        <p:txBody>
          <a:bodyPr wrap="square" lIns="0" tIns="0" rIns="0" bIns="0" rtlCol="0" anchor="t"/>
          <a:lstStyle/>
          <a:p>
            <a:pPr algn="ctr" indent="0" marL="0">
              <a:buNone/>
            </a:pPr>
            <a:r>
              <a:rPr lang="en-US" sz="1150" dirty="0">
                <a:solidFill>
                  <a:srgbClr val="3F4B57"/>
                </a:solidFill>
                <a:latin typeface="Calibri" pitchFamily="34" charset="0"/>
                <a:ea typeface="Calibri" pitchFamily="34" charset="-122"/>
                <a:cs typeface="Calibri" pitchFamily="34" charset="-120"/>
              </a:rPr>
              <a:t>0.50</a:t>
            </a:r>
            <a:endParaRPr lang="en-US" sz="1150" dirty="0"/>
          </a:p>
        </p:txBody>
      </p:sp>
      <p:sp>
        <p:nvSpPr>
          <p:cNvPr id="93" name="Shape 89"/>
          <p:cNvSpPr/>
          <p:nvPr/>
        </p:nvSpPr>
        <p:spPr>
          <a:xfrm>
            <a:off x="21432852" y="12165457"/>
            <a:ext cx="0" cy="2706624"/>
          </a:xfrm>
          <a:prstGeom prst="line">
            <a:avLst/>
          </a:prstGeom>
          <a:noFill/>
          <a:ln w="9525">
            <a:solidFill>
              <a:srgbClr val="E0E4E8"/>
            </a:solidFill>
            <a:prstDash val="dash"/>
          </a:ln>
        </p:spPr>
      </p:sp>
      <p:sp>
        <p:nvSpPr>
          <p:cNvPr id="94" name="Text 90"/>
          <p:cNvSpPr txBox="1"/>
          <p:nvPr/>
        </p:nvSpPr>
        <p:spPr>
          <a:xfrm>
            <a:off x="21158532" y="14917801"/>
            <a:ext cx="548640" cy="228600"/>
          </a:xfrm>
          <a:prstGeom prst="rect">
            <a:avLst/>
          </a:prstGeom>
          <a:noFill/>
          <a:ln/>
        </p:spPr>
        <p:txBody>
          <a:bodyPr wrap="square" lIns="0" tIns="0" rIns="0" bIns="0" rtlCol="0" anchor="t"/>
          <a:lstStyle/>
          <a:p>
            <a:pPr algn="ctr" indent="0" marL="0">
              <a:buNone/>
            </a:pPr>
            <a:r>
              <a:rPr lang="en-US" sz="1150" dirty="0">
                <a:solidFill>
                  <a:srgbClr val="3F4B57"/>
                </a:solidFill>
                <a:latin typeface="Calibri" pitchFamily="34" charset="0"/>
                <a:ea typeface="Calibri" pitchFamily="34" charset="-122"/>
                <a:cs typeface="Calibri" pitchFamily="34" charset="-120"/>
              </a:rPr>
              <a:t>0.60</a:t>
            </a:r>
            <a:endParaRPr lang="en-US" sz="1150" dirty="0"/>
          </a:p>
        </p:txBody>
      </p:sp>
      <p:sp>
        <p:nvSpPr>
          <p:cNvPr id="95" name="Shape 91"/>
          <p:cNvSpPr/>
          <p:nvPr/>
        </p:nvSpPr>
        <p:spPr>
          <a:xfrm>
            <a:off x="22654164" y="12165457"/>
            <a:ext cx="0" cy="2706624"/>
          </a:xfrm>
          <a:prstGeom prst="line">
            <a:avLst/>
          </a:prstGeom>
          <a:noFill/>
          <a:ln w="9525">
            <a:solidFill>
              <a:srgbClr val="E0E4E8"/>
            </a:solidFill>
            <a:prstDash val="dash"/>
          </a:ln>
        </p:spPr>
      </p:sp>
      <p:sp>
        <p:nvSpPr>
          <p:cNvPr id="96" name="Text 92"/>
          <p:cNvSpPr txBox="1"/>
          <p:nvPr/>
        </p:nvSpPr>
        <p:spPr>
          <a:xfrm>
            <a:off x="22379844" y="14917801"/>
            <a:ext cx="548640" cy="228600"/>
          </a:xfrm>
          <a:prstGeom prst="rect">
            <a:avLst/>
          </a:prstGeom>
          <a:noFill/>
          <a:ln/>
        </p:spPr>
        <p:txBody>
          <a:bodyPr wrap="square" lIns="0" tIns="0" rIns="0" bIns="0" rtlCol="0" anchor="t"/>
          <a:lstStyle/>
          <a:p>
            <a:pPr algn="ctr" indent="0" marL="0">
              <a:buNone/>
            </a:pPr>
            <a:r>
              <a:rPr lang="en-US" sz="1150" dirty="0">
                <a:solidFill>
                  <a:srgbClr val="3F4B57"/>
                </a:solidFill>
                <a:latin typeface="Calibri" pitchFamily="34" charset="0"/>
                <a:ea typeface="Calibri" pitchFamily="34" charset="-122"/>
                <a:cs typeface="Calibri" pitchFamily="34" charset="-120"/>
              </a:rPr>
              <a:t>0.70</a:t>
            </a:r>
            <a:endParaRPr lang="en-US" sz="1150" dirty="0"/>
          </a:p>
        </p:txBody>
      </p:sp>
      <p:sp>
        <p:nvSpPr>
          <p:cNvPr id="97" name="Shape 93"/>
          <p:cNvSpPr/>
          <p:nvPr/>
        </p:nvSpPr>
        <p:spPr>
          <a:xfrm>
            <a:off x="23875476" y="12165457"/>
            <a:ext cx="0" cy="2706624"/>
          </a:xfrm>
          <a:prstGeom prst="line">
            <a:avLst/>
          </a:prstGeom>
          <a:noFill/>
          <a:ln w="9525">
            <a:solidFill>
              <a:srgbClr val="E0E4E8"/>
            </a:solidFill>
            <a:prstDash val="dash"/>
          </a:ln>
        </p:spPr>
      </p:sp>
      <p:sp>
        <p:nvSpPr>
          <p:cNvPr id="98" name="Text 94"/>
          <p:cNvSpPr txBox="1"/>
          <p:nvPr/>
        </p:nvSpPr>
        <p:spPr>
          <a:xfrm>
            <a:off x="23601156" y="14917801"/>
            <a:ext cx="548640" cy="228600"/>
          </a:xfrm>
          <a:prstGeom prst="rect">
            <a:avLst/>
          </a:prstGeom>
          <a:noFill/>
          <a:ln/>
        </p:spPr>
        <p:txBody>
          <a:bodyPr wrap="square" lIns="0" tIns="0" rIns="0" bIns="0" rtlCol="0" anchor="t"/>
          <a:lstStyle/>
          <a:p>
            <a:pPr algn="ctr" indent="0" marL="0">
              <a:buNone/>
            </a:pPr>
            <a:r>
              <a:rPr lang="en-US" sz="1150" dirty="0">
                <a:solidFill>
                  <a:srgbClr val="3F4B57"/>
                </a:solidFill>
                <a:latin typeface="Calibri" pitchFamily="34" charset="0"/>
                <a:ea typeface="Calibri" pitchFamily="34" charset="-122"/>
                <a:cs typeface="Calibri" pitchFamily="34" charset="-120"/>
              </a:rPr>
              <a:t>0.80</a:t>
            </a:r>
            <a:endParaRPr lang="en-US" sz="1150" dirty="0"/>
          </a:p>
        </p:txBody>
      </p:sp>
      <p:sp>
        <p:nvSpPr>
          <p:cNvPr id="99" name="Shape 95"/>
          <p:cNvSpPr/>
          <p:nvPr/>
        </p:nvSpPr>
        <p:spPr>
          <a:xfrm>
            <a:off x="25096788" y="12165457"/>
            <a:ext cx="0" cy="2706624"/>
          </a:xfrm>
          <a:prstGeom prst="line">
            <a:avLst/>
          </a:prstGeom>
          <a:noFill/>
          <a:ln w="9525">
            <a:solidFill>
              <a:srgbClr val="E0E4E8"/>
            </a:solidFill>
            <a:prstDash val="dash"/>
          </a:ln>
        </p:spPr>
      </p:sp>
      <p:sp>
        <p:nvSpPr>
          <p:cNvPr id="100" name="Text 96"/>
          <p:cNvSpPr txBox="1"/>
          <p:nvPr/>
        </p:nvSpPr>
        <p:spPr>
          <a:xfrm>
            <a:off x="24822468" y="14917801"/>
            <a:ext cx="548640" cy="228600"/>
          </a:xfrm>
          <a:prstGeom prst="rect">
            <a:avLst/>
          </a:prstGeom>
          <a:noFill/>
          <a:ln/>
        </p:spPr>
        <p:txBody>
          <a:bodyPr wrap="square" lIns="0" tIns="0" rIns="0" bIns="0" rtlCol="0" anchor="t"/>
          <a:lstStyle/>
          <a:p>
            <a:pPr algn="ctr" indent="0" marL="0">
              <a:buNone/>
            </a:pPr>
            <a:r>
              <a:rPr lang="en-US" sz="1150" dirty="0">
                <a:solidFill>
                  <a:srgbClr val="3F4B57"/>
                </a:solidFill>
                <a:latin typeface="Calibri" pitchFamily="34" charset="0"/>
                <a:ea typeface="Calibri" pitchFamily="34" charset="-122"/>
                <a:cs typeface="Calibri" pitchFamily="34" charset="-120"/>
              </a:rPr>
              <a:t>0.90</a:t>
            </a:r>
            <a:endParaRPr lang="en-US" sz="1150" dirty="0"/>
          </a:p>
        </p:txBody>
      </p:sp>
      <p:sp>
        <p:nvSpPr>
          <p:cNvPr id="101" name="Text 97"/>
          <p:cNvSpPr txBox="1"/>
          <p:nvPr/>
        </p:nvSpPr>
        <p:spPr>
          <a:xfrm>
            <a:off x="17360604" y="15237841"/>
            <a:ext cx="7873344" cy="481076"/>
          </a:xfrm>
          <a:prstGeom prst="rect">
            <a:avLst/>
          </a:prstGeom>
          <a:noFill/>
          <a:ln/>
        </p:spPr>
        <p:txBody>
          <a:bodyPr wrap="square" lIns="0" tIns="0" rIns="0" bIns="0" rtlCol="0" anchor="t"/>
          <a:lstStyle/>
          <a:p>
            <a:pPr indent="0" marL="0">
              <a:buNone/>
            </a:pPr>
            <a:r>
              <a:rPr lang="en-US" sz="1400" b="1" dirty="0">
                <a:solidFill>
                  <a:srgbClr val="3F4B57"/>
                </a:solidFill>
                <a:latin typeface="Calibri" pitchFamily="34" charset="0"/>
                <a:ea typeface="Calibri" pitchFamily="34" charset="-122"/>
                <a:cs typeface="Calibri" pitchFamily="34" charset="-120"/>
              </a:rPr>
              <a:t>Figure 3. </a:t>
            </a:r>
            <a:pPr indent="0" marL="0">
              <a:buNone/>
            </a:pPr>
            <a:r>
              <a:rPr lang="en-US" sz="1400" dirty="0">
                <a:solidFill>
                  <a:srgbClr val="3F4B57"/>
                </a:solidFill>
                <a:latin typeface="Calibri" pitchFamily="34" charset="0"/>
                <a:ea typeface="Calibri" pitchFamily="34" charset="-122"/>
                <a:cs typeface="Calibri" pitchFamily="34" charset="-120"/>
              </a:rPr>
              <a:t>Replicate (n = 1,215): AUROC with patient-bootstrap 95% CI. Pan-cancer: trained on 7,773 patients with cancer type as covariate.</a:t>
            </a:r>
            <a:endParaRPr lang="en-US" sz="1400" dirty="0"/>
          </a:p>
        </p:txBody>
      </p:sp>
      <p:sp>
        <p:nvSpPr>
          <p:cNvPr id="102" name="Shape 98"/>
          <p:cNvSpPr/>
          <p:nvPr/>
        </p:nvSpPr>
        <p:spPr>
          <a:xfrm>
            <a:off x="25755156" y="4343400"/>
            <a:ext cx="7873344" cy="0"/>
          </a:xfrm>
          <a:prstGeom prst="line">
            <a:avLst/>
          </a:prstGeom>
          <a:noFill/>
          <a:ln w="28575">
            <a:solidFill>
              <a:srgbClr val="12202E"/>
            </a:solidFill>
            <a:prstDash val="solid"/>
          </a:ln>
        </p:spPr>
      </p:sp>
      <p:sp>
        <p:nvSpPr>
          <p:cNvPr id="103" name="Text 99"/>
          <p:cNvSpPr txBox="1"/>
          <p:nvPr/>
        </p:nvSpPr>
        <p:spPr>
          <a:xfrm>
            <a:off x="25755156" y="4480560"/>
            <a:ext cx="7873344" cy="1425639"/>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4.3 Sources of signal. </a:t>
            </a:r>
            <a:pPr indent="0" marL="0">
              <a:buNone/>
            </a:pPr>
            <a:r>
              <a:rPr lang="en-US" sz="1750" dirty="0">
                <a:solidFill>
                  <a:srgbClr val="12202E"/>
                </a:solidFill>
                <a:latin typeface="Calibri" pitchFamily="34" charset="0"/>
                <a:ea typeface="Calibri" pitchFamily="34" charset="-122"/>
                <a:cs typeface="Calibri" pitchFamily="34" charset="-120"/>
              </a:rPr>
              <a:t>Amplifications were highly discriminable (AUROC 0.95), explained largely by co-amplification with neighbouring assayed genes (NFKBIA with NKX2-1 in 39/39 cases). Mutations reached 0.73, no better than three mutational-burden counts alone (Figure 4).</a:t>
            </a:r>
            <a:endParaRPr lang="en-US" sz="1750" dirty="0"/>
          </a:p>
        </p:txBody>
      </p:sp>
      <p:graphicFrame>
        <p:nvGraphicFramePr>
          <p:cNvPr id="104" name="Chart 0" descr=""/>
          <p:cNvGraphicFramePr/>
          <p:nvPr/>
        </p:nvGraphicFramePr>
        <p:xfrm>
          <a:off x="25755156" y="6134799"/>
          <a:ext cx="7873344" cy="2057400"/>
        </p:xfrm>
        <a:graphic xmlns:a="http://schemas.openxmlformats.org/drawingml/2006/main">
          <a:graphicData uri="http://schemas.openxmlformats.org/drawingml/2006/chart">
            <c:chart xmlns:c="http://schemas.openxmlformats.org/drawingml/2006/chart" r:id="rId1"/>
          </a:graphicData>
        </a:graphic>
      </p:graphicFrame>
      <p:sp>
        <p:nvSpPr>
          <p:cNvPr id="105" name="Text 100"/>
          <p:cNvSpPr txBox="1"/>
          <p:nvPr/>
        </p:nvSpPr>
        <p:spPr>
          <a:xfrm>
            <a:off x="25755156" y="8265351"/>
            <a:ext cx="7873344" cy="481076"/>
          </a:xfrm>
          <a:prstGeom prst="rect">
            <a:avLst/>
          </a:prstGeom>
          <a:noFill/>
          <a:ln/>
        </p:spPr>
        <p:txBody>
          <a:bodyPr wrap="square" lIns="0" tIns="0" rIns="0" bIns="0" rtlCol="0" anchor="t"/>
          <a:lstStyle/>
          <a:p>
            <a:pPr indent="0" marL="0">
              <a:buNone/>
            </a:pPr>
            <a:r>
              <a:rPr lang="en-US" sz="1400" b="1" dirty="0">
                <a:solidFill>
                  <a:srgbClr val="3F4B57"/>
                </a:solidFill>
                <a:latin typeface="Calibri" pitchFamily="34" charset="0"/>
                <a:ea typeface="Calibri" pitchFamily="34" charset="-122"/>
                <a:cs typeface="Calibri" pitchFamily="34" charset="-120"/>
              </a:rPr>
              <a:t>Figure 4. </a:t>
            </a:r>
            <a:pPr indent="0" marL="0">
              <a:buNone/>
            </a:pPr>
            <a:r>
              <a:rPr lang="en-US" sz="1400" dirty="0">
                <a:solidFill>
                  <a:srgbClr val="3F4B57"/>
                </a:solidFill>
                <a:latin typeface="Calibri" pitchFamily="34" charset="0"/>
                <a:ea typeface="Calibri" pitchFamily="34" charset="-122"/>
                <a:cs typeface="Calibri" pitchFamily="34" charset="-120"/>
              </a:rPr>
              <a:t>Replicate: per-gene AUROC by event type (positives-weighted mean; axis origin 0.50), pan-cancer logistic regression.</a:t>
            </a:r>
            <a:endParaRPr lang="en-US" sz="1400" dirty="0"/>
          </a:p>
        </p:txBody>
      </p:sp>
      <p:sp>
        <p:nvSpPr>
          <p:cNvPr id="106" name="Text 101"/>
          <p:cNvSpPr txBox="1"/>
          <p:nvPr/>
        </p:nvSpPr>
        <p:spPr>
          <a:xfrm>
            <a:off x="25755156" y="9020747"/>
            <a:ext cx="7873344" cy="1425639"/>
          </a:xfrm>
          <a:prstGeom prst="rect">
            <a:avLst/>
          </a:prstGeom>
          <a:noFill/>
          <a:ln/>
        </p:spPr>
        <p:txBody>
          <a:bodyPr wrap="square" lIns="0" tIns="0" rIns="0" bIns="0" rtlCol="0" anchor="t"/>
          <a:lstStyle/>
          <a:p>
            <a:pPr indent="0" marL="0">
              <a:buNone/>
            </a:pPr>
            <a:r>
              <a:rPr lang="en-US" sz="1750" b="1" dirty="0">
                <a:solidFill>
                  <a:srgbClr val="12202E"/>
                </a:solidFill>
                <a:latin typeface="Calibri" pitchFamily="34" charset="0"/>
                <a:ea typeface="Calibri" pitchFamily="34" charset="-122"/>
                <a:cs typeface="Calibri" pitchFamily="34" charset="-120"/>
              </a:rPr>
              <a:t>4.4 Simulated versus real input. </a:t>
            </a:r>
            <a:pPr indent="0" marL="0">
              <a:buNone/>
            </a:pPr>
            <a:r>
              <a:rPr lang="en-US" sz="1750" dirty="0">
                <a:solidFill>
                  <a:srgbClr val="12202E"/>
                </a:solidFill>
                <a:latin typeface="Calibri" pitchFamily="34" charset="0"/>
                <a:ea typeface="Calibri" pitchFamily="34" charset="-122"/>
                <a:cs typeface="Calibri" pitchFamily="34" charset="-120"/>
              </a:rPr>
              <a:t>In 167 patients sequenced on both panels, taking the input from the separate IMPACT341 assay rather than masking the IMPACT410 sample lowered AUROC. The paired samples also differ in specimen and time, so the gap combines assay shift and tumour heterogeneity (Figure 5).</a:t>
            </a:r>
            <a:endParaRPr lang="en-US" sz="1750" dirty="0"/>
          </a:p>
        </p:txBody>
      </p:sp>
      <p:graphicFrame>
        <p:nvGraphicFramePr>
          <p:cNvPr id="107" name="Chart 1" descr=""/>
          <p:cNvGraphicFramePr/>
          <p:nvPr/>
        </p:nvGraphicFramePr>
        <p:xfrm>
          <a:off x="25755156" y="10674985"/>
          <a:ext cx="7873344" cy="2057400"/>
        </p:xfrm>
        <a:graphic xmlns:a="http://schemas.openxmlformats.org/drawingml/2006/main">
          <a:graphicData uri="http://schemas.openxmlformats.org/drawingml/2006/chart">
            <c:chart xmlns:c="http://schemas.openxmlformats.org/drawingml/2006/chart" r:id="rId2"/>
          </a:graphicData>
        </a:graphic>
      </p:graphicFrame>
      <p:sp>
        <p:nvSpPr>
          <p:cNvPr id="108" name="Text 102"/>
          <p:cNvSpPr txBox="1"/>
          <p:nvPr/>
        </p:nvSpPr>
        <p:spPr>
          <a:xfrm>
            <a:off x="25755156" y="12805537"/>
            <a:ext cx="7873344" cy="481076"/>
          </a:xfrm>
          <a:prstGeom prst="rect">
            <a:avLst/>
          </a:prstGeom>
          <a:noFill/>
          <a:ln/>
        </p:spPr>
        <p:txBody>
          <a:bodyPr wrap="square" lIns="0" tIns="0" rIns="0" bIns="0" rtlCol="0" anchor="t"/>
          <a:lstStyle/>
          <a:p>
            <a:pPr indent="0" marL="0">
              <a:buNone/>
            </a:pPr>
            <a:r>
              <a:rPr lang="en-US" sz="1400" b="1" dirty="0">
                <a:solidFill>
                  <a:srgbClr val="3F4B57"/>
                </a:solidFill>
                <a:latin typeface="Calibri" pitchFamily="34" charset="0"/>
                <a:ea typeface="Calibri" pitchFamily="34" charset="-122"/>
                <a:cs typeface="Calibri" pitchFamily="34" charset="-120"/>
              </a:rPr>
              <a:t>Figure 5. </a:t>
            </a:r>
            <a:pPr indent="0" marL="0">
              <a:buNone/>
            </a:pPr>
            <a:r>
              <a:rPr lang="en-US" sz="1400" dirty="0">
                <a:solidFill>
                  <a:srgbClr val="3F4B57"/>
                </a:solidFill>
                <a:latin typeface="Calibri" pitchFamily="34" charset="0"/>
                <a:ea typeface="Calibri" pitchFamily="34" charset="-122"/>
                <a:cs typeface="Calibri" pitchFamily="34" charset="-120"/>
              </a:rPr>
              <a:t>Replicate, pan-cancer logistic regression trained on all other patients: simulated (masked IMPACT410) versus real (IMPACT341 assay) input; axis origin 0.50.</a:t>
            </a:r>
            <a:endParaRPr lang="en-US" sz="1400" dirty="0"/>
          </a:p>
        </p:txBody>
      </p:sp>
      <p:sp>
        <p:nvSpPr>
          <p:cNvPr id="109" name="Shape 103"/>
          <p:cNvSpPr/>
          <p:nvPr/>
        </p:nvSpPr>
        <p:spPr>
          <a:xfrm>
            <a:off x="25755156" y="13560933"/>
            <a:ext cx="7873344" cy="0"/>
          </a:xfrm>
          <a:prstGeom prst="line">
            <a:avLst/>
          </a:prstGeom>
          <a:noFill/>
          <a:ln w="28575">
            <a:solidFill>
              <a:srgbClr val="12202E"/>
            </a:solidFill>
            <a:prstDash val="solid"/>
          </a:ln>
        </p:spPr>
      </p:sp>
      <p:sp>
        <p:nvSpPr>
          <p:cNvPr id="110" name="Text 104"/>
          <p:cNvSpPr txBox="1"/>
          <p:nvPr/>
        </p:nvSpPr>
        <p:spPr>
          <a:xfrm>
            <a:off x="25755156" y="13652373"/>
            <a:ext cx="7873344" cy="566928"/>
          </a:xfrm>
          <a:prstGeom prst="rect">
            <a:avLst/>
          </a:prstGeom>
          <a:noFill/>
          <a:ln/>
        </p:spPr>
        <p:txBody>
          <a:bodyPr wrap="square" lIns="0" tIns="0" rIns="0" bIns="0" rtlCol="0" anchor="t"/>
          <a:lstStyle/>
          <a:p>
            <a:pPr indent="0" marL="0">
              <a:buNone/>
            </a:pPr>
            <a:r>
              <a:rPr lang="en-US" sz="3200" b="1" dirty="0">
                <a:solidFill>
                  <a:srgbClr val="12202E"/>
                </a:solidFill>
                <a:latin typeface="Cambria" pitchFamily="34" charset="0"/>
                <a:ea typeface="Cambria" pitchFamily="34" charset="-122"/>
                <a:cs typeface="Cambria" pitchFamily="34" charset="-120"/>
              </a:rPr>
              <a:t>5  Discussion</a:t>
            </a:r>
            <a:endParaRPr lang="en-US" sz="3200" dirty="0"/>
          </a:p>
        </p:txBody>
      </p:sp>
      <p:sp>
        <p:nvSpPr>
          <p:cNvPr id="111" name="Text 105"/>
          <p:cNvSpPr txBox="1"/>
          <p:nvPr/>
        </p:nvSpPr>
        <p:spPr>
          <a:xfrm>
            <a:off x="25755156" y="14429613"/>
            <a:ext cx="7873344" cy="2920936"/>
          </a:xfrm>
          <a:prstGeom prst="rect">
            <a:avLst/>
          </a:prstGeom>
          <a:noFill/>
          <a:ln/>
        </p:spPr>
        <p:txBody>
          <a:bodyPr wrap="square" lIns="0" tIns="0" rIns="0" bIns="0" rtlCol="0" anchor="t"/>
          <a:lstStyle/>
          <a:p>
            <a:pPr marL="342900" indent="-342900">
              <a:spcAft>
                <a:spcPts val="600"/>
              </a:spcAft>
              <a:buSzPct val="100000"/>
              <a:buChar char="•"/>
            </a:pPr>
            <a:r>
              <a:rPr lang="en-US" sz="1750" dirty="0">
                <a:solidFill>
                  <a:srgbClr val="12202E"/>
                </a:solidFill>
                <a:latin typeface="Calibri" pitchFamily="34" charset="0"/>
                <a:ea typeface="Calibri" pitchFamily="34" charset="-122"/>
                <a:cs typeface="Calibri" pitchFamily="34" charset="-120"/>
              </a:rPr>
              <a:t>A targeted panel carries predictive information on unassayed genes; per-gene AUROC and simple baselines, not pooled AUROC alone, measure how much.</a:t>
            </a:r>
            <a:endParaRPr lang="en-US" sz="1750" dirty="0"/>
          </a:p>
          <a:p>
            <a:pPr marL="342900" indent="-342900">
              <a:spcAft>
                <a:spcPts val="600"/>
              </a:spcAft>
              <a:buSzPct val="100000"/>
              <a:buChar char="•"/>
            </a:pPr>
            <a:r>
              <a:rPr lang="en-US" sz="1750" dirty="0">
                <a:solidFill>
                  <a:srgbClr val="12202E"/>
                </a:solidFill>
                <a:latin typeface="Calibri" pitchFamily="34" charset="0"/>
                <a:ea typeface="Calibri" pitchFamily="34" charset="-122"/>
                <a:cs typeface="Calibri" pitchFamily="34" charset="-120"/>
              </a:rPr>
              <a:t>The signal is mainly copy-number co-location and mutational burden; a generative model must add joint fidelity to justify its complexity.</a:t>
            </a:r>
            <a:endParaRPr lang="en-US" sz="1750" dirty="0"/>
          </a:p>
          <a:p>
            <a:pPr marL="342900" indent="-342900">
              <a:spcAft>
                <a:spcPts val="600"/>
              </a:spcAft>
              <a:buSzPct val="100000"/>
              <a:buChar char="•"/>
            </a:pPr>
            <a:r>
              <a:rPr lang="en-US" sz="1750" dirty="0">
                <a:solidFill>
                  <a:srgbClr val="12202E"/>
                </a:solidFill>
                <a:latin typeface="Calibri" pitchFamily="34" charset="0"/>
                <a:ea typeface="Calibri" pitchFamily="34" charset="-122"/>
                <a:cs typeface="Calibri" pitchFamily="34" charset="-120"/>
              </a:rPr>
              <a:t>Limitations: masked-panel evaluation is an upper bound; single split; actionable-gene subset not yet evaluated.</a:t>
            </a:r>
            <a:endParaRPr lang="en-US" sz="1750" dirty="0"/>
          </a:p>
          <a:p>
            <a:pPr marL="342900" indent="-342900">
              <a:spcAft>
                <a:spcPts val="600"/>
              </a:spcAft>
              <a:buSzPct val="100000"/>
              <a:buChar char="•"/>
            </a:pPr>
            <a:r>
              <a:rPr lang="en-US" sz="1750" dirty="0">
                <a:solidFill>
                  <a:srgbClr val="12202E"/>
                </a:solidFill>
                <a:latin typeface="Calibri" pitchFamily="34" charset="0"/>
                <a:ea typeface="Calibri" pitchFamily="34" charset="-122"/>
                <a:cs typeface="Calibri" pitchFamily="34" charset="-120"/>
              </a:rPr>
              <a:t>At ~1% prevalence, use is triage for broad CGP, not replacement.</a:t>
            </a:r>
            <a:endParaRPr lang="en-US" sz="1750" dirty="0"/>
          </a:p>
        </p:txBody>
      </p:sp>
      <p:sp>
        <p:nvSpPr>
          <p:cNvPr id="112" name="Shape 106"/>
          <p:cNvSpPr/>
          <p:nvPr/>
        </p:nvSpPr>
        <p:spPr>
          <a:xfrm>
            <a:off x="571500" y="18336960"/>
            <a:ext cx="33057000" cy="0"/>
          </a:xfrm>
          <a:prstGeom prst="line">
            <a:avLst/>
          </a:prstGeom>
          <a:noFill/>
          <a:ln w="19050">
            <a:solidFill>
              <a:srgbClr val="12202E"/>
            </a:solidFill>
            <a:prstDash val="solid"/>
          </a:ln>
        </p:spPr>
      </p:sp>
      <p:sp>
        <p:nvSpPr>
          <p:cNvPr id="113" name="Text 107"/>
          <p:cNvSpPr txBox="1"/>
          <p:nvPr/>
        </p:nvSpPr>
        <p:spPr>
          <a:xfrm>
            <a:off x="571500" y="18474120"/>
            <a:ext cx="15380928" cy="1188720"/>
          </a:xfrm>
          <a:prstGeom prst="rect">
            <a:avLst/>
          </a:prstGeom>
          <a:noFill/>
          <a:ln/>
        </p:spPr>
        <p:txBody>
          <a:bodyPr wrap="square" lIns="0" tIns="0" rIns="0" bIns="0" rtlCol="0" anchor="t"/>
          <a:lstStyle/>
          <a:p>
            <a:pPr indent="0" marL="0">
              <a:buNone/>
            </a:pPr>
            <a:r>
              <a:rPr lang="en-US" sz="1250" b="1" dirty="0">
                <a:solidFill>
                  <a:srgbClr val="2C3A47"/>
                </a:solidFill>
                <a:latin typeface="Calibri" pitchFamily="34" charset="0"/>
                <a:ea typeface="Calibri" pitchFamily="34" charset="-122"/>
                <a:cs typeface="Calibri" pitchFamily="34" charset="-120"/>
              </a:rPr>
              <a:t>References</a:t>
            </a:r>
            <a:endParaRPr lang="en-US" sz="1250" dirty="0"/>
          </a:p>
          <a:p>
            <a:pPr indent="0" marL="0">
              <a:buNone/>
            </a:pPr>
            <a:r>
              <a:rPr lang="en-US" sz="1250" dirty="0">
                <a:solidFill>
                  <a:srgbClr val="2C3A47"/>
                </a:solidFill>
                <a:latin typeface="Calibri" pitchFamily="34" charset="0"/>
                <a:ea typeface="Calibri" pitchFamily="34" charset="-122"/>
                <a:cs typeface="Calibri" pitchFamily="34" charset="-120"/>
              </a:rPr>
              <a:t>1. Jee J, et al. Automated real-world data integration improves cancer outcome prediction. Nature 2024;636:728–36.</a:t>
            </a:r>
            <a:endParaRPr lang="en-US" sz="1250" dirty="0"/>
          </a:p>
          <a:p>
            <a:pPr indent="0" marL="0">
              <a:buNone/>
            </a:pPr>
            <a:r>
              <a:rPr lang="en-US" sz="1250" dirty="0">
                <a:solidFill>
                  <a:srgbClr val="2C3A47"/>
                </a:solidFill>
                <a:latin typeface="Calibri" pitchFamily="34" charset="0"/>
                <a:ea typeface="Calibri" pitchFamily="34" charset="-122"/>
                <a:cs typeface="Calibri" pitchFamily="34" charset="-120"/>
              </a:rPr>
              <a:t>2. Zehir A, et al. Mutational landscape of metastatic cancer revealed from prospective clinical sequencing of 10,000 patients. Nat Med 2017;23:703–13.</a:t>
            </a:r>
            <a:endParaRPr lang="en-US" sz="1250" dirty="0"/>
          </a:p>
          <a:p>
            <a:pPr indent="0" marL="0">
              <a:buNone/>
            </a:pPr>
            <a:r>
              <a:rPr lang="en-US" sz="1250" dirty="0">
                <a:solidFill>
                  <a:srgbClr val="2C3A47"/>
                </a:solidFill>
                <a:latin typeface="Calibri" pitchFamily="34" charset="0"/>
                <a:ea typeface="Calibri" pitchFamily="34" charset="-122"/>
                <a:cs typeface="Calibri" pitchFamily="34" charset="-120"/>
              </a:rPr>
              <a:t>3. Lipman Y, et al. Flow matching for generative modeling. ICLR 2023.   4. Collins GS, et al. TRIPOD+AI statement. BMJ 2024;385:e078378.</a:t>
            </a:r>
            <a:endParaRPr lang="en-US" sz="1250" dirty="0"/>
          </a:p>
        </p:txBody>
      </p:sp>
      <p:sp>
        <p:nvSpPr>
          <p:cNvPr id="114" name="Text 108"/>
          <p:cNvSpPr txBox="1"/>
          <p:nvPr/>
        </p:nvSpPr>
        <p:spPr>
          <a:xfrm>
            <a:off x="16336476" y="18474120"/>
            <a:ext cx="7690464" cy="1188720"/>
          </a:xfrm>
          <a:prstGeom prst="rect">
            <a:avLst/>
          </a:prstGeom>
          <a:noFill/>
          <a:ln/>
        </p:spPr>
        <p:txBody>
          <a:bodyPr wrap="square" lIns="0" tIns="0" rIns="0" bIns="0" rtlCol="0" anchor="t"/>
          <a:lstStyle/>
          <a:p>
            <a:pPr indent="0" marL="0">
              <a:buNone/>
            </a:pPr>
            <a:r>
              <a:rPr lang="en-US" sz="1250" b="1" dirty="0">
                <a:solidFill>
                  <a:srgbClr val="2C3A47"/>
                </a:solidFill>
                <a:latin typeface="Calibri" pitchFamily="34" charset="0"/>
                <a:ea typeface="Calibri" pitchFamily="34" charset="-122"/>
                <a:cs typeface="Calibri" pitchFamily="34" charset="-120"/>
              </a:rPr>
              <a:t>Data and code</a:t>
            </a:r>
            <a:endParaRPr lang="en-US" sz="1250" dirty="0"/>
          </a:p>
          <a:p>
            <a:pPr indent="0" marL="0">
              <a:buNone/>
            </a:pPr>
            <a:r>
              <a:rPr lang="en-US" sz="1250" dirty="0">
                <a:solidFill>
                  <a:srgbClr val="2C3A47"/>
                </a:solidFill>
                <a:latin typeface="Calibri" pitchFamily="34" charset="0"/>
                <a:ea typeface="Calibri" pitchFamily="34" charset="-122"/>
                <a:cs typeface="Calibri" pitchFamily="34" charset="-120"/>
              </a:rPr>
              <a:t>MSK-CHORD and msk_impact_2017 via cBioPortal. Code: </a:t>
            </a:r>
            <a:pPr indent="0" marL="0">
              <a:buNone/>
            </a:pPr>
            <a:r>
              <a:rPr lang="en-US" sz="1250" dirty="0">
                <a:solidFill>
                  <a:srgbClr val="A3410F"/>
                </a:solidFill>
                <a:latin typeface="Calibri" pitchFamily="34" charset="0"/>
                <a:ea typeface="Calibri" pitchFamily="34" charset="-122"/>
                <a:cs typeface="Calibri" pitchFamily="34" charset="-120"/>
              </a:rPr>
              <a:t>[repository link]</a:t>
            </a:r>
            <a:endParaRPr lang="en-US" sz="1250" dirty="0"/>
          </a:p>
        </p:txBody>
      </p:sp>
      <p:sp>
        <p:nvSpPr>
          <p:cNvPr id="115" name="Text 109"/>
          <p:cNvSpPr txBox="1"/>
          <p:nvPr/>
        </p:nvSpPr>
        <p:spPr>
          <a:xfrm>
            <a:off x="24410988" y="18474120"/>
            <a:ext cx="7690464" cy="1188720"/>
          </a:xfrm>
          <a:prstGeom prst="rect">
            <a:avLst/>
          </a:prstGeom>
          <a:noFill/>
          <a:ln/>
        </p:spPr>
        <p:txBody>
          <a:bodyPr wrap="square" lIns="0" tIns="0" rIns="0" bIns="0" rtlCol="0" anchor="t"/>
          <a:lstStyle/>
          <a:p>
            <a:pPr indent="0" marL="0">
              <a:buNone/>
            </a:pPr>
            <a:r>
              <a:rPr lang="en-US" sz="1250" b="1" dirty="0">
                <a:solidFill>
                  <a:srgbClr val="2C3A47"/>
                </a:solidFill>
                <a:latin typeface="Calibri" pitchFamily="34" charset="0"/>
                <a:ea typeface="Calibri" pitchFamily="34" charset="-122"/>
                <a:cs typeface="Calibri" pitchFamily="34" charset="-120"/>
              </a:rPr>
              <a:t>Disclosures · Contact</a:t>
            </a:r>
            <a:endParaRPr lang="en-US" sz="1250" dirty="0"/>
          </a:p>
          <a:p>
            <a:pPr indent="0" marL="0">
              <a:buNone/>
            </a:pPr>
            <a:r>
              <a:rPr lang="en-US" sz="1250" dirty="0">
                <a:solidFill>
                  <a:srgbClr val="A3410F"/>
                </a:solidFill>
                <a:latin typeface="Calibri" pitchFamily="34" charset="0"/>
                <a:ea typeface="Calibri" pitchFamily="34" charset="-122"/>
                <a:cs typeface="Calibri" pitchFamily="34" charset="-120"/>
              </a:rPr>
              <a:t>[Conflict-of-interest statement]</a:t>
            </a:r>
            <a:endParaRPr lang="en-US" sz="1250" dirty="0"/>
          </a:p>
          <a:p>
            <a:pPr indent="0" marL="0">
              <a:buNone/>
            </a:pPr>
            <a:r>
              <a:rPr lang="en-US" sz="1250" dirty="0">
                <a:solidFill>
                  <a:srgbClr val="A3410F"/>
                </a:solidFill>
                <a:latin typeface="Calibri" pitchFamily="34" charset="0"/>
                <a:ea typeface="Calibri" pitchFamily="34" charset="-122"/>
                <a:cs typeface="Calibri" pitchFamily="34" charset="-120"/>
              </a:rPr>
              <a:t>[Corresponding author e-mail]</a:t>
            </a:r>
            <a:endParaRPr lang="en-US" sz="1250" dirty="0"/>
          </a:p>
        </p:txBody>
      </p:sp>
      <p:sp>
        <p:nvSpPr>
          <p:cNvPr id="116" name="Shape 110"/>
          <p:cNvSpPr/>
          <p:nvPr/>
        </p:nvSpPr>
        <p:spPr>
          <a:xfrm>
            <a:off x="32485500" y="18474120"/>
            <a:ext cx="1143000" cy="1143000"/>
          </a:xfrm>
          <a:prstGeom prst="rect">
            <a:avLst/>
          </a:prstGeom>
          <a:solidFill>
            <a:srgbClr val="FFFFFF"/>
          </a:solidFill>
          <a:ln w="15875">
            <a:solidFill>
              <a:srgbClr val="6B7682"/>
            </a:solidFill>
            <a:prstDash val="dash"/>
          </a:ln>
        </p:spPr>
      </p:sp>
      <p:sp>
        <p:nvSpPr>
          <p:cNvPr id="117" name="Text 111"/>
          <p:cNvSpPr txBox="1"/>
          <p:nvPr/>
        </p:nvSpPr>
        <p:spPr>
          <a:xfrm>
            <a:off x="32485500" y="18474120"/>
            <a:ext cx="1143000" cy="1143000"/>
          </a:xfrm>
          <a:prstGeom prst="rect">
            <a:avLst/>
          </a:prstGeom>
          <a:noFill/>
          <a:ln/>
        </p:spPr>
        <p:txBody>
          <a:bodyPr wrap="square" lIns="0" tIns="0" rIns="0" bIns="0" rtlCol="0" anchor="ctr"/>
          <a:lstStyle/>
          <a:p>
            <a:pPr algn="ctr" indent="0" marL="0">
              <a:buNone/>
            </a:pPr>
            <a:r>
              <a:rPr lang="en-US" sz="1200" dirty="0">
                <a:solidFill>
                  <a:srgbClr val="3F4B57"/>
                </a:solidFill>
                <a:latin typeface="Calibri" pitchFamily="34" charset="0"/>
                <a:ea typeface="Calibri" pitchFamily="34" charset="-122"/>
                <a:cs typeface="Calibri" pitchFamily="34" charset="-120"/>
              </a:rPr>
              <a:t>[QR code]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ESMO poster P305 – genomic panel completion</dc:title>
  <dc:subject>PptxGenJS Presentation</dc:subject>
  <dc:creator>PptxGenJS</dc:creator>
  <cp:lastModifiedBy>PptxGenJS</cp:lastModifiedBy>
  <cp:revision>1</cp:revision>
  <dcterms:created xsi:type="dcterms:W3CDTF">2026-10-01T13:32:16Z</dcterms:created>
  <dcterms:modified xsi:type="dcterms:W3CDTF">2026-10-01T13:32:16Z</dcterms:modified>
</cp:coreProperties>
</file>